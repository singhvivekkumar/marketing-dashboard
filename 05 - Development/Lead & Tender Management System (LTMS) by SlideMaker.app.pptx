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photo-1658536020939-18706919e201" ContentType="image/photo-1658536020939-18706919e201"/>
  <Default Extension="photo-1551288049-bebda4e38f71" ContentType="image/photo-1551288049-bebda4e38f71"/>
  <Default Extension="photo-1730303055577-c8bdba043b19" ContentType="image/photo-1730303055577-c8bdba043b19"/>
  <Default Extension="photo-1633111142460-c346a6f5f349" ContentType="image/photo-1633111142460-c346a6f5f349"/>
  <Default Extension="photo-1633526543814-9718c8922b7a" ContentType="image/photo-1633526543814-9718c8922b7a"/>
  <Default Extension="photo-1606495813362-8efff01b8573" ContentType="image/photo-1606495813362-8efff01b8573"/>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hoto-1658536020939-18706919e201"/><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hoto-1551288049-bebda4e38f71"/><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hoto-1730303055577-c8bdba043b19"/><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hoto-1633111142460-c346a6f5f349"/><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hoto-1633526543814-9718c8922b7a"/><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hoto-1606495813362-8efff01b8573"/><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8F1"/>
        </a:solidFill>
      </p:bgPr>
    </p:bg>
    <p:spTree>
      <p:nvGrpSpPr>
        <p:cNvPr id="1" name=""/>
        <p:cNvGrpSpPr/>
        <p:nvPr/>
      </p:nvGrpSpPr>
      <p:grpSpPr>
        <a:xfrm>
          <a:off x="0" y="0"/>
          <a:ext cx="0" cy="0"/>
          <a:chOff x="0" y="0"/>
          <a:chExt cx="0" cy="0"/>
        </a:xfrm>
      </p:grpSpPr>
      <p:sp>
        <p:nvSpPr>
          <p:cNvPr id="2" name="Shape 0"/>
          <p:cNvSpPr/>
          <p:nvPr/>
        </p:nvSpPr>
        <p:spPr>
          <a:xfrm>
            <a:off x="761981" y="761981"/>
            <a:ext cx="761981" cy="761981"/>
          </a:xfrm>
          <a:prstGeom prst="ellipse">
            <a:avLst/>
          </a:prstGeom>
          <a:solidFill>
            <a:srgbClr val="C74B91">
              <a:alpha val="12000"/>
            </a:srgbClr>
          </a:solidFill>
          <a:ln/>
        </p:spPr>
      </p:sp>
      <p:sp>
        <p:nvSpPr>
          <p:cNvPr id="3" name="Text 1"/>
          <p:cNvSpPr/>
          <p:nvPr/>
        </p:nvSpPr>
        <p:spPr>
          <a:xfrm>
            <a:off x="761981" y="1015975"/>
            <a:ext cx="10667733" cy="1015975"/>
          </a:xfrm>
          <a:prstGeom prst="rect">
            <a:avLst/>
          </a:prstGeom>
          <a:noFill/>
          <a:ln/>
        </p:spPr>
        <p:txBody>
          <a:bodyPr wrap="square" lIns="1016" tIns="1016" rIns="1016" bIns="1016" rtlCol="0" anchor="t"/>
          <a:lstStyle/>
          <a:p>
            <a:pPr algn="ctr" indent="0" marL="0">
              <a:lnSpc>
                <a:spcPct val="130000"/>
              </a:lnSpc>
              <a:buNone/>
            </a:pPr>
            <a:r>
              <a:rPr lang="en-US" sz="4000" b="1" dirty="0">
                <a:solidFill>
                  <a:srgbClr val="7C3AED"/>
                </a:solidFill>
                <a:latin typeface="Calibri" pitchFamily="34" charset="0"/>
                <a:ea typeface="Calibri" pitchFamily="34" charset="-122"/>
                <a:cs typeface="Calibri" pitchFamily="34" charset="-120"/>
              </a:rPr>
              <a:t>Lead &amp; Tender Management System (LTMS)</a:t>
            </a:r>
            <a:pPr algn="ctr" indent="0" marL="0">
              <a:lnSpc>
                <a:spcPct val="130000"/>
              </a:lnSpc>
              <a:buNone/>
            </a:pPr>
            <a:r>
              <a:rPr lang="en-US" sz="4000" dirty="0">
                <a:solidFill>
                  <a:srgbClr val="7C3AED"/>
                </a:solidFill>
                <a:latin typeface="Calibri" pitchFamily="34" charset="0"/>
                <a:ea typeface="Calibri" pitchFamily="34" charset="-122"/>
                <a:cs typeface="Calibri" pitchFamily="34" charset="-120"/>
              </a:rPr>
              <a:t>
</a:t>
            </a:r>
            <a:endParaRPr lang="en-US" sz="4000" dirty="0"/>
          </a:p>
        </p:txBody>
      </p:sp>
      <p:sp>
        <p:nvSpPr>
          <p:cNvPr id="4" name="Text 2"/>
          <p:cNvSpPr/>
          <p:nvPr/>
        </p:nvSpPr>
        <p:spPr>
          <a:xfrm>
            <a:off x="761981" y="2920927"/>
            <a:ext cx="10667733" cy="380990"/>
          </a:xfrm>
          <a:prstGeom prst="rect">
            <a:avLst/>
          </a:prstGeom>
          <a:noFill/>
          <a:ln/>
        </p:spPr>
        <p:txBody>
          <a:bodyPr wrap="square" lIns="1016" tIns="1016" rIns="1016" bIns="1016" rtlCol="0" anchor="t"/>
          <a:lstStyle/>
          <a:p>
            <a:pPr algn="ctr" indent="0" marL="0">
              <a:lnSpc>
                <a:spcPct val="130000"/>
              </a:lnSpc>
              <a:buNone/>
            </a:pPr>
            <a:r>
              <a:rPr lang="en-US" sz="1100" dirty="0">
                <a:solidFill>
                  <a:srgbClr val="94A3B8"/>
                </a:solidFill>
                <a:latin typeface="Calibri" pitchFamily="34" charset="0"/>
                <a:ea typeface="Calibri" pitchFamily="34" charset="-122"/>
                <a:cs typeface="Calibri" pitchFamily="34" charset="-120"/>
              </a:rPr>
              <a:t>PRESENTED BY</a:t>
            </a:r>
            <a:pPr algn="ctr" indent="0" marL="0">
              <a:lnSpc>
                <a:spcPct val="130000"/>
              </a:lnSpc>
              <a:buNone/>
            </a:pPr>
            <a:r>
              <a:rPr lang="en-US" sz="1100" dirty="0">
                <a:solidFill>
                  <a:srgbClr val="94A3B8"/>
                </a:solidFill>
                <a:latin typeface="Calibri" pitchFamily="34" charset="0"/>
                <a:ea typeface="Calibri" pitchFamily="34" charset="-122"/>
                <a:cs typeface="Calibri" pitchFamily="34" charset="-120"/>
              </a:rPr>
              <a:t>
</a:t>
            </a:r>
            <a:endParaRPr lang="en-US" sz="1100" dirty="0"/>
          </a:p>
        </p:txBody>
      </p:sp>
      <p:sp>
        <p:nvSpPr>
          <p:cNvPr id="5" name="Text 3"/>
          <p:cNvSpPr/>
          <p:nvPr/>
        </p:nvSpPr>
        <p:spPr>
          <a:xfrm>
            <a:off x="761981" y="3225719"/>
            <a:ext cx="10667733" cy="507987"/>
          </a:xfrm>
          <a:prstGeom prst="rect">
            <a:avLst/>
          </a:prstGeom>
          <a:noFill/>
          <a:ln/>
        </p:spPr>
        <p:txBody>
          <a:bodyPr wrap="square" lIns="1016" tIns="1016" rIns="1016" bIns="1016" rtlCol="0" anchor="t"/>
          <a:lstStyle/>
          <a:p>
            <a:pPr algn="ctr" indent="0" marL="0">
              <a:lnSpc>
                <a:spcPct val="130000"/>
              </a:lnSpc>
              <a:buNone/>
            </a:pPr>
            <a:r>
              <a:rPr lang="en-US" sz="2200" dirty="0">
                <a:solidFill>
                  <a:srgbClr val="334155"/>
                </a:solidFill>
                <a:latin typeface="Calibri" pitchFamily="34" charset="0"/>
                <a:ea typeface="Calibri" pitchFamily="34" charset="-122"/>
                <a:cs typeface="Calibri" pitchFamily="34" charset="-120"/>
              </a:rPr>
              <a:t>Your Name</a:t>
            </a:r>
            <a:pPr algn="ctr" indent="0" marL="0">
              <a:lnSpc>
                <a:spcPct val="130000"/>
              </a:lnSpc>
              <a:buNone/>
            </a:pPr>
            <a:r>
              <a:rPr lang="en-US" sz="2200" dirty="0">
                <a:solidFill>
                  <a:srgbClr val="334155"/>
                </a:solidFill>
                <a:latin typeface="Calibri" pitchFamily="34" charset="0"/>
                <a:ea typeface="Calibri" pitchFamily="34" charset="-122"/>
                <a:cs typeface="Calibri" pitchFamily="34" charset="-120"/>
              </a:rPr>
              <a:t>
</a:t>
            </a:r>
            <a:endParaRPr lang="en-US" sz="2200" dirty="0"/>
          </a:p>
        </p:txBody>
      </p:sp>
      <p:sp>
        <p:nvSpPr>
          <p:cNvPr id="6" name="Text 4"/>
          <p:cNvSpPr/>
          <p:nvPr/>
        </p:nvSpPr>
        <p:spPr>
          <a:xfrm>
            <a:off x="761981" y="3809905"/>
            <a:ext cx="10667733" cy="457189"/>
          </a:xfrm>
          <a:prstGeom prst="rect">
            <a:avLst/>
          </a:prstGeom>
          <a:noFill/>
          <a:ln/>
        </p:spPr>
        <p:txBody>
          <a:bodyPr wrap="square" lIns="1016" tIns="1016" rIns="1016" bIns="1016" rtlCol="0" anchor="t"/>
          <a:lstStyle/>
          <a:p>
            <a:pPr algn="ctr" indent="0" marL="0">
              <a:lnSpc>
                <a:spcPct val="130000"/>
              </a:lnSpc>
              <a:buNone/>
            </a:pPr>
            <a:r>
              <a:rPr lang="en-US" sz="1800" dirty="0">
                <a:solidFill>
                  <a:srgbClr val="475569"/>
                </a:solidFill>
                <a:latin typeface="Calibri" pitchFamily="34" charset="0"/>
                <a:ea typeface="Calibri" pitchFamily="34" charset="-122"/>
                <a:cs typeface="Calibri" pitchFamily="34" charset="-120"/>
              </a:rPr>
              <a:t>Your Organization</a:t>
            </a:r>
            <a:pPr algn="ctr" indent="0" marL="0">
              <a:lnSpc>
                <a:spcPct val="130000"/>
              </a:lnSpc>
              <a:buNone/>
            </a:pPr>
            <a:r>
              <a:rPr lang="en-US" sz="1800" dirty="0">
                <a:solidFill>
                  <a:srgbClr val="475569"/>
                </a:solidFill>
                <a:latin typeface="Calibri" pitchFamily="34" charset="0"/>
                <a:ea typeface="Calibri" pitchFamily="34" charset="-122"/>
                <a:cs typeface="Calibri" pitchFamily="34" charset="-120"/>
              </a:rPr>
              <a:t>
</a:t>
            </a:r>
            <a:endParaRPr lang="en-US" sz="1800" dirty="0"/>
          </a:p>
        </p:txBody>
      </p:sp>
      <p:sp>
        <p:nvSpPr>
          <p:cNvPr id="7" name="Text 5"/>
          <p:cNvSpPr/>
          <p:nvPr/>
        </p:nvSpPr>
        <p:spPr>
          <a:xfrm>
            <a:off x="761981" y="4381390"/>
            <a:ext cx="10667733" cy="380990"/>
          </a:xfrm>
          <a:prstGeom prst="rect">
            <a:avLst/>
          </a:prstGeom>
          <a:noFill/>
          <a:ln/>
        </p:spPr>
        <p:txBody>
          <a:bodyPr wrap="square" lIns="1016" tIns="1016" rIns="1016" bIns="1016" rtlCol="0" anchor="t"/>
          <a:lstStyle/>
          <a:p>
            <a:pPr algn="ctr" indent="0" marL="0">
              <a:lnSpc>
                <a:spcPct val="130000"/>
              </a:lnSpc>
              <a:buNone/>
            </a:pPr>
            <a:r>
              <a:rPr lang="en-US" sz="1400" dirty="0">
                <a:solidFill>
                  <a:srgbClr val="64748B"/>
                </a:solidFill>
                <a:latin typeface="Calibri" pitchFamily="34" charset="0"/>
                <a:ea typeface="Calibri" pitchFamily="34" charset="-122"/>
                <a:cs typeface="Calibri" pitchFamily="34" charset="-120"/>
              </a:rPr>
              <a:t>April 05, 2026</a:t>
            </a:r>
            <a:pPr algn="ctr" indent="0" marL="0">
              <a:lnSpc>
                <a:spcPct val="130000"/>
              </a:lnSpc>
              <a:buNone/>
            </a:pPr>
            <a:r>
              <a:rPr lang="en-US" sz="1400" dirty="0">
                <a:solidFill>
                  <a:srgbClr val="64748B"/>
                </a:solidFill>
                <a:latin typeface="Calibri" pitchFamily="34" charset="0"/>
                <a:ea typeface="Calibri" pitchFamily="34" charset="-122"/>
                <a:cs typeface="Calibri" pitchFamily="34" charset="-120"/>
              </a:rPr>
              <a:t>
</a:t>
            </a:r>
            <a:endParaRPr lang="en-US" sz="1400" dirty="0"/>
          </a:p>
        </p:txBody>
      </p:sp>
      <p:pic>
        <p:nvPicPr>
          <p:cNvPr id="8" name="Image 0" descr="preencoded.png">    </p:cNvPr>
          <p:cNvPicPr>
            <a:picLocks noChangeAspect="1"/>
          </p:cNvPicPr>
          <p:nvPr/>
        </p:nvPicPr>
        <p:blipFill>
          <a:blip r:embed="rId1"/>
          <a:srcRect l="0" r="0" t="0" b="0"/>
          <a:stretch/>
        </p:blipFill>
        <p:spPr>
          <a:xfrm>
            <a:off x="0" y="0"/>
            <a:ext cx="9144000" cy="101597"/>
          </a:xfrm>
          <a:prstGeom prst="rect">
            <a:avLst/>
          </a:prstGeom>
        </p:spPr>
      </p:pic>
      <p:sp>
        <p:nvSpPr>
          <p:cNvPr id="9" name="Text 6"/>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Current Progress: Completed Requirements
</a:t>
            </a:r>
            <a:endParaRPr lang="en-US" sz="2900" dirty="0"/>
          </a:p>
        </p:txBody>
      </p:sp>
      <p:pic>
        <p:nvPicPr>
          <p:cNvPr id="3" name="Image 0" descr="https://images.unsplash.com/photo-1658536020939-18706919e201?crop=entropy&amp;cs=tinysrgb&amp;fit=max&amp;fm=jpg&amp;ixid=M3w2Njc0MzZ8MHwxfHNlYXJjaHwxfHxsZWFkJTIwbWFuYWdlbWVudHxlbnwwfHx8fDE3NzU0MTA0NDJ8MA&amp;ixlib=rb-4.1.0&amp;q=80&amp;w=1080">    </p:cNvPr>
          <p:cNvPicPr>
            <a:picLocks noChangeAspect="1"/>
          </p:cNvPicPr>
          <p:nvPr/>
        </p:nvPicPr>
        <p:blipFill>
          <a:blip r:embed="rId1"/>
          <a:srcRect l="0" r="0" t="0" b="0"/>
          <a:stretch/>
        </p:blipFill>
        <p:spPr>
          <a:xfrm>
            <a:off x="8775481" y="0"/>
            <a:ext cx="3370495" cy="6812280"/>
          </a:xfrm>
          <a:prstGeom prst="rect">
            <a:avLst/>
          </a:prstGeom>
        </p:spPr>
      </p:pic>
      <p:sp>
        <p:nvSpPr>
          <p:cNvPr id="4" name="Shape 1"/>
          <p:cNvSpPr/>
          <p:nvPr/>
        </p:nvSpPr>
        <p:spPr>
          <a:xfrm>
            <a:off x="380990" y="1396965"/>
            <a:ext cx="3962301" cy="2133547"/>
          </a:xfrm>
          <a:prstGeom prst="rect">
            <a:avLst/>
          </a:prstGeom>
          <a:noFill/>
          <a:ln/>
        </p:spPr>
      </p:sp>
      <p:sp>
        <p:nvSpPr>
          <p:cNvPr id="5" name="Text 2"/>
          <p:cNvSpPr/>
          <p:nvPr/>
        </p:nvSpPr>
        <p:spPr>
          <a:xfrm>
            <a:off x="634984"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Multi-Module Tracking
</a:t>
            </a:r>
            <a:endParaRPr lang="en-US" sz="1300" dirty="0"/>
          </a:p>
        </p:txBody>
      </p:sp>
      <p:sp>
        <p:nvSpPr>
          <p:cNvPr id="6" name="Text 3"/>
          <p:cNvSpPr/>
          <p:nvPr/>
        </p:nvSpPr>
        <p:spPr>
          <a:xfrm>
            <a:off x="634984" y="2031949"/>
            <a:ext cx="3454314" cy="1269968"/>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Fully developed modules for Budgetary Quotations, Lead Management, and Orders Received, enhancing operational efficiency and data accuracy across the system.
</a:t>
            </a:r>
            <a:endParaRPr lang="en-US" sz="1300" dirty="0"/>
          </a:p>
        </p:txBody>
      </p:sp>
      <p:sp>
        <p:nvSpPr>
          <p:cNvPr id="7" name="Shape 4"/>
          <p:cNvSpPr/>
          <p:nvPr/>
        </p:nvSpPr>
        <p:spPr>
          <a:xfrm>
            <a:off x="4546486" y="1396965"/>
            <a:ext cx="3962301" cy="2133547"/>
          </a:xfrm>
          <a:prstGeom prst="rect">
            <a:avLst/>
          </a:prstGeom>
          <a:noFill/>
          <a:ln/>
        </p:spPr>
      </p:sp>
      <p:sp>
        <p:nvSpPr>
          <p:cNvPr id="8" name="Text 5"/>
          <p:cNvSpPr/>
          <p:nvPr/>
        </p:nvSpPr>
        <p:spPr>
          <a:xfrm>
            <a:off x="4800480"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Lead Segregation
</a:t>
            </a:r>
            <a:endParaRPr lang="en-US" sz="1300" dirty="0"/>
          </a:p>
        </p:txBody>
      </p:sp>
      <p:sp>
        <p:nvSpPr>
          <p:cNvPr id="9" name="Text 6"/>
          <p:cNvSpPr/>
          <p:nvPr/>
        </p:nvSpPr>
        <p:spPr>
          <a:xfrm>
            <a:off x="4800480" y="2031949"/>
            <a:ext cx="3454314" cy="1269968"/>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Implemented tracking for five distinct lead sub-types: Submitted, Domestic, Export, CRM Leads, and Lost Leads, allowing for targeted analysis and strategy.
</a:t>
            </a:r>
            <a:endParaRPr lang="en-US" sz="1300" dirty="0"/>
          </a:p>
        </p:txBody>
      </p:sp>
      <p:sp>
        <p:nvSpPr>
          <p:cNvPr id="10" name="Shape 7"/>
          <p:cNvSpPr/>
          <p:nvPr/>
        </p:nvSpPr>
        <p:spPr>
          <a:xfrm>
            <a:off x="380990" y="4038499"/>
            <a:ext cx="8140496" cy="1105001"/>
          </a:xfrm>
          <a:prstGeom prst="rect">
            <a:avLst/>
          </a:prstGeom>
          <a:noFill/>
          <a:ln/>
        </p:spPr>
      </p:sp>
      <p:sp>
        <p:nvSpPr>
          <p:cNvPr id="11" name="Text 8"/>
          <p:cNvSpPr/>
          <p:nvPr/>
        </p:nvSpPr>
        <p:spPr>
          <a:xfrm>
            <a:off x="634984" y="4267093"/>
            <a:ext cx="7632509"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Detailed Data Capture
</a:t>
            </a:r>
            <a:endParaRPr lang="en-US" sz="1300" dirty="0"/>
          </a:p>
        </p:txBody>
      </p:sp>
      <p:sp>
        <p:nvSpPr>
          <p:cNvPr id="12" name="Text 9"/>
          <p:cNvSpPr/>
          <p:nvPr/>
        </p:nvSpPr>
        <p:spPr>
          <a:xfrm>
            <a:off x="634984" y="4673483"/>
            <a:ext cx="7632509" cy="693403"/>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22-field tracking for leads includes Financials, Tender Details, and Outcomes, ensuring comprehensive data collection for informed decision-making.
</a:t>
            </a:r>
            <a:endParaRPr lang="en-US" sz="1300" dirty="0"/>
          </a:p>
        </p:txBody>
      </p:sp>
      <p:sp>
        <p:nvSpPr>
          <p:cNvPr id="13"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Current Progress: Dashboard &amp; Analytics
</a:t>
            </a:r>
            <a:endParaRPr lang="en-US" sz="2900" dirty="0"/>
          </a:p>
        </p:txBody>
      </p:sp>
      <p:pic>
        <p:nvPicPr>
          <p:cNvPr id="3" name="Image 0" descr="https://images.unsplash.com/photo-1551288049-bebda4e38f71?crop=entropy&amp;cs=tinysrgb&amp;fit=max&amp;fm=jpg&amp;ixid=M3w2Njc0MzZ8MHwxfHNlYXJjaHwxfHxkYXNoYm9hcmR8ZW58MHx8fHwxNzc1MzI3NjE2fDA&amp;ixlib=rb-4.1.0&amp;q=80&amp;w=1080">    </p:cNvPr>
          <p:cNvPicPr>
            <a:picLocks noChangeAspect="1"/>
          </p:cNvPicPr>
          <p:nvPr/>
        </p:nvPicPr>
        <p:blipFill>
          <a:blip r:embed="rId1"/>
          <a:srcRect l="0" r="0" t="0" b="0"/>
          <a:stretch/>
        </p:blipFill>
        <p:spPr>
          <a:xfrm>
            <a:off x="8775481" y="0"/>
            <a:ext cx="3370495" cy="6812280"/>
          </a:xfrm>
          <a:prstGeom prst="rect">
            <a:avLst/>
          </a:prstGeom>
        </p:spPr>
      </p:pic>
      <p:sp>
        <p:nvSpPr>
          <p:cNvPr id="4" name="Shape 1"/>
          <p:cNvSpPr/>
          <p:nvPr/>
        </p:nvSpPr>
        <p:spPr>
          <a:xfrm>
            <a:off x="380990" y="1396965"/>
            <a:ext cx="3962301" cy="2133547"/>
          </a:xfrm>
          <a:prstGeom prst="rect">
            <a:avLst/>
          </a:prstGeom>
          <a:noFill/>
          <a:ln/>
        </p:spPr>
      </p:sp>
      <p:sp>
        <p:nvSpPr>
          <p:cNvPr id="5" name="Text 2"/>
          <p:cNvSpPr/>
          <p:nvPr/>
        </p:nvSpPr>
        <p:spPr>
          <a:xfrm>
            <a:off x="634984"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Interactive Performance Metrics
</a:t>
            </a:r>
            <a:endParaRPr lang="en-US" sz="1300" dirty="0"/>
          </a:p>
        </p:txBody>
      </p:sp>
      <p:sp>
        <p:nvSpPr>
          <p:cNvPr id="6" name="Text 3"/>
          <p:cNvSpPr/>
          <p:nvPr/>
        </p:nvSpPr>
        <p:spPr>
          <a:xfrm>
            <a:off x="634984" y="2031949"/>
            <a:ext cx="3454314" cy="1269968"/>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Our dashboard features 10 interactive charts and 6 real-time KPI cards, providing insights into Win Rate %, Total Orders, and Order Value in Crores.
</a:t>
            </a:r>
            <a:endParaRPr lang="en-US" sz="1300" dirty="0"/>
          </a:p>
        </p:txBody>
      </p:sp>
      <p:sp>
        <p:nvSpPr>
          <p:cNvPr id="7" name="Shape 4"/>
          <p:cNvSpPr/>
          <p:nvPr/>
        </p:nvSpPr>
        <p:spPr>
          <a:xfrm>
            <a:off x="4546486" y="1396965"/>
            <a:ext cx="3962301" cy="2133547"/>
          </a:xfrm>
          <a:prstGeom prst="rect">
            <a:avLst/>
          </a:prstGeom>
          <a:noFill/>
          <a:ln/>
        </p:spPr>
      </p:sp>
      <p:sp>
        <p:nvSpPr>
          <p:cNvPr id="8" name="Text 5"/>
          <p:cNvSpPr/>
          <p:nvPr/>
        </p:nvSpPr>
        <p:spPr>
          <a:xfrm>
            <a:off x="4800480"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High-Level Trends Visualization
</a:t>
            </a:r>
            <a:endParaRPr lang="en-US" sz="1300" dirty="0"/>
          </a:p>
        </p:txBody>
      </p:sp>
      <p:sp>
        <p:nvSpPr>
          <p:cNvPr id="9" name="Text 6"/>
          <p:cNvSpPr/>
          <p:nvPr/>
        </p:nvSpPr>
        <p:spPr>
          <a:xfrm>
            <a:off x="4800480" y="2031949"/>
            <a:ext cx="3454314" cy="1269968"/>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Visual representations of high-level trends and lead outcome distributions enable quick assessments of performance and strategic decision-making.
</a:t>
            </a:r>
            <a:endParaRPr lang="en-US" sz="1300" dirty="0"/>
          </a:p>
        </p:txBody>
      </p:sp>
      <p:sp>
        <p:nvSpPr>
          <p:cNvPr id="10" name="Shape 7"/>
          <p:cNvSpPr/>
          <p:nvPr/>
        </p:nvSpPr>
        <p:spPr>
          <a:xfrm>
            <a:off x="380990" y="4038499"/>
            <a:ext cx="8140496" cy="1105001"/>
          </a:xfrm>
          <a:prstGeom prst="rect">
            <a:avLst/>
          </a:prstGeom>
          <a:noFill/>
          <a:ln/>
        </p:spPr>
      </p:sp>
      <p:sp>
        <p:nvSpPr>
          <p:cNvPr id="11" name="Text 8"/>
          <p:cNvSpPr/>
          <p:nvPr/>
        </p:nvSpPr>
        <p:spPr>
          <a:xfrm>
            <a:off x="634984" y="4267093"/>
            <a:ext cx="7632509"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BQ-to-Order Conversion Analysis
</a:t>
            </a:r>
            <a:endParaRPr lang="en-US" sz="1300" dirty="0"/>
          </a:p>
        </p:txBody>
      </p:sp>
      <p:sp>
        <p:nvSpPr>
          <p:cNvPr id="12" name="Text 9"/>
          <p:cNvSpPr/>
          <p:nvPr/>
        </p:nvSpPr>
        <p:spPr>
          <a:xfrm>
            <a:off x="634984" y="4673483"/>
            <a:ext cx="7632509" cy="924537"/>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Detailed analysis of BQ-to-Order conversion funnels and domain-specific win/loss ratios helps identify areas for improvement and optimize lead strategies.
</a:t>
            </a:r>
            <a:endParaRPr lang="en-US" sz="1300" dirty="0"/>
          </a:p>
        </p:txBody>
      </p:sp>
      <p:sp>
        <p:nvSpPr>
          <p:cNvPr id="13"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The Core Engine: Tender Lifecycle (TLE)
</a:t>
            </a:r>
            <a:endParaRPr lang="en-US" sz="2900" dirty="0"/>
          </a:p>
        </p:txBody>
      </p:sp>
      <p:pic>
        <p:nvPicPr>
          <p:cNvPr id="3" name="Image 0" descr="https://images.unsplash.com/photo-1730303055577-c8bdba043b19?crop=entropy&amp;cs=tinysrgb&amp;fit=max&amp;fm=jpg&amp;ixid=M3w2Njc0MzZ8MHwxfHNlYXJjaHwxfHx0ZW5kZXIlMjBsaWZlY3ljbGV8ZW58MHx8fHwxNzc1NDEwNDQ1fDA&amp;ixlib=rb-4.1.0&amp;q=80&amp;w=1080">    </p:cNvPr>
          <p:cNvPicPr>
            <a:picLocks noChangeAspect="1"/>
          </p:cNvPicPr>
          <p:nvPr/>
        </p:nvPicPr>
        <p:blipFill>
          <a:blip r:embed="rId1"/>
          <a:srcRect l="0" r="0" t="0" b="0"/>
          <a:stretch/>
        </p:blipFill>
        <p:spPr>
          <a:xfrm>
            <a:off x="8775481" y="0"/>
            <a:ext cx="3370495" cy="6812280"/>
          </a:xfrm>
          <a:prstGeom prst="rect">
            <a:avLst/>
          </a:prstGeom>
        </p:spPr>
      </p:pic>
      <p:sp>
        <p:nvSpPr>
          <p:cNvPr id="4" name="Shape 1"/>
          <p:cNvSpPr/>
          <p:nvPr/>
        </p:nvSpPr>
        <p:spPr>
          <a:xfrm>
            <a:off x="380990" y="1396965"/>
            <a:ext cx="3962301" cy="2133547"/>
          </a:xfrm>
          <a:prstGeom prst="rect">
            <a:avLst/>
          </a:prstGeom>
          <a:noFill/>
          <a:ln/>
        </p:spPr>
      </p:sp>
      <p:sp>
        <p:nvSpPr>
          <p:cNvPr id="5" name="Text 2"/>
          <p:cNvSpPr/>
          <p:nvPr/>
        </p:nvSpPr>
        <p:spPr>
          <a:xfrm>
            <a:off x="634984"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8-Stage Pipeline Overview
</a:t>
            </a:r>
            <a:endParaRPr lang="en-US" sz="1300" dirty="0"/>
          </a:p>
        </p:txBody>
      </p:sp>
      <p:sp>
        <p:nvSpPr>
          <p:cNvPr id="6" name="Text 3"/>
          <p:cNvSpPr/>
          <p:nvPr/>
        </p:nvSpPr>
        <p:spPr>
          <a:xfrm>
            <a:off x="634984" y="2031949"/>
            <a:ext cx="3454314" cy="1269968"/>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The tender management process includes eight stages: Identified, Qualifying, Document Study, Pre-Bid, Bid Submission, Evaluation, Result, and Closed.
</a:t>
            </a:r>
            <a:endParaRPr lang="en-US" sz="1300" dirty="0"/>
          </a:p>
        </p:txBody>
      </p:sp>
      <p:sp>
        <p:nvSpPr>
          <p:cNvPr id="7" name="Shape 4"/>
          <p:cNvSpPr/>
          <p:nvPr/>
        </p:nvSpPr>
        <p:spPr>
          <a:xfrm>
            <a:off x="4546486" y="1396965"/>
            <a:ext cx="3962301" cy="2133547"/>
          </a:xfrm>
          <a:prstGeom prst="rect">
            <a:avLst/>
          </a:prstGeom>
          <a:noFill/>
          <a:ln/>
        </p:spPr>
      </p:sp>
      <p:sp>
        <p:nvSpPr>
          <p:cNvPr id="8" name="Text 5"/>
          <p:cNvSpPr/>
          <p:nvPr/>
        </p:nvSpPr>
        <p:spPr>
          <a:xfrm>
            <a:off x="4800480"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Go/No-Go Decision Control
</a:t>
            </a:r>
            <a:endParaRPr lang="en-US" sz="1300" dirty="0"/>
          </a:p>
        </p:txBody>
      </p:sp>
      <p:sp>
        <p:nvSpPr>
          <p:cNvPr id="9" name="Text 6"/>
          <p:cNvSpPr/>
          <p:nvPr/>
        </p:nvSpPr>
        <p:spPr>
          <a:xfrm>
            <a:off x="4800480" y="2031949"/>
            <a:ext cx="3454314" cy="1269968"/>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Integrated decision recording during the Qualifying stage ensures informed choices, enhancing the likelihood of successful bids and resource allocation.
</a:t>
            </a:r>
            <a:endParaRPr lang="en-US" sz="1300" dirty="0"/>
          </a:p>
        </p:txBody>
      </p:sp>
      <p:sp>
        <p:nvSpPr>
          <p:cNvPr id="10" name="Shape 7"/>
          <p:cNvSpPr/>
          <p:nvPr/>
        </p:nvSpPr>
        <p:spPr>
          <a:xfrm>
            <a:off x="380990" y="4038499"/>
            <a:ext cx="8140496" cy="1105001"/>
          </a:xfrm>
          <a:prstGeom prst="rect">
            <a:avLst/>
          </a:prstGeom>
          <a:noFill/>
          <a:ln/>
        </p:spPr>
      </p:sp>
      <p:sp>
        <p:nvSpPr>
          <p:cNvPr id="11" name="Text 8"/>
          <p:cNvSpPr/>
          <p:nvPr/>
        </p:nvSpPr>
        <p:spPr>
          <a:xfrm>
            <a:off x="634984" y="4267093"/>
            <a:ext cx="7632509"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Automated Checklists
</a:t>
            </a:r>
            <a:endParaRPr lang="en-US" sz="1300" dirty="0"/>
          </a:p>
        </p:txBody>
      </p:sp>
      <p:sp>
        <p:nvSpPr>
          <p:cNvPr id="12" name="Text 9"/>
          <p:cNvSpPr/>
          <p:nvPr/>
        </p:nvSpPr>
        <p:spPr>
          <a:xfrm>
            <a:off x="634984" y="4673483"/>
            <a:ext cx="7632509" cy="693403"/>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Standardized actions at each stage, such as bid preparation and EMD arrangement, are automated to ensure compliance and efficiency in the process.
</a:t>
            </a:r>
            <a:endParaRPr lang="en-US" sz="1300" dirty="0"/>
          </a:p>
        </p:txBody>
      </p:sp>
      <p:sp>
        <p:nvSpPr>
          <p:cNvPr id="13"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Technical Architecture Overview
</a:t>
            </a:r>
            <a:endParaRPr lang="en-US" sz="2900" dirty="0"/>
          </a:p>
        </p:txBody>
      </p:sp>
      <p:pic>
        <p:nvPicPr>
          <p:cNvPr id="3" name="Image 0" descr="https://images.unsplash.com/photo-1633111142460-c346a6f5f349?crop=entropy&amp;cs=tinysrgb&amp;fit=max&amp;fm=jpg&amp;ixid=M3w2Njc0MzZ8MHwxfHNlYXJjaHwxfHx0ZWNobmljYWwlMjBhcmNoaXRlY3R1cmV8ZW58MHx8fHwxNzc1NDEwNDQ1fDA&amp;ixlib=rb-4.1.0&amp;q=80&amp;w=1080">    </p:cNvPr>
          <p:cNvPicPr>
            <a:picLocks noChangeAspect="1"/>
          </p:cNvPicPr>
          <p:nvPr/>
        </p:nvPicPr>
        <p:blipFill>
          <a:blip r:embed="rId1"/>
          <a:srcRect l="0" r="0" t="0" b="0"/>
          <a:stretch/>
        </p:blipFill>
        <p:spPr>
          <a:xfrm>
            <a:off x="8775481" y="0"/>
            <a:ext cx="3370495" cy="6812280"/>
          </a:xfrm>
          <a:prstGeom prst="rect">
            <a:avLst/>
          </a:prstGeom>
        </p:spPr>
      </p:pic>
      <p:sp>
        <p:nvSpPr>
          <p:cNvPr id="4" name="Shape 1"/>
          <p:cNvSpPr/>
          <p:nvPr/>
        </p:nvSpPr>
        <p:spPr>
          <a:xfrm>
            <a:off x="380990" y="1396965"/>
            <a:ext cx="3962301" cy="2438339"/>
          </a:xfrm>
          <a:prstGeom prst="rect">
            <a:avLst/>
          </a:prstGeom>
          <a:noFill/>
          <a:ln/>
        </p:spPr>
      </p:sp>
      <p:sp>
        <p:nvSpPr>
          <p:cNvPr id="5" name="Text 2"/>
          <p:cNvSpPr/>
          <p:nvPr/>
        </p:nvSpPr>
        <p:spPr>
          <a:xfrm>
            <a:off x="634984"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Frontend Technologies
</a:t>
            </a:r>
            <a:endParaRPr lang="en-US" sz="1300" dirty="0"/>
          </a:p>
        </p:txBody>
      </p:sp>
      <p:sp>
        <p:nvSpPr>
          <p:cNvPr id="6" name="Text 3"/>
          <p:cNvSpPr/>
          <p:nvPr/>
        </p:nvSpPr>
        <p:spPr>
          <a:xfrm>
            <a:off x="634984" y="2031949"/>
            <a:ext cx="3454314" cy="1574761"/>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Utilizes React.js (Vite) for dynamic UI, Material UI v5 for design consistency, and Recharts for interactive data visualization, enhancing user engagement and experience.
</a:t>
            </a:r>
            <a:endParaRPr lang="en-US" sz="1300" dirty="0"/>
          </a:p>
        </p:txBody>
      </p:sp>
      <p:sp>
        <p:nvSpPr>
          <p:cNvPr id="7" name="Shape 4"/>
          <p:cNvSpPr/>
          <p:nvPr/>
        </p:nvSpPr>
        <p:spPr>
          <a:xfrm>
            <a:off x="4546486" y="1396965"/>
            <a:ext cx="3962301" cy="2438339"/>
          </a:xfrm>
          <a:prstGeom prst="rect">
            <a:avLst/>
          </a:prstGeom>
          <a:noFill/>
          <a:ln/>
        </p:spPr>
      </p:sp>
      <p:sp>
        <p:nvSpPr>
          <p:cNvPr id="8" name="Text 5"/>
          <p:cNvSpPr/>
          <p:nvPr/>
        </p:nvSpPr>
        <p:spPr>
          <a:xfrm>
            <a:off x="4800480"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Backend Framework
</a:t>
            </a:r>
            <a:endParaRPr lang="en-US" sz="1300" dirty="0"/>
          </a:p>
        </p:txBody>
      </p:sp>
      <p:sp>
        <p:nvSpPr>
          <p:cNvPr id="9" name="Text 6"/>
          <p:cNvSpPr/>
          <p:nvPr/>
        </p:nvSpPr>
        <p:spPr>
          <a:xfrm>
            <a:off x="4800480" y="2031949"/>
            <a:ext cx="3454314" cy="1574761"/>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Powered by Node.js/Express with PostgreSQL 15, employing Sequelize for ORM, ensuring robust data integrity and efficient query handling for high-performance applications.
</a:t>
            </a:r>
            <a:endParaRPr lang="en-US" sz="1300" dirty="0"/>
          </a:p>
        </p:txBody>
      </p:sp>
      <p:sp>
        <p:nvSpPr>
          <p:cNvPr id="10" name="Shape 7"/>
          <p:cNvSpPr/>
          <p:nvPr/>
        </p:nvSpPr>
        <p:spPr>
          <a:xfrm>
            <a:off x="380990" y="4343291"/>
            <a:ext cx="8140496" cy="800209"/>
          </a:xfrm>
          <a:prstGeom prst="rect">
            <a:avLst/>
          </a:prstGeom>
          <a:noFill/>
          <a:ln/>
        </p:spPr>
      </p:sp>
      <p:sp>
        <p:nvSpPr>
          <p:cNvPr id="11" name="Text 8"/>
          <p:cNvSpPr/>
          <p:nvPr/>
        </p:nvSpPr>
        <p:spPr>
          <a:xfrm>
            <a:off x="634984" y="4571886"/>
            <a:ext cx="7632509"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On-Premises Hosting
</a:t>
            </a:r>
            <a:endParaRPr lang="en-US" sz="1300" dirty="0"/>
          </a:p>
        </p:txBody>
      </p:sp>
      <p:sp>
        <p:nvSpPr>
          <p:cNvPr id="12" name="Text 9"/>
          <p:cNvSpPr/>
          <p:nvPr/>
        </p:nvSpPr>
        <p:spPr>
          <a:xfrm>
            <a:off x="634984" y="4978276"/>
            <a:ext cx="7632509" cy="924537"/>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Secure deployment using Nginx and PM2, ensuring all files are stored on internal servers, eliminating cloud dependency and enhancing data security and control.
</a:t>
            </a:r>
            <a:endParaRPr lang="en-US" sz="1300" dirty="0"/>
          </a:p>
        </p:txBody>
      </p:sp>
      <p:sp>
        <p:nvSpPr>
          <p:cNvPr id="13"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Future Improvements: Design &amp; UX
</a:t>
            </a:r>
            <a:endParaRPr lang="en-US" sz="2900" dirty="0"/>
          </a:p>
        </p:txBody>
      </p:sp>
      <p:pic>
        <p:nvPicPr>
          <p:cNvPr id="3" name="Image 0" descr="https://images.unsplash.com/photo-1633526543814-9718c8922b7a?crop=entropy&amp;cs=tinysrgb&amp;fit=max&amp;fm=jpg&amp;ixid=M3w2Njc0MzZ8MHwxfHNlYXJjaHwxfHxjYWxlbmRhcnxlbnwwfHx8fDE3NzU0MDIwODl8MA&amp;ixlib=rb-4.1.0&amp;q=80&amp;w=1080">    </p:cNvPr>
          <p:cNvPicPr>
            <a:picLocks noChangeAspect="1"/>
          </p:cNvPicPr>
          <p:nvPr/>
        </p:nvPicPr>
        <p:blipFill>
          <a:blip r:embed="rId1"/>
          <a:srcRect l="0" r="0" t="0" b="0"/>
          <a:stretch/>
        </p:blipFill>
        <p:spPr>
          <a:xfrm>
            <a:off x="8775481" y="0"/>
            <a:ext cx="3370495" cy="6812280"/>
          </a:xfrm>
          <a:prstGeom prst="rect">
            <a:avLst/>
          </a:prstGeom>
        </p:spPr>
      </p:pic>
      <p:sp>
        <p:nvSpPr>
          <p:cNvPr id="4" name="Shape 1"/>
          <p:cNvSpPr/>
          <p:nvPr/>
        </p:nvSpPr>
        <p:spPr>
          <a:xfrm>
            <a:off x="380990" y="1396965"/>
            <a:ext cx="3962301" cy="2133547"/>
          </a:xfrm>
          <a:prstGeom prst="rect">
            <a:avLst/>
          </a:prstGeom>
          <a:noFill/>
          <a:ln/>
        </p:spPr>
      </p:sp>
      <p:sp>
        <p:nvSpPr>
          <p:cNvPr id="5" name="Text 2"/>
          <p:cNvSpPr/>
          <p:nvPr/>
        </p:nvSpPr>
        <p:spPr>
          <a:xfrm>
            <a:off x="634984"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Interactive Tender Calendar
</a:t>
            </a:r>
            <a:endParaRPr lang="en-US" sz="1300" dirty="0"/>
          </a:p>
        </p:txBody>
      </p:sp>
      <p:sp>
        <p:nvSpPr>
          <p:cNvPr id="6" name="Text 3"/>
          <p:cNvSpPr/>
          <p:nvPr/>
        </p:nvSpPr>
        <p:spPr>
          <a:xfrm>
            <a:off x="634984" y="2031949"/>
            <a:ext cx="3454314" cy="1269968"/>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A monthly view will enhance tracking of submission deadlines and pre-bid meetings, improving overall project management efficiency and accountability.
</a:t>
            </a:r>
            <a:endParaRPr lang="en-US" sz="1300" dirty="0"/>
          </a:p>
        </p:txBody>
      </p:sp>
      <p:sp>
        <p:nvSpPr>
          <p:cNvPr id="7" name="Shape 4"/>
          <p:cNvSpPr/>
          <p:nvPr/>
        </p:nvSpPr>
        <p:spPr>
          <a:xfrm>
            <a:off x="4546486" y="1396965"/>
            <a:ext cx="3962301" cy="2133547"/>
          </a:xfrm>
          <a:prstGeom prst="rect">
            <a:avLst/>
          </a:prstGeom>
          <a:noFill/>
          <a:ln/>
        </p:spPr>
      </p:sp>
      <p:sp>
        <p:nvSpPr>
          <p:cNvPr id="8" name="Text 5"/>
          <p:cNvSpPr/>
          <p:nvPr/>
        </p:nvSpPr>
        <p:spPr>
          <a:xfrm>
            <a:off x="4800480"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Mobile-Responsive Design
</a:t>
            </a:r>
            <a:endParaRPr lang="en-US" sz="1300" dirty="0"/>
          </a:p>
        </p:txBody>
      </p:sp>
      <p:sp>
        <p:nvSpPr>
          <p:cNvPr id="9" name="Text 6"/>
          <p:cNvSpPr/>
          <p:nvPr/>
        </p:nvSpPr>
        <p:spPr>
          <a:xfrm>
            <a:off x="4800480" y="2031949"/>
            <a:ext cx="3454314" cy="1269968"/>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Transitioning to a fully responsive interface will allow users to access critical updates on-the-go, ensuring timely decision-making and increased productivity.
</a:t>
            </a:r>
            <a:endParaRPr lang="en-US" sz="1300" dirty="0"/>
          </a:p>
        </p:txBody>
      </p:sp>
      <p:sp>
        <p:nvSpPr>
          <p:cNvPr id="10" name="Shape 7"/>
          <p:cNvSpPr/>
          <p:nvPr/>
        </p:nvSpPr>
        <p:spPr>
          <a:xfrm>
            <a:off x="380990" y="4038499"/>
            <a:ext cx="8140496" cy="1105001"/>
          </a:xfrm>
          <a:prstGeom prst="rect">
            <a:avLst/>
          </a:prstGeom>
          <a:noFill/>
          <a:ln/>
        </p:spPr>
      </p:sp>
      <p:sp>
        <p:nvSpPr>
          <p:cNvPr id="11" name="Text 8"/>
          <p:cNvSpPr/>
          <p:nvPr/>
        </p:nvSpPr>
        <p:spPr>
          <a:xfrm>
            <a:off x="634984" y="4267093"/>
            <a:ext cx="7632509"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Customizable Dashboards
</a:t>
            </a:r>
            <a:endParaRPr lang="en-US" sz="1300" dirty="0"/>
          </a:p>
        </p:txBody>
      </p:sp>
      <p:sp>
        <p:nvSpPr>
          <p:cNvPr id="12" name="Text 9"/>
          <p:cNvSpPr/>
          <p:nvPr/>
        </p:nvSpPr>
        <p:spPr>
          <a:xfrm>
            <a:off x="634984" y="4673483"/>
            <a:ext cx="7632509" cy="693403"/>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Users will be able to configure dashboards to prioritize KPIs relevant to their roles, enhancing focus and improving data-driven decision-making.
</a:t>
            </a:r>
            <a:endParaRPr lang="en-US" sz="1300" dirty="0"/>
          </a:p>
        </p:txBody>
      </p:sp>
      <p:sp>
        <p:nvSpPr>
          <p:cNvPr id="13"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Future Improvements: System &amp; Integration
</a:t>
            </a:r>
            <a:endParaRPr lang="en-US" sz="2900" dirty="0"/>
          </a:p>
        </p:txBody>
      </p:sp>
      <p:pic>
        <p:nvPicPr>
          <p:cNvPr id="3" name="Image 0" descr="https://images.unsplash.com/photo-1606495813362-8efff01b8573?crop=entropy&amp;cs=tinysrgb&amp;fit=max&amp;fm=jpg&amp;ixid=M3w2Njc0MzZ8MHwxfHNlYXJjaHwxfHxhdXRvbWF0ZWQlMjBhbGVydHN8ZW58MHx8fHwxNzc1MzkzNTM0fDA&amp;ixlib=rb-4.1.0&amp;q=80&amp;w=1080">    </p:cNvPr>
          <p:cNvPicPr>
            <a:picLocks noChangeAspect="1"/>
          </p:cNvPicPr>
          <p:nvPr/>
        </p:nvPicPr>
        <p:blipFill>
          <a:blip r:embed="rId1"/>
          <a:srcRect l="0" r="0" t="0" b="0"/>
          <a:stretch/>
        </p:blipFill>
        <p:spPr>
          <a:xfrm>
            <a:off x="8775481" y="0"/>
            <a:ext cx="3370495" cy="6812280"/>
          </a:xfrm>
          <a:prstGeom prst="rect">
            <a:avLst/>
          </a:prstGeom>
        </p:spPr>
      </p:pic>
      <p:sp>
        <p:nvSpPr>
          <p:cNvPr id="4" name="Shape 1"/>
          <p:cNvSpPr/>
          <p:nvPr/>
        </p:nvSpPr>
        <p:spPr>
          <a:xfrm>
            <a:off x="380990" y="1396965"/>
            <a:ext cx="3962301" cy="2133547"/>
          </a:xfrm>
          <a:prstGeom prst="rect">
            <a:avLst/>
          </a:prstGeom>
          <a:noFill/>
          <a:ln/>
        </p:spPr>
      </p:sp>
      <p:sp>
        <p:nvSpPr>
          <p:cNvPr id="5" name="Text 2"/>
          <p:cNvSpPr/>
          <p:nvPr/>
        </p:nvSpPr>
        <p:spPr>
          <a:xfrm>
            <a:off x="634984"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Automated Alert Engine
</a:t>
            </a:r>
            <a:endParaRPr lang="en-US" sz="1300" dirty="0"/>
          </a:p>
        </p:txBody>
      </p:sp>
      <p:sp>
        <p:nvSpPr>
          <p:cNvPr id="6" name="Text 3"/>
          <p:cNvSpPr/>
          <p:nvPr/>
        </p:nvSpPr>
        <p:spPr>
          <a:xfrm>
            <a:off x="634984" y="2031949"/>
            <a:ext cx="3454314" cy="1269968"/>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Implement direct email and SMS notifications for stage owners as deadlines approach, enhancing responsiveness and ensuring timely actions on critical tasks.
</a:t>
            </a:r>
            <a:endParaRPr lang="en-US" sz="1300" dirty="0"/>
          </a:p>
        </p:txBody>
      </p:sp>
      <p:sp>
        <p:nvSpPr>
          <p:cNvPr id="7" name="Shape 4"/>
          <p:cNvSpPr/>
          <p:nvPr/>
        </p:nvSpPr>
        <p:spPr>
          <a:xfrm>
            <a:off x="4546486" y="1396965"/>
            <a:ext cx="3962301" cy="2133547"/>
          </a:xfrm>
          <a:prstGeom prst="rect">
            <a:avLst/>
          </a:prstGeom>
          <a:noFill/>
          <a:ln/>
        </p:spPr>
      </p:sp>
      <p:sp>
        <p:nvSpPr>
          <p:cNvPr id="8" name="Text 5"/>
          <p:cNvSpPr/>
          <p:nvPr/>
        </p:nvSpPr>
        <p:spPr>
          <a:xfrm>
            <a:off x="4800480"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Advanced Analytics (v2.0)
</a:t>
            </a:r>
            <a:endParaRPr lang="en-US" sz="1300" dirty="0"/>
          </a:p>
        </p:txBody>
      </p:sp>
      <p:sp>
        <p:nvSpPr>
          <p:cNvPr id="9" name="Text 6"/>
          <p:cNvSpPr/>
          <p:nvPr/>
        </p:nvSpPr>
        <p:spPr>
          <a:xfrm>
            <a:off x="4800480" y="2031949"/>
            <a:ext cx="3454314" cy="1269968"/>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Introduce time-in-stage analysis to identify specific process bottlenecks, enabling targeted improvements and optimizing lead management efficiency.
</a:t>
            </a:r>
            <a:endParaRPr lang="en-US" sz="1300" dirty="0"/>
          </a:p>
        </p:txBody>
      </p:sp>
      <p:sp>
        <p:nvSpPr>
          <p:cNvPr id="10" name="Shape 7"/>
          <p:cNvSpPr/>
          <p:nvPr/>
        </p:nvSpPr>
        <p:spPr>
          <a:xfrm>
            <a:off x="380990" y="4038499"/>
            <a:ext cx="8140496" cy="1105001"/>
          </a:xfrm>
          <a:prstGeom prst="rect">
            <a:avLst/>
          </a:prstGeom>
          <a:noFill/>
          <a:ln/>
        </p:spPr>
      </p:sp>
      <p:sp>
        <p:nvSpPr>
          <p:cNvPr id="11" name="Text 8"/>
          <p:cNvSpPr/>
          <p:nvPr/>
        </p:nvSpPr>
        <p:spPr>
          <a:xfrm>
            <a:off x="634984" y="4267093"/>
            <a:ext cx="7632509" cy="380990"/>
          </a:xfrm>
          <a:prstGeom prst="rect">
            <a:avLst/>
          </a:prstGeom>
          <a:noFill/>
          <a:ln/>
        </p:spPr>
        <p:txBody>
          <a:bodyPr wrap="square" lIns="0" tIns="0" rIns="0" bIns="0" rtlCol="0" anchor="t"/>
          <a:lstStyle/>
          <a:p>
            <a:pPr algn="l" indent="0" marL="0">
              <a:lnSpc>
                <a:spcPct val="130000"/>
              </a:lnSpc>
              <a:buNone/>
            </a:pPr>
            <a:r>
              <a:rPr lang="en-US" sz="1300" b="1" dirty="0">
                <a:solidFill>
                  <a:srgbClr val="0F172A"/>
                </a:solidFill>
                <a:latin typeface="Calibri" pitchFamily="34" charset="0"/>
                <a:ea typeface="Calibri" pitchFamily="34" charset="-122"/>
                <a:cs typeface="Calibri" pitchFamily="34" charset="-120"/>
              </a:rPr>
              <a:t>Competitor Win-Rate Intelligence
</a:t>
            </a:r>
            <a:endParaRPr lang="en-US" sz="1300" dirty="0"/>
          </a:p>
        </p:txBody>
      </p:sp>
      <p:sp>
        <p:nvSpPr>
          <p:cNvPr id="12" name="Text 9"/>
          <p:cNvSpPr/>
          <p:nvPr/>
        </p:nvSpPr>
        <p:spPr>
          <a:xfrm>
            <a:off x="634984" y="4673483"/>
            <a:ext cx="7632509" cy="693403"/>
          </a:xfrm>
          <a:prstGeom prst="rect">
            <a:avLst/>
          </a:prstGeom>
          <a:noFill/>
          <a:ln/>
        </p:spPr>
        <p:txBody>
          <a:bodyPr wrap="square" lIns="0" tIns="0" rIns="0" bIns="0"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Automate tracking of competitor performance in specific domains, providing strategic insights to refine bidding strategies and improve win rates.
</a:t>
            </a:r>
            <a:endParaRPr lang="en-US" sz="1300" dirty="0"/>
          </a:p>
        </p:txBody>
      </p:sp>
      <p:sp>
        <p:nvSpPr>
          <p:cNvPr id="13"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30000"/>
              </a:lnSpc>
              <a:buNone/>
            </a:pPr>
            <a:r>
              <a:rPr lang="en-US" sz="2900" dirty="0">
                <a:solidFill>
                  <a:srgbClr val="7C3AED"/>
                </a:solidFill>
                <a:latin typeface="Calibri" pitchFamily="34" charset="0"/>
                <a:ea typeface="Calibri" pitchFamily="34" charset="-122"/>
                <a:cs typeface="Calibri" pitchFamily="34" charset="-120"/>
              </a:rPr>
              <a:t>Transformative Impact of LTMS
</a:t>
            </a:r>
            <a:endParaRPr lang="en-US" sz="2900" dirty="0"/>
          </a:p>
        </p:txBody>
      </p:sp>
      <p:sp>
        <p:nvSpPr>
          <p:cNvPr id="3" name="Text 1"/>
          <p:cNvSpPr/>
          <p:nvPr/>
        </p:nvSpPr>
        <p:spPr>
          <a:xfrm>
            <a:off x="1015975" y="1650959"/>
            <a:ext cx="3047924" cy="1015975"/>
          </a:xfrm>
          <a:prstGeom prst="rect">
            <a:avLst/>
          </a:prstGeom>
          <a:noFill/>
          <a:ln/>
        </p:spPr>
        <p:txBody>
          <a:bodyPr wrap="square" lIns="1016" tIns="1016" rIns="1016" bIns="1016" rtlCol="0" anchor="t"/>
          <a:lstStyle/>
          <a:p>
            <a:pPr algn="ctr" indent="0" marL="0">
              <a:lnSpc>
                <a:spcPct val="130000"/>
              </a:lnSpc>
              <a:buNone/>
            </a:pPr>
            <a:r>
              <a:rPr lang="en-US" sz="4300" b="1" dirty="0">
                <a:solidFill>
                  <a:srgbClr val="0F172A"/>
                </a:solidFill>
                <a:latin typeface="Calibri" pitchFamily="34" charset="0"/>
                <a:ea typeface="Calibri" pitchFamily="34" charset="-122"/>
                <a:cs typeface="Calibri" pitchFamily="34" charset="-120"/>
              </a:rPr>
              <a:t>30%
</a:t>
            </a:r>
            <a:endParaRPr lang="en-US" sz="4300" dirty="0"/>
          </a:p>
        </p:txBody>
      </p:sp>
      <p:sp>
        <p:nvSpPr>
          <p:cNvPr id="4" name="Text 2"/>
          <p:cNvSpPr/>
          <p:nvPr/>
        </p:nvSpPr>
        <p:spPr>
          <a:xfrm>
            <a:off x="1015975" y="2730432"/>
            <a:ext cx="3047924" cy="380990"/>
          </a:xfrm>
          <a:prstGeom prst="rect">
            <a:avLst/>
          </a:prstGeom>
          <a:noFill/>
          <a:ln/>
        </p:spPr>
        <p:txBody>
          <a:bodyPr wrap="square" lIns="1016" tIns="1016" rIns="1016" bIns="1016" rtlCol="0" anchor="t"/>
          <a:lstStyle/>
          <a:p>
            <a:pPr algn="ctr" indent="0" marL="0">
              <a:lnSpc>
                <a:spcPct val="130000"/>
              </a:lnSpc>
              <a:buNone/>
            </a:pPr>
            <a:r>
              <a:rPr lang="en-US" sz="1600" dirty="0">
                <a:solidFill>
                  <a:srgbClr val="7C3AED"/>
                </a:solidFill>
                <a:latin typeface="Calibri" pitchFamily="34" charset="0"/>
                <a:ea typeface="Calibri" pitchFamily="34" charset="-122"/>
                <a:cs typeface="Calibri" pitchFamily="34" charset="-120"/>
              </a:rPr>
              <a:t>Increase in Lead Conversion Rates
</a:t>
            </a:r>
            <a:endParaRPr lang="en-US" sz="1600" dirty="0"/>
          </a:p>
        </p:txBody>
      </p:sp>
      <p:sp>
        <p:nvSpPr>
          <p:cNvPr id="5" name="Text 3"/>
          <p:cNvSpPr/>
          <p:nvPr/>
        </p:nvSpPr>
        <p:spPr>
          <a:xfrm>
            <a:off x="1015975" y="3174921"/>
            <a:ext cx="3047924" cy="571486"/>
          </a:xfrm>
          <a:prstGeom prst="rect">
            <a:avLst/>
          </a:prstGeom>
          <a:noFill/>
          <a:ln/>
        </p:spPr>
        <p:txBody>
          <a:bodyPr wrap="square" lIns="1016" tIns="1016" rIns="1016" bIns="1016" rtlCol="0" anchor="t"/>
          <a:lstStyle/>
          <a:p>
            <a:pPr algn="ctr" indent="0" marL="0">
              <a:lnSpc>
                <a:spcPct val="130000"/>
              </a:lnSpc>
              <a:buNone/>
            </a:pPr>
            <a:r>
              <a:rPr lang="en-US" sz="1300" dirty="0">
                <a:solidFill>
                  <a:srgbClr val="334155"/>
                </a:solidFill>
                <a:latin typeface="Calibri" pitchFamily="34" charset="0"/>
                <a:ea typeface="Calibri" pitchFamily="34" charset="-122"/>
                <a:cs typeface="Calibri" pitchFamily="34" charset="-120"/>
              </a:rPr>
              <a:t>Achieved through enhanced tracking and analytics
</a:t>
            </a:r>
            <a:endParaRPr lang="en-US" sz="1300" dirty="0"/>
          </a:p>
        </p:txBody>
      </p:sp>
      <p:sp>
        <p:nvSpPr>
          <p:cNvPr id="6" name="Text 4"/>
          <p:cNvSpPr/>
          <p:nvPr/>
        </p:nvSpPr>
        <p:spPr>
          <a:xfrm>
            <a:off x="4571886" y="1650959"/>
            <a:ext cx="3047924" cy="1015975"/>
          </a:xfrm>
          <a:prstGeom prst="rect">
            <a:avLst/>
          </a:prstGeom>
          <a:noFill/>
          <a:ln/>
        </p:spPr>
        <p:txBody>
          <a:bodyPr wrap="square" lIns="1016" tIns="1016" rIns="1016" bIns="1016" rtlCol="0" anchor="t"/>
          <a:lstStyle/>
          <a:p>
            <a:pPr algn="ctr" indent="0" marL="0">
              <a:lnSpc>
                <a:spcPct val="130000"/>
              </a:lnSpc>
              <a:buNone/>
            </a:pPr>
            <a:r>
              <a:rPr lang="en-US" sz="4300" b="1" dirty="0">
                <a:solidFill>
                  <a:srgbClr val="0F172A"/>
                </a:solidFill>
                <a:latin typeface="Calibri" pitchFamily="34" charset="0"/>
                <a:ea typeface="Calibri" pitchFamily="34" charset="-122"/>
                <a:cs typeface="Calibri" pitchFamily="34" charset="-120"/>
              </a:rPr>
              <a:t>25%
</a:t>
            </a:r>
            <a:endParaRPr lang="en-US" sz="4300" dirty="0"/>
          </a:p>
        </p:txBody>
      </p:sp>
      <p:sp>
        <p:nvSpPr>
          <p:cNvPr id="7" name="Text 5"/>
          <p:cNvSpPr/>
          <p:nvPr/>
        </p:nvSpPr>
        <p:spPr>
          <a:xfrm>
            <a:off x="4571886" y="2730432"/>
            <a:ext cx="3047924" cy="380990"/>
          </a:xfrm>
          <a:prstGeom prst="rect">
            <a:avLst/>
          </a:prstGeom>
          <a:noFill/>
          <a:ln/>
        </p:spPr>
        <p:txBody>
          <a:bodyPr wrap="square" lIns="1016" tIns="1016" rIns="1016" bIns="1016" rtlCol="0" anchor="t"/>
          <a:lstStyle/>
          <a:p>
            <a:pPr algn="ctr" indent="0" marL="0">
              <a:lnSpc>
                <a:spcPct val="130000"/>
              </a:lnSpc>
              <a:buNone/>
            </a:pPr>
            <a:r>
              <a:rPr lang="en-US" sz="1600" dirty="0">
                <a:solidFill>
                  <a:srgbClr val="7C3AED"/>
                </a:solidFill>
                <a:latin typeface="Calibri" pitchFamily="34" charset="0"/>
                <a:ea typeface="Calibri" pitchFamily="34" charset="-122"/>
                <a:cs typeface="Calibri" pitchFamily="34" charset="-120"/>
              </a:rPr>
              <a:t>Reduction in Tender Submission Time
</a:t>
            </a:r>
            <a:endParaRPr lang="en-US" sz="1600" dirty="0"/>
          </a:p>
        </p:txBody>
      </p:sp>
      <p:sp>
        <p:nvSpPr>
          <p:cNvPr id="8" name="Text 6"/>
          <p:cNvSpPr/>
          <p:nvPr/>
        </p:nvSpPr>
        <p:spPr>
          <a:xfrm>
            <a:off x="4571886" y="3174921"/>
            <a:ext cx="3047924" cy="571486"/>
          </a:xfrm>
          <a:prstGeom prst="rect">
            <a:avLst/>
          </a:prstGeom>
          <a:noFill/>
          <a:ln/>
        </p:spPr>
        <p:txBody>
          <a:bodyPr wrap="square" lIns="1016" tIns="1016" rIns="1016" bIns="1016" rtlCol="0" anchor="t"/>
          <a:lstStyle/>
          <a:p>
            <a:pPr algn="ctr" indent="0" marL="0">
              <a:lnSpc>
                <a:spcPct val="130000"/>
              </a:lnSpc>
              <a:buNone/>
            </a:pPr>
            <a:r>
              <a:rPr lang="en-US" sz="1300" dirty="0">
                <a:solidFill>
                  <a:srgbClr val="334155"/>
                </a:solidFill>
                <a:latin typeface="Calibri" pitchFamily="34" charset="0"/>
                <a:ea typeface="Calibri" pitchFamily="34" charset="-122"/>
                <a:cs typeface="Calibri" pitchFamily="34" charset="-120"/>
              </a:rPr>
              <a:t>Streamlined processes via automation
</a:t>
            </a:r>
            <a:endParaRPr lang="en-US" sz="1300" dirty="0"/>
          </a:p>
        </p:txBody>
      </p:sp>
      <p:sp>
        <p:nvSpPr>
          <p:cNvPr id="9" name="Text 7"/>
          <p:cNvSpPr/>
          <p:nvPr/>
        </p:nvSpPr>
        <p:spPr>
          <a:xfrm>
            <a:off x="8127797" y="1650959"/>
            <a:ext cx="3047924" cy="1015975"/>
          </a:xfrm>
          <a:prstGeom prst="rect">
            <a:avLst/>
          </a:prstGeom>
          <a:noFill/>
          <a:ln/>
        </p:spPr>
        <p:txBody>
          <a:bodyPr wrap="square" lIns="1016" tIns="1016" rIns="1016" bIns="1016" rtlCol="0" anchor="t"/>
          <a:lstStyle/>
          <a:p>
            <a:pPr algn="ctr" indent="0" marL="0">
              <a:lnSpc>
                <a:spcPct val="130000"/>
              </a:lnSpc>
              <a:buNone/>
            </a:pPr>
            <a:r>
              <a:rPr lang="en-US" sz="4300" b="1" dirty="0">
                <a:solidFill>
                  <a:srgbClr val="0F172A"/>
                </a:solidFill>
                <a:latin typeface="Calibri" pitchFamily="34" charset="0"/>
                <a:ea typeface="Calibri" pitchFamily="34" charset="-122"/>
                <a:cs typeface="Calibri" pitchFamily="34" charset="-120"/>
              </a:rPr>
              <a:t>98%
</a:t>
            </a:r>
            <a:endParaRPr lang="en-US" sz="4300" dirty="0"/>
          </a:p>
        </p:txBody>
      </p:sp>
      <p:sp>
        <p:nvSpPr>
          <p:cNvPr id="10" name="Text 8"/>
          <p:cNvSpPr/>
          <p:nvPr/>
        </p:nvSpPr>
        <p:spPr>
          <a:xfrm>
            <a:off x="8127797" y="2730432"/>
            <a:ext cx="3047924" cy="380990"/>
          </a:xfrm>
          <a:prstGeom prst="rect">
            <a:avLst/>
          </a:prstGeom>
          <a:noFill/>
          <a:ln/>
        </p:spPr>
        <p:txBody>
          <a:bodyPr wrap="square" lIns="1016" tIns="1016" rIns="1016" bIns="1016" rtlCol="0" anchor="t"/>
          <a:lstStyle/>
          <a:p>
            <a:pPr algn="ctr" indent="0" marL="0">
              <a:lnSpc>
                <a:spcPct val="130000"/>
              </a:lnSpc>
              <a:buNone/>
            </a:pPr>
            <a:r>
              <a:rPr lang="en-US" sz="1600" dirty="0">
                <a:solidFill>
                  <a:srgbClr val="7C3AED"/>
                </a:solidFill>
                <a:latin typeface="Calibri" pitchFamily="34" charset="0"/>
                <a:ea typeface="Calibri" pitchFamily="34" charset="-122"/>
                <a:cs typeface="Calibri" pitchFamily="34" charset="-120"/>
              </a:rPr>
              <a:t>Order Tracking Accuracy
</a:t>
            </a:r>
            <a:endParaRPr lang="en-US" sz="1600" dirty="0"/>
          </a:p>
        </p:txBody>
      </p:sp>
      <p:sp>
        <p:nvSpPr>
          <p:cNvPr id="11" name="Text 9"/>
          <p:cNvSpPr/>
          <p:nvPr/>
        </p:nvSpPr>
        <p:spPr>
          <a:xfrm>
            <a:off x="8127797" y="3174921"/>
            <a:ext cx="3047924" cy="571486"/>
          </a:xfrm>
          <a:prstGeom prst="rect">
            <a:avLst/>
          </a:prstGeom>
          <a:noFill/>
          <a:ln/>
        </p:spPr>
        <p:txBody>
          <a:bodyPr wrap="square" lIns="1016" tIns="1016" rIns="1016" bIns="1016" rtlCol="0" anchor="t"/>
          <a:lstStyle/>
          <a:p>
            <a:pPr algn="ctr" indent="0" marL="0">
              <a:lnSpc>
                <a:spcPct val="130000"/>
              </a:lnSpc>
              <a:buNone/>
            </a:pPr>
            <a:r>
              <a:rPr lang="en-US" sz="1300" dirty="0">
                <a:solidFill>
                  <a:srgbClr val="334155"/>
                </a:solidFill>
                <a:latin typeface="Calibri" pitchFamily="34" charset="0"/>
                <a:ea typeface="Calibri" pitchFamily="34" charset="-122"/>
                <a:cs typeface="Calibri" pitchFamily="34" charset="-120"/>
              </a:rPr>
              <a:t>Improved with new systems and methodologies
</a:t>
            </a:r>
            <a:endParaRPr lang="en-US" sz="1300" dirty="0"/>
          </a:p>
        </p:txBody>
      </p:sp>
      <p:sp>
        <p:nvSpPr>
          <p:cNvPr id="12" name="Text 10"/>
          <p:cNvSpPr/>
          <p:nvPr/>
        </p:nvSpPr>
        <p:spPr>
          <a:xfrm>
            <a:off x="1015975" y="3936902"/>
            <a:ext cx="3047924" cy="1015975"/>
          </a:xfrm>
          <a:prstGeom prst="rect">
            <a:avLst/>
          </a:prstGeom>
          <a:noFill/>
          <a:ln/>
        </p:spPr>
        <p:txBody>
          <a:bodyPr wrap="square" lIns="1016" tIns="1016" rIns="1016" bIns="1016" rtlCol="0" anchor="t"/>
          <a:lstStyle/>
          <a:p>
            <a:pPr algn="ctr" indent="0" marL="0">
              <a:lnSpc>
                <a:spcPct val="130000"/>
              </a:lnSpc>
              <a:buNone/>
            </a:pPr>
            <a:r>
              <a:rPr lang="en-US" sz="4300" b="1" dirty="0">
                <a:solidFill>
                  <a:srgbClr val="0F172A"/>
                </a:solidFill>
                <a:latin typeface="Calibri" pitchFamily="34" charset="0"/>
                <a:ea typeface="Calibri" pitchFamily="34" charset="-122"/>
                <a:cs typeface="Calibri" pitchFamily="34" charset="-120"/>
              </a:rPr>
              <a:t>40%
</a:t>
            </a:r>
            <a:endParaRPr lang="en-US" sz="4300" dirty="0"/>
          </a:p>
        </p:txBody>
      </p:sp>
      <p:sp>
        <p:nvSpPr>
          <p:cNvPr id="13" name="Text 11"/>
          <p:cNvSpPr/>
          <p:nvPr/>
        </p:nvSpPr>
        <p:spPr>
          <a:xfrm>
            <a:off x="1015975" y="5016375"/>
            <a:ext cx="3047924" cy="380990"/>
          </a:xfrm>
          <a:prstGeom prst="rect">
            <a:avLst/>
          </a:prstGeom>
          <a:noFill/>
          <a:ln/>
        </p:spPr>
        <p:txBody>
          <a:bodyPr wrap="square" lIns="1016" tIns="1016" rIns="1016" bIns="1016" rtlCol="0" anchor="t"/>
          <a:lstStyle/>
          <a:p>
            <a:pPr algn="ctr" indent="0" marL="0">
              <a:lnSpc>
                <a:spcPct val="130000"/>
              </a:lnSpc>
              <a:buNone/>
            </a:pPr>
            <a:r>
              <a:rPr lang="en-US" sz="1600" dirty="0">
                <a:solidFill>
                  <a:srgbClr val="7C3AED"/>
                </a:solidFill>
                <a:latin typeface="Calibri" pitchFamily="34" charset="0"/>
                <a:ea typeface="Calibri" pitchFamily="34" charset="-122"/>
                <a:cs typeface="Calibri" pitchFamily="34" charset="-120"/>
              </a:rPr>
              <a:t>Boost in User Satisfaction Ratings
</a:t>
            </a:r>
            <a:endParaRPr lang="en-US" sz="1600" dirty="0"/>
          </a:p>
        </p:txBody>
      </p:sp>
      <p:sp>
        <p:nvSpPr>
          <p:cNvPr id="14" name="Text 12"/>
          <p:cNvSpPr/>
          <p:nvPr/>
        </p:nvSpPr>
        <p:spPr>
          <a:xfrm>
            <a:off x="1015975" y="5460863"/>
            <a:ext cx="3047924" cy="571486"/>
          </a:xfrm>
          <a:prstGeom prst="rect">
            <a:avLst/>
          </a:prstGeom>
          <a:noFill/>
          <a:ln/>
        </p:spPr>
        <p:txBody>
          <a:bodyPr wrap="square" lIns="1016" tIns="1016" rIns="1016" bIns="1016" rtlCol="0" anchor="t"/>
          <a:lstStyle/>
          <a:p>
            <a:pPr algn="ctr" indent="0" marL="0">
              <a:lnSpc>
                <a:spcPct val="130000"/>
              </a:lnSpc>
              <a:buNone/>
            </a:pPr>
            <a:r>
              <a:rPr lang="en-US" sz="1300" dirty="0">
                <a:solidFill>
                  <a:srgbClr val="334155"/>
                </a:solidFill>
                <a:latin typeface="Calibri" pitchFamily="34" charset="0"/>
                <a:ea typeface="Calibri" pitchFamily="34" charset="-122"/>
                <a:cs typeface="Calibri" pitchFamily="34" charset="-120"/>
              </a:rPr>
              <a:t>Post-implementation feedback from users
</a:t>
            </a:r>
            <a:endParaRPr lang="en-US" sz="1300" dirty="0"/>
          </a:p>
        </p:txBody>
      </p:sp>
      <p:sp>
        <p:nvSpPr>
          <p:cNvPr id="15" name="Text 13"/>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30000"/>
              </a:lnSpc>
              <a:buNone/>
            </a:pPr>
            <a:r>
              <a:rPr lang="en-US" sz="2900" dirty="0">
                <a:solidFill>
                  <a:srgbClr val="7C3AED"/>
                </a:solidFill>
                <a:latin typeface="Calibri" pitchFamily="34" charset="0"/>
                <a:ea typeface="Calibri" pitchFamily="34" charset="-122"/>
                <a:cs typeface="Calibri" pitchFamily="34" charset="-120"/>
              </a:rPr>
              <a:t>Frequently Asked Questions
</a:t>
            </a:r>
            <a:endParaRPr lang="en-US" sz="2900" dirty="0"/>
          </a:p>
        </p:txBody>
      </p:sp>
      <p:sp>
        <p:nvSpPr>
          <p:cNvPr id="3" name="Text 1"/>
          <p:cNvSpPr/>
          <p:nvPr/>
        </p:nvSpPr>
        <p:spPr>
          <a:xfrm>
            <a:off x="1015975" y="1523962"/>
            <a:ext cx="10159746" cy="380990"/>
          </a:xfrm>
          <a:prstGeom prst="rect">
            <a:avLst/>
          </a:prstGeom>
          <a:noFill/>
          <a:ln/>
        </p:spPr>
        <p:txBody>
          <a:bodyPr wrap="square" lIns="1016" tIns="1016" rIns="1016" bIns="1016" rtlCol="0" anchor="t"/>
          <a:lstStyle/>
          <a:p>
            <a:pPr algn="l" indent="0" marL="0">
              <a:lnSpc>
                <a:spcPct val="130000"/>
              </a:lnSpc>
              <a:buNone/>
            </a:pPr>
            <a:r>
              <a:rPr lang="en-US" sz="1400" dirty="0">
                <a:solidFill>
                  <a:srgbClr val="0F172A"/>
                </a:solidFill>
                <a:latin typeface="Calibri" pitchFamily="34" charset="0"/>
                <a:ea typeface="Calibri" pitchFamily="34" charset="-122"/>
                <a:cs typeface="Calibri" pitchFamily="34" charset="-120"/>
              </a:rPr>
              <a:t>Q: What types of leads can be tracked?
</a:t>
            </a:r>
            <a:endParaRPr lang="en-US" sz="1400" dirty="0"/>
          </a:p>
        </p:txBody>
      </p:sp>
      <p:sp>
        <p:nvSpPr>
          <p:cNvPr id="4" name="Text 2"/>
          <p:cNvSpPr/>
          <p:nvPr/>
        </p:nvSpPr>
        <p:spPr>
          <a:xfrm>
            <a:off x="1269968" y="1904952"/>
            <a:ext cx="9905752" cy="924537"/>
          </a:xfrm>
          <a:prstGeom prst="rect">
            <a:avLst/>
          </a:prstGeom>
          <a:noFill/>
          <a:ln/>
        </p:spPr>
        <p:txBody>
          <a:bodyPr wrap="square" lIns="1016" tIns="1016" rIns="1016" bIns="1016"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A: Our system allows tracking of five distinct lead types: Submitted, Domestic, Export, CRM Leads, and Lost Leads, providing comprehensive visibility into your lead management.
</a:t>
            </a:r>
            <a:endParaRPr lang="en-US" sz="1300" dirty="0"/>
          </a:p>
        </p:txBody>
      </p:sp>
      <p:sp>
        <p:nvSpPr>
          <p:cNvPr id="5" name="Text 3"/>
          <p:cNvSpPr/>
          <p:nvPr/>
        </p:nvSpPr>
        <p:spPr>
          <a:xfrm>
            <a:off x="1015975" y="2698683"/>
            <a:ext cx="10159746" cy="528307"/>
          </a:xfrm>
          <a:prstGeom prst="rect">
            <a:avLst/>
          </a:prstGeom>
          <a:noFill/>
          <a:ln/>
        </p:spPr>
        <p:txBody>
          <a:bodyPr wrap="square" lIns="1016" tIns="1016" rIns="1016" bIns="1016" rtlCol="0" anchor="t"/>
          <a:lstStyle/>
          <a:p>
            <a:pPr algn="l" indent="0" marL="0">
              <a:lnSpc>
                <a:spcPct val="130000"/>
              </a:lnSpc>
              <a:buNone/>
            </a:pPr>
            <a:r>
              <a:rPr lang="en-US" sz="1400" dirty="0">
                <a:solidFill>
                  <a:srgbClr val="0F172A"/>
                </a:solidFill>
                <a:latin typeface="Calibri" pitchFamily="34" charset="0"/>
                <a:ea typeface="Calibri" pitchFamily="34" charset="-122"/>
                <a:cs typeface="Calibri" pitchFamily="34" charset="-120"/>
              </a:rPr>
              <a:t>Q: How does the dashboard provide real-time insights?
</a:t>
            </a:r>
            <a:endParaRPr lang="en-US" sz="1400" dirty="0"/>
          </a:p>
        </p:txBody>
      </p:sp>
      <p:sp>
        <p:nvSpPr>
          <p:cNvPr id="6" name="Text 4"/>
          <p:cNvSpPr/>
          <p:nvPr/>
        </p:nvSpPr>
        <p:spPr>
          <a:xfrm>
            <a:off x="1269968" y="3079673"/>
            <a:ext cx="9905752" cy="924537"/>
          </a:xfrm>
          <a:prstGeom prst="rect">
            <a:avLst/>
          </a:prstGeom>
          <a:noFill/>
          <a:ln/>
        </p:spPr>
        <p:txBody>
          <a:bodyPr wrap="square" lIns="1016" tIns="1016" rIns="1016" bIns="1016"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A: The dashboard features 10 interactive charts and 6 real-time KPI cards that display critical metrics such as Win Rate %, Total Orders, and Order Value, enabling quick decision-making.
</a:t>
            </a:r>
            <a:endParaRPr lang="en-US" sz="1300" dirty="0"/>
          </a:p>
        </p:txBody>
      </p:sp>
      <p:sp>
        <p:nvSpPr>
          <p:cNvPr id="7" name="Text 5"/>
          <p:cNvSpPr/>
          <p:nvPr/>
        </p:nvSpPr>
        <p:spPr>
          <a:xfrm>
            <a:off x="1015975" y="3873403"/>
            <a:ext cx="10159746" cy="528307"/>
          </a:xfrm>
          <a:prstGeom prst="rect">
            <a:avLst/>
          </a:prstGeom>
          <a:noFill/>
          <a:ln/>
        </p:spPr>
        <p:txBody>
          <a:bodyPr wrap="square" lIns="1016" tIns="1016" rIns="1016" bIns="1016" rtlCol="0" anchor="t"/>
          <a:lstStyle/>
          <a:p>
            <a:pPr algn="l" indent="0" marL="0">
              <a:lnSpc>
                <a:spcPct val="130000"/>
              </a:lnSpc>
              <a:buNone/>
            </a:pPr>
            <a:r>
              <a:rPr lang="en-US" sz="1400" dirty="0">
                <a:solidFill>
                  <a:srgbClr val="0F172A"/>
                </a:solidFill>
                <a:latin typeface="Calibri" pitchFamily="34" charset="0"/>
                <a:ea typeface="Calibri" pitchFamily="34" charset="-122"/>
                <a:cs typeface="Calibri" pitchFamily="34" charset="-120"/>
              </a:rPr>
              <a:t>Q: What are the benefits of the automated alert system?
</a:t>
            </a:r>
            <a:endParaRPr lang="en-US" sz="1400" dirty="0"/>
          </a:p>
        </p:txBody>
      </p:sp>
      <p:sp>
        <p:nvSpPr>
          <p:cNvPr id="8" name="Text 6"/>
          <p:cNvSpPr/>
          <p:nvPr/>
        </p:nvSpPr>
        <p:spPr>
          <a:xfrm>
            <a:off x="1269968" y="4254394"/>
            <a:ext cx="9905752" cy="924537"/>
          </a:xfrm>
          <a:prstGeom prst="rect">
            <a:avLst/>
          </a:prstGeom>
          <a:noFill/>
          <a:ln/>
        </p:spPr>
        <p:txBody>
          <a:bodyPr wrap="square" lIns="1016" tIns="1016" rIns="1016" bIns="1016"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A: The automated alert system sends direct Email/SMS notifications to stage owners as deadlines approach, ensuring timely actions and reducing the risk of missed opportunities.
</a:t>
            </a:r>
            <a:endParaRPr lang="en-US" sz="1300" dirty="0"/>
          </a:p>
        </p:txBody>
      </p:sp>
      <p:sp>
        <p:nvSpPr>
          <p:cNvPr id="9" name="Text 7"/>
          <p:cNvSpPr/>
          <p:nvPr/>
        </p:nvSpPr>
        <p:spPr>
          <a:xfrm>
            <a:off x="1015975" y="5048124"/>
            <a:ext cx="10159746" cy="380990"/>
          </a:xfrm>
          <a:prstGeom prst="rect">
            <a:avLst/>
          </a:prstGeom>
          <a:noFill/>
          <a:ln/>
        </p:spPr>
        <p:txBody>
          <a:bodyPr wrap="square" lIns="1016" tIns="1016" rIns="1016" bIns="1016" rtlCol="0" anchor="t"/>
          <a:lstStyle/>
          <a:p>
            <a:pPr algn="l" indent="0" marL="0">
              <a:lnSpc>
                <a:spcPct val="130000"/>
              </a:lnSpc>
              <a:buNone/>
            </a:pPr>
            <a:r>
              <a:rPr lang="en-US" sz="1400" dirty="0">
                <a:solidFill>
                  <a:srgbClr val="0F172A"/>
                </a:solidFill>
                <a:latin typeface="Calibri" pitchFamily="34" charset="0"/>
                <a:ea typeface="Calibri" pitchFamily="34" charset="-122"/>
                <a:cs typeface="Calibri" pitchFamily="34" charset="-120"/>
              </a:rPr>
              <a:t>Q: How can users customize their dashboards?
</a:t>
            </a:r>
            <a:endParaRPr lang="en-US" sz="1400" dirty="0"/>
          </a:p>
        </p:txBody>
      </p:sp>
      <p:sp>
        <p:nvSpPr>
          <p:cNvPr id="10" name="Text 8"/>
          <p:cNvSpPr/>
          <p:nvPr/>
        </p:nvSpPr>
        <p:spPr>
          <a:xfrm>
            <a:off x="1269968" y="5429114"/>
            <a:ext cx="9905752" cy="924537"/>
          </a:xfrm>
          <a:prstGeom prst="rect">
            <a:avLst/>
          </a:prstGeom>
          <a:noFill/>
          <a:ln/>
        </p:spPr>
        <p:txBody>
          <a:bodyPr wrap="square" lIns="1016" tIns="1016" rIns="1016" bIns="1016" rtlCol="0" anchor="t"/>
          <a:lstStyle/>
          <a:p>
            <a:pPr algn="l" indent="0" marL="0">
              <a:lnSpc>
                <a:spcPct val="130000"/>
              </a:lnSpc>
              <a:buNone/>
            </a:pPr>
            <a:r>
              <a:rPr lang="en-US" sz="1300" dirty="0">
                <a:solidFill>
                  <a:srgbClr val="475569"/>
                </a:solidFill>
                <a:latin typeface="Calibri" pitchFamily="34" charset="0"/>
                <a:ea typeface="Calibri" pitchFamily="34" charset="-122"/>
                <a:cs typeface="Calibri" pitchFamily="34" charset="-120"/>
              </a:rPr>
              <a:t>A: Users can implement customizable dashboards by configuring specific widgets to prioritize different KPIs, allowing tailored views for Executives and Managers.
</a:t>
            </a:r>
            <a:endParaRPr lang="en-US" sz="1300" dirty="0"/>
          </a:p>
        </p:txBody>
      </p:sp>
      <p:sp>
        <p:nvSpPr>
          <p:cNvPr id="11" name="Text 9"/>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F1"/>
        </a:solidFill>
      </p:bgPr>
    </p:bg>
    <p:spTree>
      <p:nvGrpSpPr>
        <p:cNvPr id="1" name=""/>
        <p:cNvGrpSpPr/>
        <p:nvPr/>
      </p:nvGrpSpPr>
      <p:grpSpPr>
        <a:xfrm>
          <a:off x="0" y="0"/>
          <a:ext cx="0" cy="0"/>
          <a:chOff x="0" y="0"/>
          <a:chExt cx="0" cy="0"/>
        </a:xfrm>
      </p:grpSpPr>
      <p:sp>
        <p:nvSpPr>
          <p:cNvPr id="2" name="Text 0"/>
          <p:cNvSpPr/>
          <p:nvPr/>
        </p:nvSpPr>
        <p:spPr>
          <a:xfrm>
            <a:off x="1523962" y="1777956"/>
            <a:ext cx="9143771" cy="1269968"/>
          </a:xfrm>
          <a:prstGeom prst="rect">
            <a:avLst/>
          </a:prstGeom>
          <a:noFill/>
          <a:ln/>
        </p:spPr>
        <p:txBody>
          <a:bodyPr wrap="square" lIns="1016" tIns="1016" rIns="1016" bIns="1016" rtlCol="0" anchor="t"/>
          <a:lstStyle/>
          <a:p>
            <a:pPr algn="ctr" indent="0" marL="0">
              <a:lnSpc>
                <a:spcPct val="120000"/>
              </a:lnSpc>
              <a:buNone/>
            </a:pPr>
            <a:r>
              <a:rPr lang="en-US" sz="2900" b="1" dirty="0">
                <a:solidFill>
                  <a:srgbClr val="7C3AED"/>
                </a:solidFill>
                <a:latin typeface="Calibri" pitchFamily="34" charset="0"/>
                <a:ea typeface="Calibri" pitchFamily="34" charset="-122"/>
                <a:cs typeface="Calibri" pitchFamily="34" charset="-120"/>
              </a:rPr>
              <a:t>Key Takeaways
</a:t>
            </a:r>
            <a:endParaRPr lang="en-US" sz="2900" dirty="0"/>
          </a:p>
        </p:txBody>
      </p:sp>
      <p:sp>
        <p:nvSpPr>
          <p:cNvPr id="3" name="Text 1"/>
          <p:cNvSpPr/>
          <p:nvPr/>
        </p:nvSpPr>
        <p:spPr>
          <a:xfrm>
            <a:off x="1523962" y="3428914"/>
            <a:ext cx="9143771" cy="2666933"/>
          </a:xfrm>
          <a:prstGeom prst="rect">
            <a:avLst/>
          </a:prstGeom>
          <a:noFill/>
          <a:ln/>
        </p:spPr>
        <p:txBody>
          <a:bodyPr wrap="square" lIns="1016" tIns="1016" rIns="1016" bIns="1016" rtlCol="0" anchor="t"/>
          <a:lstStyle/>
          <a:p>
            <a:pPr algn="ctr" indent="0" marL="0">
              <a:lnSpc>
                <a:spcPct val="150000"/>
              </a:lnSpc>
              <a:buNone/>
            </a:pPr>
            <a:r>
              <a:rPr lang="en-US" sz="1300" dirty="0">
                <a:solidFill>
                  <a:srgbClr val="475569"/>
                </a:solidFill>
                <a:latin typeface="Calibri" pitchFamily="34" charset="0"/>
                <a:ea typeface="Calibri" pitchFamily="34" charset="-122"/>
                <a:cs typeface="Calibri" pitchFamily="34" charset="-120"/>
              </a:rPr>
              <a:t>In summary, our Lead &amp; Tender Management System has successfully implemented multi-module tracking, advanced analytics, and a structured tender lifecycle. Key next steps include enhancing CRM integration and developing a mobile-responsive design. By focusing on these improvements, we can optimize lead management and drive higher conversion rates. Let's leverage these insights to refine our strategies and ensure sustained growth in our procurement processes.
</a:t>
            </a:r>
            <a:endParaRPr lang="en-US" sz="1300" dirty="0"/>
          </a:p>
        </p:txBody>
      </p:sp>
      <p:sp>
        <p:nvSpPr>
          <p:cNvPr id="4" name="Text 2"/>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2026-04-05T17:36:56Z</dcterms:created>
  <dcterms:modified xsi:type="dcterms:W3CDTF">2026-04-05T17:36:56Z</dcterms:modified>
</cp:coreProperties>
</file>