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4.xml" ContentType="application/vnd.openxmlformats-officedocument.presentationml.notesSlide+xml"/>
  <Override PartName="/ppt/charts/chart8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9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0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11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2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6.xml" ContentType="application/vnd.openxmlformats-officedocument.presentationml.notesSlide+xml"/>
  <Override PartName="/ppt/charts/chart16.xml" ContentType="application/vnd.openxmlformats-officedocument.drawingml.chart+xml"/>
  <Override PartName="/ppt/notesSlides/notesSlide7.xml" ContentType="application/vnd.openxmlformats-officedocument.presentationml.notesSlide+xml"/>
  <Override PartName="/ppt/charts/chart1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20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21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22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23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8.xml" ContentType="application/vnd.openxmlformats-officedocument.presentationml.notesSlide+xml"/>
  <Override PartName="/ppt/charts/chart24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25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6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7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8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11.xml" ContentType="application/vnd.openxmlformats-officedocument.presentationml.notesSlide+xml"/>
  <Override PartName="/ppt/charts/chart29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30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12.xml" ContentType="application/vnd.openxmlformats-officedocument.presentationml.notesSlide+xml"/>
  <Override PartName="/ppt/charts/chart31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32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3.xml" ContentType="application/vnd.openxmlformats-officedocument.presentationml.notesSlide+xml"/>
  <Override PartName="/ppt/charts/chart3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16" r:id="rId1"/>
    <p:sldMasterId id="2147489132" r:id="rId2"/>
  </p:sldMasterIdLst>
  <p:notesMasterIdLst>
    <p:notesMasterId r:id="rId26"/>
  </p:notesMasterIdLst>
  <p:handoutMasterIdLst>
    <p:handoutMasterId r:id="rId27"/>
  </p:handoutMasterIdLst>
  <p:sldIdLst>
    <p:sldId id="1207" r:id="rId3"/>
    <p:sldId id="1196" r:id="rId4"/>
    <p:sldId id="1201" r:id="rId5"/>
    <p:sldId id="1197" r:id="rId6"/>
    <p:sldId id="1198" r:id="rId7"/>
    <p:sldId id="1219" r:id="rId8"/>
    <p:sldId id="1168" r:id="rId9"/>
    <p:sldId id="1209" r:id="rId10"/>
    <p:sldId id="1194" r:id="rId11"/>
    <p:sldId id="1210" r:id="rId12"/>
    <p:sldId id="1211" r:id="rId13"/>
    <p:sldId id="1169" r:id="rId14"/>
    <p:sldId id="1212" r:id="rId15"/>
    <p:sldId id="1174" r:id="rId16"/>
    <p:sldId id="1195" r:id="rId17"/>
    <p:sldId id="1202" r:id="rId18"/>
    <p:sldId id="1222" r:id="rId19"/>
    <p:sldId id="1221" r:id="rId20"/>
    <p:sldId id="1204" r:id="rId21"/>
    <p:sldId id="1220" r:id="rId22"/>
    <p:sldId id="1223" r:id="rId23"/>
    <p:sldId id="1206" r:id="rId24"/>
    <p:sldId id="1208" r:id="rId25"/>
  </p:sldIdLst>
  <p:sldSz cx="11880850" cy="6840538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5990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11981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79720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239627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995346" algn="l" defTabSz="1198138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3594415" algn="l" defTabSz="1198138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4193484" algn="l" defTabSz="1198138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4792553" algn="l" defTabSz="1198138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27">
          <p15:clr>
            <a:srgbClr val="A4A3A4"/>
          </p15:clr>
        </p15:guide>
        <p15:guide id="4" pos="37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EB1D5D"/>
    <a:srgbClr val="E2DA3E"/>
    <a:srgbClr val="0000FF"/>
    <a:srgbClr val="800000"/>
    <a:srgbClr val="008000"/>
    <a:srgbClr val="FF9900"/>
    <a:srgbClr val="E729DE"/>
    <a:srgbClr val="5CEEE0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43" autoAdjust="0"/>
    <p:restoredTop sz="98746" autoAdjust="0"/>
  </p:normalViewPr>
  <p:slideViewPr>
    <p:cSldViewPr>
      <p:cViewPr varScale="1">
        <p:scale>
          <a:sx n="103" d="100"/>
          <a:sy n="103" d="100"/>
        </p:scale>
        <p:origin x="120" y="270"/>
      </p:cViewPr>
      <p:guideLst>
        <p:guide orient="horz" pos="1920"/>
        <p:guide pos="2880"/>
        <p:guide orient="horz" pos="1927"/>
        <p:guide pos="3742"/>
      </p:guideLst>
    </p:cSldViewPr>
  </p:slideViewPr>
  <p:outlineViewPr>
    <p:cViewPr>
      <p:scale>
        <a:sx n="33" d="100"/>
        <a:sy n="33" d="100"/>
      </p:scale>
      <p:origin x="42" y="43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708"/>
    </p:cViewPr>
  </p:sorterViewPr>
  <p:notesViewPr>
    <p:cSldViewPr>
      <p:cViewPr varScale="1">
        <p:scale>
          <a:sx n="49" d="100"/>
          <a:sy n="49" d="100"/>
        </p:scale>
        <p:origin x="-2970" y="-90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.DESKTOP-G7S9I7J\Desktop\CHARTS%2016092024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.DESKTOP-G7S9I7J\Documents\IPMsg\AutoSave\CHARTS%20140924%20V3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K:\Mktg-2024\MgmtRelated\Committee\D-Mktg-Sept2024\Lehari\charts%20excel%2017092024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K:\Mktg-2024\MgmtRelated\Committee\D-Mktg-Sept2024\Lehari\charts%20excel%2017092024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K:\Mktg-2024\MgmtRelated\Committee\D-Mktg-Sept2024\Lehari\charts%20excel%2017092024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esktop\CHARTS%2016092024%20%20V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esktop\CHARTS%2016092024%20%20V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esktop\CHARTS%2016092024%20%20V4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shikhakumari\Desktop\CHARTS%2016092024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shikhakumari\Desktop\CHARTS%2016092024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K:\Mktg-2024\MgmtRelated\Committee\D-Mktg-Sept2024\Lehari\charts%20excel%2017092024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shikhakumari\Desktop\CHARTS%2016092024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shikhakumari\Desktop\CHARTS%2016092024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.DESKTOP-G7S9I7J\Documents\IPMsg\AutoSave\CHARTS%20140924%20V3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esktop\CHARTS%20140924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ocuments\IPMsg\AutoSave\CHARTS%20140924%20V3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esktop\CHARTS%2016092024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shikhakumari\Desktop\CHARTS%2016092024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shikhakumari\Desktop\CHARTS%2016092024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esktop\CHARTS%20140924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esktop\CHARTS%2016092024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esktop\CHARTS%2016092024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esktop\CHARTS%2016092024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esktop\CHARTS%2016092024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ocuments\IPMsg\AutoSave\CHARTS%20140924%20V3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.DESKTOP-G7S9I7J\Desktop\CHARTS%2016092024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.DESKTOP-G7S9I7J\Documents\IPMsg\AutoSave\CHARTS%20140924%20V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 sz="1050">
                <a:solidFill>
                  <a:schemeClr val="tx2">
                    <a:lumMod val="50000"/>
                  </a:schemeClr>
                </a:solidFill>
              </a:defRPr>
            </a:pPr>
            <a:r>
              <a:rPr lang="en-IN" sz="1050">
                <a:solidFill>
                  <a:schemeClr val="tx2">
                    <a:lumMod val="50000"/>
                  </a:schemeClr>
                </a:solidFill>
              </a:rPr>
              <a:t>Turnover in INR Crores 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825802071971109"/>
          <c:y val="0.16236162268650969"/>
          <c:w val="0.8269269840377893"/>
          <c:h val="0.690998045074401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turnover!$C$4</c:f>
              <c:strCache>
                <c:ptCount val="1"/>
                <c:pt idx="0">
                  <c:v>IDST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7395982180570559E-17"/>
                  <c:y val="1.490649519423984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528-4DD9-B7FB-3CB459C7361F}"/>
                </c:ext>
              </c:extLst>
            </c:dLbl>
            <c:dLbl>
              <c:idx val="1"/>
              <c:layout>
                <c:manualLayout>
                  <c:x val="-1.8979148638518023E-3"/>
                  <c:y val="8.943897116543909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528-4DD9-B7FB-3CB459C7361F}"/>
                </c:ext>
              </c:extLst>
            </c:dLbl>
            <c:dLbl>
              <c:idx val="2"/>
              <c:layout>
                <c:manualLayout>
                  <c:x val="-5.6932963005080182E-3"/>
                  <c:y val="5.962598077695939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528-4DD9-B7FB-3CB459C7361F}"/>
                </c:ext>
              </c:extLst>
            </c:dLbl>
            <c:dLbl>
              <c:idx val="3"/>
              <c:layout>
                <c:manualLayout>
                  <c:x val="1.8977654335026728E-3"/>
                  <c:y val="1.192519615539187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88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528-4DD9-B7FB-3CB459C7361F}"/>
                </c:ext>
              </c:extLst>
            </c:dLbl>
            <c:dLbl>
              <c:idx val="4"/>
              <c:layout>
                <c:manualLayout>
                  <c:x val="-1.8977654335026728E-3"/>
                  <c:y val="1.49064951942398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528-4DD9-B7FB-3CB459C736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000" b="1">
                    <a:solidFill>
                      <a:schemeClr val="tx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turnover!$B$5:$B$9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</c:v>
                </c:pt>
                <c:pt idx="4">
                  <c:v>2024-25(Planned)</c:v>
                </c:pt>
              </c:strCache>
            </c:strRef>
          </c:cat>
          <c:val>
            <c:numRef>
              <c:f>turnover!$C$5:$C$9</c:f>
              <c:numCache>
                <c:formatCode>General</c:formatCode>
                <c:ptCount val="5"/>
                <c:pt idx="0">
                  <c:v>30.1</c:v>
                </c:pt>
                <c:pt idx="1">
                  <c:v>35</c:v>
                </c:pt>
                <c:pt idx="2">
                  <c:v>77</c:v>
                </c:pt>
                <c:pt idx="3">
                  <c:v>88.26</c:v>
                </c:pt>
                <c:pt idx="4">
                  <c:v>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1E-4F4F-A47A-6B0DCF31CA79}"/>
            </c:ext>
          </c:extLst>
        </c:ser>
        <c:ser>
          <c:idx val="1"/>
          <c:order val="1"/>
          <c:tx>
            <c:strRef>
              <c:f>turnover!$D$4</c:f>
              <c:strCache>
                <c:ptCount val="1"/>
                <c:pt idx="0">
                  <c:v>IUST </c:v>
                </c:pt>
              </c:strCache>
            </c:strRef>
          </c:tx>
          <c:invertIfNegative val="0"/>
          <c:dLbls>
            <c:dLbl>
              <c:idx val="3"/>
              <c:tx>
                <c:rich>
                  <a:bodyPr rot="0" vert="horz"/>
                  <a:lstStyle/>
                  <a:p>
                    <a:pPr>
                      <a:defRPr sz="900" b="1">
                        <a:solidFill>
                          <a:schemeClr val="accent2">
                            <a:lumMod val="75000"/>
                          </a:schemeClr>
                        </a:solidFill>
                      </a:defRPr>
                    </a:pPr>
                    <a:r>
                      <a:rPr lang="en-US" dirty="0"/>
                      <a:t>10</a:t>
                    </a:r>
                  </a:p>
                </c:rich>
              </c:tx>
              <c:spPr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528-4DD9-B7FB-3CB459C736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000" b="1">
                    <a:solidFill>
                      <a:schemeClr val="accent2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turnover!$B$5:$B$9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</c:v>
                </c:pt>
                <c:pt idx="4">
                  <c:v>2024-25(Planned)</c:v>
                </c:pt>
              </c:strCache>
            </c:strRef>
          </c:cat>
          <c:val>
            <c:numRef>
              <c:f>turnover!$D$5:$D$9</c:f>
              <c:numCache>
                <c:formatCode>General</c:formatCode>
                <c:ptCount val="5"/>
                <c:pt idx="0">
                  <c:v>4</c:v>
                </c:pt>
                <c:pt idx="1">
                  <c:v>8</c:v>
                </c:pt>
                <c:pt idx="2">
                  <c:v>5</c:v>
                </c:pt>
                <c:pt idx="3">
                  <c:v>10.46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1E-4F4F-A47A-6B0DCF31CA79}"/>
            </c:ext>
          </c:extLst>
        </c:ser>
        <c:ser>
          <c:idx val="2"/>
          <c:order val="2"/>
          <c:tx>
            <c:strRef>
              <c:f>turnover!$E$4</c:f>
              <c:strCache>
                <c:ptCount val="1"/>
                <c:pt idx="0">
                  <c:v>Direct order</c:v>
                </c:pt>
              </c:strCache>
            </c:strRef>
          </c:tx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528-4DD9-B7FB-3CB459C736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43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528-4DD9-B7FB-3CB459C736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900" b="1">
                    <a:solidFill>
                      <a:schemeClr val="accent3">
                        <a:lumMod val="50000"/>
                      </a:schemeClr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turnover!$B$5:$B$9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</c:v>
                </c:pt>
                <c:pt idx="4">
                  <c:v>2024-25(Planned)</c:v>
                </c:pt>
              </c:strCache>
            </c:strRef>
          </c:cat>
          <c:val>
            <c:numRef>
              <c:f>turnover!$E$5:$E$9</c:f>
              <c:numCache>
                <c:formatCode>General</c:formatCode>
                <c:ptCount val="5"/>
                <c:pt idx="0">
                  <c:v>10.6</c:v>
                </c:pt>
                <c:pt idx="1">
                  <c:v>28</c:v>
                </c:pt>
                <c:pt idx="2">
                  <c:v>23</c:v>
                </c:pt>
                <c:pt idx="3">
                  <c:v>43.32</c:v>
                </c:pt>
                <c:pt idx="4">
                  <c:v>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1E-4F4F-A47A-6B0DCF31CA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5"/>
        <c:axId val="184438144"/>
        <c:axId val="184460800"/>
      </c:barChart>
      <c:lineChart>
        <c:grouping val="standard"/>
        <c:varyColors val="0"/>
        <c:ser>
          <c:idx val="3"/>
          <c:order val="3"/>
          <c:tx>
            <c:strRef>
              <c:f>turnover!$F$4</c:f>
              <c:strCache>
                <c:ptCount val="1"/>
                <c:pt idx="0">
                  <c:v>Total</c:v>
                </c:pt>
              </c:strCache>
            </c:strRef>
          </c:tx>
          <c:marker>
            <c:symbol val="none"/>
          </c:marke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3-BD1E-4F4F-A47A-6B0DCF31CA79}"/>
              </c:ext>
            </c:extLst>
          </c:dPt>
          <c:dLbls>
            <c:dLbl>
              <c:idx val="0"/>
              <c:layout>
                <c:manualLayout>
                  <c:x val="-5.8947242314742014E-3"/>
                  <c:y val="-5.470000000000012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44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D1E-4F4F-A47A-6B0DCF31CA79}"/>
                </c:ext>
              </c:extLst>
            </c:dLbl>
            <c:dLbl>
              <c:idx val="1"/>
              <c:layout>
                <c:manualLayout>
                  <c:x val="-1.6768918855598525E-3"/>
                  <c:y val="-5.469999999999999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D1E-4F4F-A47A-6B0DCF31CA79}"/>
                </c:ext>
              </c:extLst>
            </c:dLbl>
            <c:dLbl>
              <c:idx val="2"/>
              <c:layout>
                <c:manualLayout>
                  <c:x val="-1.5296525980472115E-2"/>
                  <c:y val="-4.803333333333333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D1E-4F4F-A47A-6B0DCF31CA79}"/>
                </c:ext>
              </c:extLst>
            </c:dLbl>
            <c:dLbl>
              <c:idx val="3"/>
              <c:layout>
                <c:manualLayout>
                  <c:x val="-5.1737867488453888E-2"/>
                  <c:y val="-4.821511739275774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142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528-4DD9-B7FB-3CB459C7361F}"/>
                </c:ext>
              </c:extLst>
            </c:dLbl>
            <c:dLbl>
              <c:idx val="4"/>
              <c:layout>
                <c:manualLayout>
                  <c:x val="-5.2106347858613719E-2"/>
                  <c:y val="-2.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D1E-4F4F-A47A-6B0DCF31CA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900" b="1">
                    <a:solidFill>
                      <a:schemeClr val="accent4">
                        <a:lumMod val="50000"/>
                      </a:schemeClr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turnover!$B$5:$B$9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</c:v>
                </c:pt>
                <c:pt idx="4">
                  <c:v>2024-25(Planned)</c:v>
                </c:pt>
              </c:strCache>
            </c:strRef>
          </c:cat>
          <c:val>
            <c:numRef>
              <c:f>turnover!$F$5:$F$9</c:f>
              <c:numCache>
                <c:formatCode>General</c:formatCode>
                <c:ptCount val="5"/>
                <c:pt idx="0">
                  <c:v>44.7</c:v>
                </c:pt>
                <c:pt idx="1">
                  <c:v>71</c:v>
                </c:pt>
                <c:pt idx="2">
                  <c:v>105</c:v>
                </c:pt>
                <c:pt idx="3">
                  <c:v>142.04</c:v>
                </c:pt>
                <c:pt idx="4">
                  <c:v>282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BD1E-4F4F-A47A-6B0DCF31CA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4438144"/>
        <c:axId val="184460800"/>
      </c:lineChart>
      <c:catAx>
        <c:axId val="184438144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1050">
                    <a:solidFill>
                      <a:schemeClr val="tx2">
                        <a:lumMod val="50000"/>
                      </a:schemeClr>
                    </a:solidFill>
                  </a:defRPr>
                </a:pPr>
                <a:r>
                  <a:rPr lang="en-IN" sz="1050">
                    <a:solidFill>
                      <a:schemeClr val="tx2">
                        <a:lumMod val="50000"/>
                      </a:schemeClr>
                    </a:solidFill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 rot="-60000000" vert="horz"/>
          <a:lstStyle/>
          <a:p>
            <a:pPr>
              <a:defRPr sz="1000" b="1">
                <a:solidFill>
                  <a:schemeClr val="tx2">
                    <a:lumMod val="50000"/>
                  </a:schemeClr>
                </a:solidFill>
              </a:defRPr>
            </a:pPr>
            <a:endParaRPr lang="en-US"/>
          </a:p>
        </c:txPr>
        <c:crossAx val="184460800"/>
        <c:crosses val="autoZero"/>
        <c:auto val="1"/>
        <c:lblAlgn val="l"/>
        <c:lblOffset val="100"/>
        <c:noMultiLvlLbl val="0"/>
      </c:catAx>
      <c:valAx>
        <c:axId val="18446080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000">
                    <a:solidFill>
                      <a:schemeClr val="tx2">
                        <a:lumMod val="50000"/>
                      </a:schemeClr>
                    </a:solidFill>
                  </a:defRPr>
                </a:pPr>
                <a:r>
                  <a:rPr lang="en-IN" sz="1000">
                    <a:solidFill>
                      <a:schemeClr val="tx2">
                        <a:lumMod val="50000"/>
                      </a:schemeClr>
                    </a:solidFill>
                  </a:rPr>
                  <a:t>value in crores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 rot="-60000000" vert="horz"/>
          <a:lstStyle/>
          <a:p>
            <a:pPr>
              <a:defRPr sz="1000">
                <a:solidFill>
                  <a:schemeClr val="tx2">
                    <a:lumMod val="50000"/>
                  </a:schemeClr>
                </a:solidFill>
                <a:latin typeface="Arial Black" pitchFamily="34" charset="0"/>
              </a:defRPr>
            </a:pPr>
            <a:endParaRPr lang="en-US"/>
          </a:p>
        </c:txPr>
        <c:crossAx val="184438144"/>
        <c:crosses val="autoZero"/>
        <c:crossBetween val="between"/>
      </c:valAx>
    </c:plotArea>
    <c:legend>
      <c:legendPos val="t"/>
      <c:overlay val="0"/>
      <c:txPr>
        <a:bodyPr rot="0" vert="horz"/>
        <a:lstStyle/>
        <a:p>
          <a:pPr>
            <a:defRPr sz="1050"/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 sz="1800"/>
            </a:pPr>
            <a:r>
              <a:rPr lang="en-IN" sz="1800" dirty="0"/>
              <a:t>Order book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'order book'!$C$4</c:f>
              <c:strCache>
                <c:ptCount val="1"/>
                <c:pt idx="0">
                  <c:v>Order Book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'order book'!$B$5:$B$9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 </c:v>
                </c:pt>
                <c:pt idx="4">
                  <c:v>2024-25</c:v>
                </c:pt>
              </c:strCache>
            </c:strRef>
          </c:cat>
          <c:val>
            <c:numRef>
              <c:f>'order book'!$C$5:$C$9</c:f>
              <c:numCache>
                <c:formatCode>General</c:formatCode>
                <c:ptCount val="5"/>
                <c:pt idx="0">
                  <c:v>20</c:v>
                </c:pt>
                <c:pt idx="1">
                  <c:v>50</c:v>
                </c:pt>
                <c:pt idx="2">
                  <c:v>85</c:v>
                </c:pt>
                <c:pt idx="3">
                  <c:v>125</c:v>
                </c:pt>
                <c:pt idx="4">
                  <c:v>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3B-41EC-A75E-4ECD517BA872}"/>
            </c:ext>
          </c:extLst>
        </c:ser>
        <c:ser>
          <c:idx val="1"/>
          <c:order val="1"/>
          <c:tx>
            <c:strRef>
              <c:f>'order book'!$D$4</c:f>
              <c:strCache>
                <c:ptCount val="1"/>
                <c:pt idx="0">
                  <c:v>Executed Orders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'order book'!$B$5:$B$9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 </c:v>
                </c:pt>
                <c:pt idx="4">
                  <c:v>2024-25</c:v>
                </c:pt>
              </c:strCache>
            </c:strRef>
          </c:cat>
          <c:val>
            <c:numRef>
              <c:f>'order book'!$D$5:$D$9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30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3B-41EC-A75E-4ECD517BA872}"/>
            </c:ext>
          </c:extLst>
        </c:ser>
        <c:ser>
          <c:idx val="2"/>
          <c:order val="2"/>
          <c:tx>
            <c:strRef>
              <c:f>'order book'!$E$4</c:f>
              <c:strCache>
                <c:ptCount val="1"/>
                <c:pt idx="0">
                  <c:v>Orders Received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'order book'!$B$5:$B$9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 </c:v>
                </c:pt>
                <c:pt idx="4">
                  <c:v>2024-25</c:v>
                </c:pt>
              </c:strCache>
            </c:strRef>
          </c:cat>
          <c:val>
            <c:numRef>
              <c:f>'order book'!$E$5:$E$9</c:f>
              <c:numCache>
                <c:formatCode>General</c:formatCode>
                <c:ptCount val="5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3B-41EC-A75E-4ECD517BA8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130318336"/>
        <c:axId val="130320256"/>
      </c:barChart>
      <c:catAx>
        <c:axId val="130318336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1000"/>
                </a:pPr>
                <a:r>
                  <a:rPr lang="en-IN" sz="1000" dirty="0"/>
                  <a:t>Year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 rot="-60000000" vert="horz"/>
          <a:lstStyle/>
          <a:p>
            <a:pPr>
              <a:defRPr sz="1050"/>
            </a:pPr>
            <a:endParaRPr lang="en-US"/>
          </a:p>
        </c:txPr>
        <c:crossAx val="130320256"/>
        <c:crosses val="autoZero"/>
        <c:auto val="1"/>
        <c:lblAlgn val="ctr"/>
        <c:lblOffset val="100"/>
        <c:noMultiLvlLbl val="0"/>
      </c:catAx>
      <c:valAx>
        <c:axId val="13032025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000"/>
                </a:pPr>
                <a:r>
                  <a:rPr lang="en-IN" sz="1000" dirty="0"/>
                  <a:t>Value in </a:t>
                </a:r>
                <a:r>
                  <a:rPr lang="en-IN" sz="1000" dirty="0" err="1"/>
                  <a:t>Crores</a:t>
                </a:r>
                <a:endParaRPr lang="en-IN" sz="1000" dirty="0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 rot="-60000000" vert="horz"/>
          <a:lstStyle/>
          <a:p>
            <a:pPr>
              <a:defRPr sz="1100"/>
            </a:pPr>
            <a:endParaRPr lang="en-US"/>
          </a:p>
        </c:txPr>
        <c:crossAx val="130318336"/>
        <c:crosses val="autoZero"/>
        <c:crossBetween val="between"/>
      </c:valAx>
      <c:spPr>
        <a:noFill/>
        <a:ln w="25400">
          <a:noFill/>
        </a:ln>
      </c:spPr>
    </c:plotArea>
    <c:legend>
      <c:legendPos val="t"/>
      <c:overlay val="0"/>
      <c:txPr>
        <a:bodyPr rot="0" vert="horz"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3522742693000962"/>
          <c:y val="2.881300623638992E-2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2206780402449697"/>
          <c:y val="0.18198782443861183"/>
          <c:w val="0.46697572178477692"/>
          <c:h val="0.77829286964129485"/>
        </c:manualLayout>
      </c:layout>
      <c:doughnutChart>
        <c:varyColors val="1"/>
        <c:ser>
          <c:idx val="0"/>
          <c:order val="0"/>
          <c:tx>
            <c:strRef>
              <c:f>Sheet1!$B$15</c:f>
              <c:strCache>
                <c:ptCount val="1"/>
                <c:pt idx="0">
                  <c:v>2022-23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chemeClr val="bg1"/>
                    </a:solidFill>
                    <a:latin typeface="Arial Black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Sheet1!$C$14:$E$14</c:f>
              <c:strCache>
                <c:ptCount val="3"/>
                <c:pt idx="0">
                  <c:v>EOI/RFI</c:v>
                </c:pt>
                <c:pt idx="1">
                  <c:v>RFP</c:v>
                </c:pt>
                <c:pt idx="2">
                  <c:v>BQs</c:v>
                </c:pt>
              </c:strCache>
            </c:strRef>
          </c:cat>
          <c:val>
            <c:numRef>
              <c:f>Sheet1!$C$15:$E$15</c:f>
              <c:numCache>
                <c:formatCode>General</c:formatCode>
                <c:ptCount val="3"/>
                <c:pt idx="0">
                  <c:v>5</c:v>
                </c:pt>
                <c:pt idx="1">
                  <c:v>35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38-4588-BFA6-73D73F697AB7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  <c:holeSize val="40"/>
      </c:doughnutChart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txPr>
        <a:bodyPr/>
        <a:lstStyle/>
        <a:p>
          <a:pPr>
            <a:defRPr sz="1400"/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674571017163672"/>
          <c:y val="0.18173852639471333"/>
          <c:w val="0.55913150172856618"/>
          <c:h val="0.75468665581205607"/>
        </c:manualLayout>
      </c:layout>
      <c:doughnutChart>
        <c:varyColors val="1"/>
        <c:ser>
          <c:idx val="0"/>
          <c:order val="0"/>
          <c:tx>
            <c:strRef>
              <c:f>Sheet1!$B$35</c:f>
              <c:strCache>
                <c:ptCount val="1"/>
                <c:pt idx="0">
                  <c:v>2023-24 (domestic)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chemeClr val="bg1"/>
                    </a:solidFill>
                    <a:latin typeface="Arial Black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Sheet1!$C$34:$E$34</c:f>
              <c:strCache>
                <c:ptCount val="3"/>
                <c:pt idx="0">
                  <c:v>EOI/RFI</c:v>
                </c:pt>
                <c:pt idx="1">
                  <c:v>RFP</c:v>
                </c:pt>
                <c:pt idx="2">
                  <c:v>BQs</c:v>
                </c:pt>
              </c:strCache>
            </c:strRef>
          </c:cat>
          <c:val>
            <c:numRef>
              <c:f>Sheet1!$C$35:$E$35</c:f>
              <c:numCache>
                <c:formatCode>General</c:formatCode>
                <c:ptCount val="3"/>
                <c:pt idx="0">
                  <c:v>1295</c:v>
                </c:pt>
                <c:pt idx="1">
                  <c:v>1550</c:v>
                </c:pt>
                <c:pt idx="2">
                  <c:v>1448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7-4D51-B4B5-644ACFA6BACB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  <c:holeSize val="40"/>
      </c:doughnutChart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txPr>
        <a:bodyPr/>
        <a:lstStyle/>
        <a:p>
          <a:pPr>
            <a:defRPr sz="1400"/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8797391219225688"/>
          <c:y val="0.16374545217235245"/>
          <c:w val="0.50175272869658849"/>
          <c:h val="0.83625454782764752"/>
        </c:manualLayout>
      </c:layout>
      <c:doughnutChart>
        <c:varyColors val="1"/>
        <c:ser>
          <c:idx val="0"/>
          <c:order val="0"/>
          <c:tx>
            <c:strRef>
              <c:f>Sheet1!$B$56</c:f>
              <c:strCache>
                <c:ptCount val="1"/>
                <c:pt idx="0">
                  <c:v>2023-24 (Export)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chemeClr val="bg1"/>
                    </a:solidFill>
                    <a:latin typeface="Arial Black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Sheet1!$C$55:$E$55</c:f>
              <c:strCache>
                <c:ptCount val="3"/>
                <c:pt idx="0">
                  <c:v>EOI/RFI</c:v>
                </c:pt>
                <c:pt idx="1">
                  <c:v>RFP</c:v>
                </c:pt>
                <c:pt idx="2">
                  <c:v>BQs</c:v>
                </c:pt>
              </c:strCache>
            </c:strRef>
          </c:cat>
          <c:val>
            <c:numRef>
              <c:f>Sheet1!$C$56:$E$56</c:f>
              <c:numCache>
                <c:formatCode>General</c:formatCode>
                <c:ptCount val="3"/>
                <c:pt idx="0">
                  <c:v>2</c:v>
                </c:pt>
                <c:pt idx="1">
                  <c:v>9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37-4912-94B9-153E78E400DA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  <c:holeSize val="40"/>
      </c:doughnutChart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txPr>
        <a:bodyPr/>
        <a:lstStyle/>
        <a:p>
          <a:pPr>
            <a:defRPr sz="1400"/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9952515310586175"/>
          <c:y val="0.16563210848643922"/>
          <c:w val="0.4676165791776028"/>
          <c:h val="0.77936096529600463"/>
        </c:manualLayout>
      </c:layout>
      <c:doughnutChart>
        <c:varyColors val="1"/>
        <c:ser>
          <c:idx val="0"/>
          <c:order val="0"/>
          <c:tx>
            <c:strRef>
              <c:f>Sheet1!$B$74</c:f>
              <c:strCache>
                <c:ptCount val="1"/>
                <c:pt idx="0">
                  <c:v>2024-25 (domestic)</c:v>
                </c:pt>
              </c:strCache>
            </c:strRef>
          </c:tx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bg1"/>
                      </a:solidFill>
                      <a:latin typeface="Arial Black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0-5886-47A3-BE3F-7910B9AB089E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1">
                      <a:solidFill>
                        <a:schemeClr val="bg1"/>
                      </a:solidFill>
                      <a:latin typeface="Arial Black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5886-47A3-BE3F-7910B9AB089E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1">
                      <a:solidFill>
                        <a:schemeClr val="bg1"/>
                      </a:solidFill>
                      <a:latin typeface="Arial Black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5886-47A3-BE3F-7910B9AB08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chemeClr val="bg1"/>
                    </a:solidFill>
                    <a:latin typeface="Arial Black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Sheet1!$C$73:$E$73</c:f>
              <c:strCache>
                <c:ptCount val="3"/>
                <c:pt idx="0">
                  <c:v>EOI/RFI</c:v>
                </c:pt>
                <c:pt idx="1">
                  <c:v>RFP</c:v>
                </c:pt>
                <c:pt idx="2">
                  <c:v>BQs</c:v>
                </c:pt>
              </c:strCache>
            </c:strRef>
          </c:cat>
          <c:val>
            <c:numRef>
              <c:f>Sheet1!$C$74:$E$74</c:f>
              <c:numCache>
                <c:formatCode>General</c:formatCode>
                <c:ptCount val="3"/>
                <c:pt idx="0">
                  <c:v>6</c:v>
                </c:pt>
                <c:pt idx="1">
                  <c:v>29</c:v>
                </c:pt>
                <c:pt idx="2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886-47A3-BE3F-7910B9AB089E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  <c:holeSize val="40"/>
      </c:doughnutChart>
    </c:plotArea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29727077865266843"/>
          <c:y val="6.0185185185185182E-2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7191054243219598"/>
          <c:y val="0.18539479440069989"/>
          <c:w val="0.46451246719160105"/>
          <c:h val="0.77418744531933503"/>
        </c:manualLayout>
      </c:layout>
      <c:doughnutChart>
        <c:varyColors val="1"/>
        <c:ser>
          <c:idx val="0"/>
          <c:order val="0"/>
          <c:tx>
            <c:strRef>
              <c:f>Sheet1!$B$89</c:f>
              <c:strCache>
                <c:ptCount val="1"/>
                <c:pt idx="0">
                  <c:v>2024-25 (export)</c:v>
                </c:pt>
              </c:strCache>
            </c:strRef>
          </c:tx>
          <c:dLbls>
            <c:dLbl>
              <c:idx val="0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B8-4C4F-A233-DA7AC4954C4C}"/>
                </c:ext>
              </c:extLst>
            </c:dLbl>
            <c:dLbl>
              <c:idx val="1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B8-4C4F-A233-DA7AC4954C4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800" b="1">
                        <a:solidFill>
                          <a:schemeClr val="bg1"/>
                        </a:solidFill>
                        <a:latin typeface="Arial Black" pitchFamily="34" charset="0"/>
                      </a:defRPr>
                    </a:pPr>
                    <a:r>
                      <a:rPr lang="en-US" sz="800" b="1">
                        <a:solidFill>
                          <a:schemeClr val="bg1"/>
                        </a:solidFill>
                        <a:latin typeface="Arial Black" pitchFamily="34" charset="0"/>
                      </a:rPr>
                      <a:t>BQs</a:t>
                    </a:r>
                  </a:p>
                  <a:p>
                    <a:pPr>
                      <a:defRPr sz="800" b="1">
                        <a:solidFill>
                          <a:schemeClr val="bg1"/>
                        </a:solidFill>
                        <a:latin typeface="Arial Black" pitchFamily="34" charset="0"/>
                      </a:defRPr>
                    </a:pPr>
                    <a:r>
                      <a:rPr lang="en-US" sz="800" b="1">
                        <a:solidFill>
                          <a:schemeClr val="bg1"/>
                        </a:solidFill>
                        <a:latin typeface="Arial Black" pitchFamily="34" charset="0"/>
                      </a:rPr>
                      <a:t> 6%</a:t>
                    </a:r>
                    <a:endParaRPr lang="en-US" b="1">
                      <a:solidFill>
                        <a:schemeClr val="bg1"/>
                      </a:solidFill>
                      <a:latin typeface="Arial Black" pitchFamily="34" charset="0"/>
                    </a:endParaRPr>
                  </a:p>
                </c:rich>
              </c:tx>
              <c:spPr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2B8-4C4F-A233-DA7AC4954C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chemeClr val="bg1"/>
                    </a:solidFill>
                    <a:latin typeface="Arial Black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Sheet1!$C$88:$E$88</c:f>
              <c:strCache>
                <c:ptCount val="3"/>
                <c:pt idx="0">
                  <c:v>EOI/RFI</c:v>
                </c:pt>
                <c:pt idx="1">
                  <c:v>RFP</c:v>
                </c:pt>
                <c:pt idx="2">
                  <c:v>BQs</c:v>
                </c:pt>
              </c:strCache>
            </c:strRef>
          </c:cat>
          <c:val>
            <c:numRef>
              <c:f>Sheet1!$C$89:$E$89</c:f>
              <c:numCache>
                <c:formatCode>General</c:formatCode>
                <c:ptCount val="3"/>
                <c:pt idx="0">
                  <c:v>2</c:v>
                </c:pt>
                <c:pt idx="1">
                  <c:v>14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2B8-4C4F-A233-DA7AC4954C4C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  <c:holeSize val="40"/>
      </c:doughnutChart>
    </c:plotArea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6313547802837179"/>
          <c:y val="4.1750043475931101E-3"/>
        </c:manualLayout>
      </c:layout>
      <c:overlay val="0"/>
      <c:spPr>
        <a:noFill/>
        <a:ln>
          <a:solidFill>
            <a:schemeClr val="bg2">
              <a:lumMod val="10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'tender types'!$C$25</c:f>
              <c:strCache>
                <c:ptCount val="1"/>
                <c:pt idx="0">
                  <c:v>ST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B8FA-4827-AAB7-D1E933D38EC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B8FA-4827-AAB7-D1E933D38EC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B8FA-4827-AAB7-D1E933D38EC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7-B8FA-4827-AAB7-D1E933D38EC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9-B8FA-4827-AAB7-D1E933D38ECD}"/>
              </c:ext>
            </c:extLst>
          </c:dPt>
          <c:dLbls>
            <c:dLbl>
              <c:idx val="4"/>
              <c:layout>
                <c:manualLayout>
                  <c:x val="-8.3670715249662672E-2"/>
                  <c:y val="2.822766461362913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8FA-4827-AAB7-D1E933D38E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'tender types'!$B$26:$B$30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 </c:v>
                </c:pt>
                <c:pt idx="4">
                  <c:v>2024-25</c:v>
                </c:pt>
              </c:strCache>
            </c:strRef>
          </c:cat>
          <c:val>
            <c:numRef>
              <c:f>'tender types'!$C$26:$C$30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5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8FA-4827-AAB7-D1E933D38EC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solidFill>
            <a:schemeClr val="tx1">
              <a:lumMod val="95000"/>
              <a:lumOff val="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'tender types'!$C$34</c:f>
              <c:strCache>
                <c:ptCount val="1"/>
                <c:pt idx="0">
                  <c:v>MT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3460-41CD-B8E5-0DBACDDABDF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3460-41CD-B8E5-0DBACDDABDF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3460-41CD-B8E5-0DBACDDABDF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7-3460-41CD-B8E5-0DBACDDABDF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9-3460-41CD-B8E5-0DBACDDABDFE}"/>
              </c:ext>
            </c:extLst>
          </c:dPt>
          <c:dLbls>
            <c:dLbl>
              <c:idx val="2"/>
              <c:layout>
                <c:manualLayout>
                  <c:x val="8.328821851202528E-2"/>
                  <c:y val="-4.714912526412969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4982157176412045"/>
                      <c:h val="0.1940584510828168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3460-41CD-B8E5-0DBACDDABDFE}"/>
                </c:ext>
              </c:extLst>
            </c:dLbl>
            <c:dLbl>
              <c:idx val="4"/>
              <c:layout>
                <c:manualLayout>
                  <c:x val="-8.4137114060750112E-2"/>
                  <c:y val="3.4038912619942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rgbClr val="00B0F0"/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460-41CD-B8E5-0DBACDDABD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'tender types'!$B$35:$B$39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 </c:v>
                </c:pt>
                <c:pt idx="4">
                  <c:v>2024-25</c:v>
                </c:pt>
              </c:strCache>
            </c:strRef>
          </c:cat>
          <c:val>
            <c:numRef>
              <c:f>'tender types'!$C$35:$C$39</c:f>
              <c:numCache>
                <c:formatCode>General</c:formatCode>
                <c:ptCount val="5"/>
                <c:pt idx="0">
                  <c:v>25</c:v>
                </c:pt>
                <c:pt idx="1">
                  <c:v>45</c:v>
                </c:pt>
                <c:pt idx="2">
                  <c:v>5</c:v>
                </c:pt>
                <c:pt idx="3">
                  <c:v>93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460-41CD-B8E5-0DBACDDABDFE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8786788657027077"/>
          <c:y val="1.0619202666244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352534659766809"/>
          <c:y val="0.17788379388024159"/>
          <c:w val="0.52901368362540269"/>
          <c:h val="0.75900884306498972"/>
        </c:manualLayout>
      </c:layout>
      <c:doughnutChart>
        <c:varyColors val="1"/>
        <c:ser>
          <c:idx val="0"/>
          <c:order val="0"/>
          <c:tx>
            <c:strRef>
              <c:f>'segment wise'!$H$4</c:f>
              <c:strCache>
                <c:ptCount val="1"/>
                <c:pt idx="0">
                  <c:v>Non Def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FDA-4D60-AB94-A0831FFA9101}"/>
              </c:ext>
            </c:extLst>
          </c:dPt>
          <c:dPt>
            <c:idx val="1"/>
            <c:bubble3D val="0"/>
            <c:spPr>
              <a:solidFill>
                <a:srgbClr val="8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FDA-4D60-AB94-A0831FFA9101}"/>
              </c:ext>
            </c:extLst>
          </c:dPt>
          <c:dPt>
            <c:idx val="2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FDA-4D60-AB94-A0831FFA9101}"/>
              </c:ext>
            </c:extLst>
          </c:dPt>
          <c:dPt>
            <c:idx val="3"/>
            <c:bubble3D val="0"/>
            <c:spPr>
              <a:solidFill>
                <a:srgbClr val="00206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FDA-4D60-AB94-A0831FFA9101}"/>
              </c:ext>
            </c:extLst>
          </c:dPt>
          <c:dPt>
            <c:idx val="4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FDA-4D60-AB94-A0831FFA9101}"/>
              </c:ext>
            </c:extLst>
          </c:dPt>
          <c:dLbls>
            <c:dLbl>
              <c:idx val="0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FDA-4D60-AB94-A0831FFA910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FDA-4D60-AB94-A0831FFA910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FDA-4D60-AB94-A0831FFA910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'segment wise'!$G$5:$G$9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 </c:v>
                </c:pt>
                <c:pt idx="4">
                  <c:v>2024-25(Q1)</c:v>
                </c:pt>
              </c:strCache>
            </c:strRef>
          </c:cat>
          <c:val>
            <c:numRef>
              <c:f>'segment wise'!$H$5:$H$9</c:f>
              <c:numCache>
                <c:formatCode>General</c:formatCode>
                <c:ptCount val="5"/>
                <c:pt idx="0">
                  <c:v>5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FDA-4D60-AB94-A0831FFA91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506198805479821"/>
          <c:y val="0.16379970887583992"/>
          <c:w val="0.48043148024374105"/>
          <c:h val="0.73323612438628027"/>
        </c:manualLayout>
      </c:layout>
      <c:doughnutChart>
        <c:varyColors val="1"/>
        <c:ser>
          <c:idx val="0"/>
          <c:order val="0"/>
          <c:tx>
            <c:strRef>
              <c:f>'segment wise'!$C$4</c:f>
              <c:strCache>
                <c:ptCount val="1"/>
                <c:pt idx="0">
                  <c:v>Def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B2-48AF-A056-963AA09F818C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B2-48AF-A056-963AA09F818C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B2-48AF-A056-963AA09F818C}"/>
              </c:ext>
            </c:extLst>
          </c:dPt>
          <c:dPt>
            <c:idx val="3"/>
            <c:bubble3D val="0"/>
            <c:spPr>
              <a:solidFill>
                <a:srgbClr val="00206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EB2-48AF-A056-963AA09F818C}"/>
              </c:ext>
            </c:extLst>
          </c:dPt>
          <c:dPt>
            <c:idx val="4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EB2-48AF-A056-963AA09F818C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6EB2-48AF-A056-963AA09F81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'segment wise'!$B$5:$B$9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 </c:v>
                </c:pt>
                <c:pt idx="4">
                  <c:v>2024-25(Q1)</c:v>
                </c:pt>
              </c:strCache>
            </c:strRef>
          </c:cat>
          <c:val>
            <c:numRef>
              <c:f>'segment wise'!$C$5:$C$9</c:f>
              <c:numCache>
                <c:formatCode>General</c:formatCode>
                <c:ptCount val="5"/>
                <c:pt idx="0">
                  <c:v>9</c:v>
                </c:pt>
                <c:pt idx="1">
                  <c:v>2</c:v>
                </c:pt>
                <c:pt idx="2">
                  <c:v>8</c:v>
                </c:pt>
                <c:pt idx="3">
                  <c:v>12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EB2-48AF-A056-963AA09F81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/>
            </a:pPr>
            <a:r>
              <a:rPr lang="en-GB" sz="1400" b="1" i="0" u="none" strike="noStrike" baseline="0">
                <a:effectLst/>
              </a:rPr>
              <a:t>Segment wise Orders received </a:t>
            </a:r>
            <a:endParaRPr lang="en-IN" sz="1400"/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Sheet3!$C$1</c:f>
              <c:strCache>
                <c:ptCount val="1"/>
                <c:pt idx="0">
                  <c:v>Def</c:v>
                </c:pt>
              </c:strCache>
            </c:strRef>
          </c:tx>
          <c:spPr>
            <a:solidFill>
              <a:srgbClr val="002060"/>
            </a:solidFill>
          </c:spPr>
          <c:invertIfNegative val="0"/>
          <c:dLbls>
            <c:dLbl>
              <c:idx val="1"/>
              <c:spPr/>
              <c:txPr>
                <a:bodyPr/>
                <a:lstStyle/>
                <a:p>
                  <a:pPr>
                    <a:defRPr sz="700" b="0">
                      <a:solidFill>
                        <a:schemeClr val="bg1"/>
                      </a:solidFill>
                      <a:latin typeface="Arial Black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23-45DF-A9A5-C60566D8C2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>
                    <a:solidFill>
                      <a:schemeClr val="bg1"/>
                    </a:solidFill>
                    <a:latin typeface="Arial Black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Sheet3!$B$2:$B$6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 </c:v>
                </c:pt>
                <c:pt idx="4">
                  <c:v>2024-25(Q1)</c:v>
                </c:pt>
              </c:strCache>
            </c:strRef>
          </c:cat>
          <c:val>
            <c:numRef>
              <c:f>Sheet3!$C$2:$C$6</c:f>
              <c:numCache>
                <c:formatCode>General</c:formatCode>
                <c:ptCount val="5"/>
                <c:pt idx="0">
                  <c:v>9</c:v>
                </c:pt>
                <c:pt idx="1">
                  <c:v>2</c:v>
                </c:pt>
                <c:pt idx="2">
                  <c:v>8</c:v>
                </c:pt>
                <c:pt idx="3">
                  <c:v>12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23-45DF-A9A5-C60566D8C2D6}"/>
            </c:ext>
          </c:extLst>
        </c:ser>
        <c:ser>
          <c:idx val="1"/>
          <c:order val="1"/>
          <c:tx>
            <c:strRef>
              <c:f>Sheet3!$D$1</c:f>
              <c:strCache>
                <c:ptCount val="1"/>
                <c:pt idx="0">
                  <c:v>Non Def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4"/>
              <c:layout>
                <c:manualLayout>
                  <c:x val="0"/>
                  <c:y val="-5.711853804362804E-3"/>
                </c:manualLayout>
              </c:layout>
              <c:dLblPos val="ct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23-45DF-A9A5-C60566D8C2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ysClr val="windowText" lastClr="000000"/>
                    </a:solidFill>
                    <a:latin typeface="Arial Black" pitchFamily="34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Sheet3!$B$2:$B$6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 </c:v>
                </c:pt>
                <c:pt idx="4">
                  <c:v>2024-25(Q1)</c:v>
                </c:pt>
              </c:strCache>
            </c:strRef>
          </c:cat>
          <c:val>
            <c:numRef>
              <c:f>Sheet3!$D$2:$D$6</c:f>
              <c:numCache>
                <c:formatCode>General</c:formatCode>
                <c:ptCount val="5"/>
                <c:pt idx="0">
                  <c:v>5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123-45DF-A9A5-C60566D8C2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131548288"/>
        <c:axId val="131549824"/>
      </c:barChart>
      <c:catAx>
        <c:axId val="13154828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1"/>
            </a:pPr>
            <a:endParaRPr lang="en-US"/>
          </a:p>
        </c:txPr>
        <c:crossAx val="131549824"/>
        <c:crosses val="autoZero"/>
        <c:auto val="1"/>
        <c:lblAlgn val="ctr"/>
        <c:lblOffset val="100"/>
        <c:noMultiLvlLbl val="0"/>
      </c:catAx>
      <c:valAx>
        <c:axId val="1315498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1548288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spPr>
    <a:ln>
      <a:solidFill>
        <a:schemeClr val="tx1"/>
      </a:solidFill>
    </a:ln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9086412784200449"/>
          <c:y val="0.18399822000507793"/>
          <c:w val="0.50386272440317093"/>
          <c:h val="0.74484032425131375"/>
        </c:manualLayout>
      </c:layout>
      <c:doughnutChart>
        <c:varyColors val="1"/>
        <c:ser>
          <c:idx val="0"/>
          <c:order val="0"/>
          <c:tx>
            <c:strRef>
              <c:f>'segment wise'!$C$45</c:f>
              <c:strCache>
                <c:ptCount val="1"/>
                <c:pt idx="0">
                  <c:v>Def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3CE-46F7-8462-030F66DBAEF9}"/>
              </c:ext>
            </c:extLst>
          </c:dPt>
          <c:dPt>
            <c:idx val="1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3CE-46F7-8462-030F66DBAEF9}"/>
              </c:ext>
            </c:extLst>
          </c:dPt>
          <c:dPt>
            <c:idx val="2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3CE-46F7-8462-030F66DBAEF9}"/>
              </c:ext>
            </c:extLst>
          </c:dPt>
          <c:dPt>
            <c:idx val="3"/>
            <c:bubble3D val="0"/>
            <c:spPr>
              <a:solidFill>
                <a:schemeClr val="accent3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3CE-46F7-8462-030F66DBAEF9}"/>
              </c:ext>
            </c:extLst>
          </c:dPt>
          <c:dPt>
            <c:idx val="4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3CE-46F7-8462-030F66DBAEF9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93CE-46F7-8462-030F66DBAE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'segment wise'!$B$46:$B$50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 </c:v>
                </c:pt>
                <c:pt idx="4">
                  <c:v>2024-25(Q1)</c:v>
                </c:pt>
              </c:strCache>
            </c:strRef>
          </c:cat>
          <c:val>
            <c:numRef>
              <c:f>'segment wise'!$C$46:$C$50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17</c:v>
                </c:pt>
                <c:pt idx="3">
                  <c:v>20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3CE-46F7-8462-030F66DBAE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0"/>
        <c:holeSize val="5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271804461942257"/>
          <c:y val="0.13589967920676579"/>
          <c:w val="0.4338781701663485"/>
          <c:h val="0.58333870406413946"/>
        </c:manualLayout>
      </c:layout>
      <c:doughnutChart>
        <c:varyColors val="1"/>
        <c:ser>
          <c:idx val="0"/>
          <c:order val="0"/>
          <c:tx>
            <c:strRef>
              <c:f>'segment wise'!$H$45</c:f>
              <c:strCache>
                <c:ptCount val="1"/>
                <c:pt idx="0">
                  <c:v>Non Def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CC-442D-AA47-436B4A735593}"/>
              </c:ext>
            </c:extLst>
          </c:dPt>
          <c:dPt>
            <c:idx val="1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CC-442D-AA47-436B4A735593}"/>
              </c:ext>
            </c:extLst>
          </c:dPt>
          <c:dPt>
            <c:idx val="2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CC-442D-AA47-436B4A735593}"/>
              </c:ext>
            </c:extLst>
          </c:dPt>
          <c:dPt>
            <c:idx val="3"/>
            <c:bubble3D val="0"/>
            <c:spPr>
              <a:solidFill>
                <a:schemeClr val="accent3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BCC-442D-AA47-436B4A735593}"/>
              </c:ext>
            </c:extLst>
          </c:dPt>
          <c:dPt>
            <c:idx val="4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BCC-442D-AA47-436B4A73559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'segment wise'!$G$46:$G$50</c:f>
              <c:strCache>
                <c:ptCount val="5"/>
                <c:pt idx="0">
                  <c:v>2020-21</c:v>
                </c:pt>
                <c:pt idx="1">
                  <c:v>2021-22</c:v>
                </c:pt>
                <c:pt idx="2">
                  <c:v>2022-23</c:v>
                </c:pt>
                <c:pt idx="3">
                  <c:v>2023-24 </c:v>
                </c:pt>
                <c:pt idx="4">
                  <c:v>2024-25(Q1)</c:v>
                </c:pt>
              </c:strCache>
            </c:strRef>
          </c:cat>
          <c:val>
            <c:numRef>
              <c:f>'segment wise'!$H$46:$H$50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15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BCC-442D-AA47-436B4A7355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chemeClr val="tx2">
                    <a:lumMod val="50000"/>
                  </a:schemeClr>
                </a:solidFill>
                <a:effectLst/>
              </a:rPr>
              <a:t>Domain Wise Breakup</a:t>
            </a:r>
            <a:r>
              <a:rPr lang="en-IN" sz="1400" b="0" i="0" u="none" strike="noStrike" baseline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IN">
              <a:solidFill>
                <a:schemeClr val="tx2">
                  <a:lumMod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'tender analysis'!$C$27</c:f>
              <c:strCache>
                <c:ptCount val="1"/>
                <c:pt idx="0">
                  <c:v>No of Bids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'tender analysis'!$B$28:$B$44</c:f>
              <c:strCache>
                <c:ptCount val="17"/>
                <c:pt idx="0">
                  <c:v>AI/ML </c:v>
                </c:pt>
                <c:pt idx="1">
                  <c:v>App Development</c:v>
                </c:pt>
                <c:pt idx="2">
                  <c:v>App Migration</c:v>
                </c:pt>
                <c:pt idx="3">
                  <c:v>BFSI</c:v>
                </c:pt>
                <c:pt idx="4">
                  <c:v>Cloud</c:v>
                </c:pt>
                <c:pt idx="5">
                  <c:v>Customer Care</c:v>
                </c:pt>
                <c:pt idx="6">
                  <c:v>Cyber Security</c:v>
                </c:pt>
                <c:pt idx="7">
                  <c:v>E-Governance</c:v>
                </c:pt>
                <c:pt idx="8">
                  <c:v>ERP</c:v>
                </c:pt>
                <c:pt idx="9">
                  <c:v>Health</c:v>
                </c:pt>
                <c:pt idx="10">
                  <c:v>NMS</c:v>
                </c:pt>
                <c:pt idx="11">
                  <c:v>GIS</c:v>
                </c:pt>
                <c:pt idx="12">
                  <c:v>O&amp;M (App)</c:v>
                </c:pt>
                <c:pt idx="13">
                  <c:v>O&amp;M (COTS)</c:v>
                </c:pt>
                <c:pt idx="14">
                  <c:v>Power</c:v>
                </c:pt>
                <c:pt idx="15">
                  <c:v>Procurement</c:v>
                </c:pt>
                <c:pt idx="16">
                  <c:v>Video Analytics</c:v>
                </c:pt>
              </c:strCache>
            </c:strRef>
          </c:cat>
          <c:val>
            <c:numRef>
              <c:f>'tender analysis'!$C$28:$C$44</c:f>
              <c:numCache>
                <c:formatCode>General</c:formatCode>
                <c:ptCount val="17"/>
                <c:pt idx="0">
                  <c:v>7</c:v>
                </c:pt>
                <c:pt idx="1">
                  <c:v>28</c:v>
                </c:pt>
                <c:pt idx="2">
                  <c:v>1</c:v>
                </c:pt>
                <c:pt idx="3">
                  <c:v>6</c:v>
                </c:pt>
                <c:pt idx="4">
                  <c:v>15</c:v>
                </c:pt>
                <c:pt idx="5">
                  <c:v>1</c:v>
                </c:pt>
                <c:pt idx="6">
                  <c:v>5</c:v>
                </c:pt>
                <c:pt idx="7">
                  <c:v>8</c:v>
                </c:pt>
                <c:pt idx="8">
                  <c:v>21</c:v>
                </c:pt>
                <c:pt idx="9">
                  <c:v>1</c:v>
                </c:pt>
                <c:pt idx="10">
                  <c:v>3</c:v>
                </c:pt>
                <c:pt idx="11">
                  <c:v>2</c:v>
                </c:pt>
                <c:pt idx="12">
                  <c:v>4</c:v>
                </c:pt>
                <c:pt idx="13">
                  <c:v>3</c:v>
                </c:pt>
                <c:pt idx="14">
                  <c:v>2</c:v>
                </c:pt>
                <c:pt idx="15">
                  <c:v>25</c:v>
                </c:pt>
                <c:pt idx="1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07-4175-A72C-DD99E4CC78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31658496"/>
        <c:axId val="131936256"/>
      </c:barChart>
      <c:lineChart>
        <c:grouping val="standard"/>
        <c:varyColors val="0"/>
        <c:ser>
          <c:idx val="1"/>
          <c:order val="1"/>
          <c:tx>
            <c:strRef>
              <c:f>'tender analysis'!$D$27</c:f>
              <c:strCache>
                <c:ptCount val="1"/>
                <c:pt idx="0">
                  <c:v>Value  in Rs Crores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-5.3435610210314982E-2"/>
                  <c:y val="-2.27573331362225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445-4273-ADC9-B62CC2296175}"/>
                </c:ext>
              </c:extLst>
            </c:dLbl>
            <c:dLbl>
              <c:idx val="11"/>
              <c:layout>
                <c:manualLayout>
                  <c:x val="-5.7093992687442793E-2"/>
                  <c:y val="-3.12913330623060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45-4273-ADC9-B62CC2296175}"/>
                </c:ext>
              </c:extLst>
            </c:dLbl>
            <c:dLbl>
              <c:idx val="12"/>
              <c:layout>
                <c:manualLayout>
                  <c:x val="-5.7093992687442661E-2"/>
                  <c:y val="-2.84466664202783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445-4273-ADC9-B62CC2296175}"/>
                </c:ext>
              </c:extLst>
            </c:dLbl>
            <c:dLbl>
              <c:idx val="13"/>
              <c:layout>
                <c:manualLayout>
                  <c:x val="-4.6310712578123171E-2"/>
                  <c:y val="-3.41358877095842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498468497643804E-2"/>
                      <c:h val="4.600027550708422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B445-4273-ADC9-B62CC2296175}"/>
                </c:ext>
              </c:extLst>
            </c:dLbl>
            <c:dLbl>
              <c:idx val="14"/>
              <c:layout>
                <c:manualLayout>
                  <c:x val="-4.9873161394219045E-2"/>
                  <c:y val="-3.12913330623060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45-4273-ADC9-B62CC22961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36000" rIns="36000" bIns="108000" anchor="t" anchorCtr="0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'tender analysis'!$B$28:$B$44</c:f>
              <c:strCache>
                <c:ptCount val="17"/>
                <c:pt idx="0">
                  <c:v>AI/ML </c:v>
                </c:pt>
                <c:pt idx="1">
                  <c:v>App Development</c:v>
                </c:pt>
                <c:pt idx="2">
                  <c:v>App Migration</c:v>
                </c:pt>
                <c:pt idx="3">
                  <c:v>BFSI</c:v>
                </c:pt>
                <c:pt idx="4">
                  <c:v>Cloud</c:v>
                </c:pt>
                <c:pt idx="5">
                  <c:v>Customer Care</c:v>
                </c:pt>
                <c:pt idx="6">
                  <c:v>Cyber Security</c:v>
                </c:pt>
                <c:pt idx="7">
                  <c:v>E-Governance</c:v>
                </c:pt>
                <c:pt idx="8">
                  <c:v>ERP</c:v>
                </c:pt>
                <c:pt idx="9">
                  <c:v>Health</c:v>
                </c:pt>
                <c:pt idx="10">
                  <c:v>NMS</c:v>
                </c:pt>
                <c:pt idx="11">
                  <c:v>GIS</c:v>
                </c:pt>
                <c:pt idx="12">
                  <c:v>O&amp;M (App)</c:v>
                </c:pt>
                <c:pt idx="13">
                  <c:v>O&amp;M (COTS)</c:v>
                </c:pt>
                <c:pt idx="14">
                  <c:v>Power</c:v>
                </c:pt>
                <c:pt idx="15">
                  <c:v>Procurement</c:v>
                </c:pt>
                <c:pt idx="16">
                  <c:v>Video Analytics</c:v>
                </c:pt>
              </c:strCache>
            </c:strRef>
          </c:cat>
          <c:val>
            <c:numRef>
              <c:f>'tender analysis'!$D$28:$D$44</c:f>
              <c:numCache>
                <c:formatCode>General</c:formatCode>
                <c:ptCount val="17"/>
                <c:pt idx="0">
                  <c:v>143</c:v>
                </c:pt>
                <c:pt idx="1">
                  <c:v>793</c:v>
                </c:pt>
                <c:pt idx="2">
                  <c:v>15</c:v>
                </c:pt>
                <c:pt idx="3">
                  <c:v>179</c:v>
                </c:pt>
                <c:pt idx="4" formatCode="#,##0">
                  <c:v>1241</c:v>
                </c:pt>
                <c:pt idx="5">
                  <c:v>22</c:v>
                </c:pt>
                <c:pt idx="6">
                  <c:v>261</c:v>
                </c:pt>
                <c:pt idx="7">
                  <c:v>619</c:v>
                </c:pt>
                <c:pt idx="8">
                  <c:v>775</c:v>
                </c:pt>
                <c:pt idx="9">
                  <c:v>35</c:v>
                </c:pt>
                <c:pt idx="10">
                  <c:v>84</c:v>
                </c:pt>
                <c:pt idx="11">
                  <c:v>102</c:v>
                </c:pt>
                <c:pt idx="12">
                  <c:v>112</c:v>
                </c:pt>
                <c:pt idx="13">
                  <c:v>56</c:v>
                </c:pt>
                <c:pt idx="14">
                  <c:v>68</c:v>
                </c:pt>
                <c:pt idx="15">
                  <c:v>590</c:v>
                </c:pt>
                <c:pt idx="16">
                  <c:v>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07-4175-A72C-DD99E4CC78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1939712"/>
        <c:axId val="131938176"/>
      </c:lineChart>
      <c:catAx>
        <c:axId val="1316584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2">
                        <a:lumMod val="50000"/>
                      </a:schemeClr>
                    </a:solidFill>
                  </a:rPr>
                  <a:t>SW</a:t>
                </a:r>
                <a:r>
                  <a:rPr lang="en-IN" b="1" baseline="0">
                    <a:solidFill>
                      <a:schemeClr val="tx2">
                        <a:lumMod val="50000"/>
                      </a:schemeClr>
                    </a:solidFill>
                  </a:rPr>
                  <a:t> domain</a:t>
                </a:r>
                <a:endParaRPr lang="en-IN" b="1">
                  <a:solidFill>
                    <a:schemeClr val="tx2">
                      <a:lumMod val="50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936256"/>
        <c:crosses val="autoZero"/>
        <c:auto val="1"/>
        <c:lblAlgn val="ctr"/>
        <c:lblOffset val="100"/>
        <c:noMultiLvlLbl val="0"/>
      </c:catAx>
      <c:valAx>
        <c:axId val="131936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50" b="1" dirty="0">
                    <a:solidFill>
                      <a:schemeClr val="tx2">
                        <a:lumMod val="50000"/>
                      </a:schemeClr>
                    </a:solidFill>
                  </a:rPr>
                  <a:t> No</a:t>
                </a:r>
                <a:r>
                  <a:rPr lang="en-IN" sz="1050" b="1" baseline="0" dirty="0">
                    <a:solidFill>
                      <a:schemeClr val="tx2">
                        <a:lumMod val="50000"/>
                      </a:schemeClr>
                    </a:solidFill>
                  </a:rPr>
                  <a:t> of bids</a:t>
                </a:r>
                <a:endParaRPr lang="en-IN" sz="1050" b="1" dirty="0">
                  <a:solidFill>
                    <a:schemeClr val="tx2">
                      <a:lumMod val="50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58496"/>
        <c:crosses val="autoZero"/>
        <c:crossBetween val="between"/>
      </c:valAx>
      <c:valAx>
        <c:axId val="13193817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1939712"/>
        <c:crosses val="max"/>
        <c:crossBetween val="between"/>
      </c:valAx>
      <c:catAx>
        <c:axId val="1319397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193817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28575" cap="flat" cmpd="sng" algn="ctr">
      <a:solidFill>
        <a:schemeClr val="tx1">
          <a:lumMod val="95000"/>
          <a:lumOff val="5000"/>
        </a:schemeClr>
      </a:solidFill>
      <a:prstDash val="dash"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No of Bids</a:t>
            </a:r>
            <a:r>
              <a:rPr lang="en-GB" sz="1400" b="1" i="0" u="none" strike="noStrike" baseline="0" dirty="0">
                <a:solidFill>
                  <a:schemeClr val="tx2">
                    <a:lumMod val="50000"/>
                  </a:schemeClr>
                </a:solidFill>
                <a:effectLst/>
              </a:rPr>
              <a:t>(Domestic)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133661417322833"/>
          <c:y val="0.14366287547389908"/>
          <c:w val="0.45010454943132111"/>
          <c:h val="0.75017424905220187"/>
        </c:manualLayout>
      </c:layout>
      <c:doughnutChart>
        <c:varyColors val="1"/>
        <c:ser>
          <c:idx val="0"/>
          <c:order val="0"/>
          <c:tx>
            <c:strRef>
              <c:f>Sheet1!$J$1</c:f>
              <c:strCache>
                <c:ptCount val="1"/>
                <c:pt idx="0">
                  <c:v>No of Bids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981-40AD-807B-6A39EDD19CB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981-40AD-807B-6A39EDD19CB2}"/>
              </c:ext>
            </c:extLst>
          </c:dPt>
          <c:dPt>
            <c:idx val="2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981-40AD-807B-6A39EDD19CB2}"/>
              </c:ext>
            </c:extLst>
          </c:dPt>
          <c:dLbls>
            <c:dLbl>
              <c:idx val="0"/>
              <c:layout>
                <c:manualLayout>
                  <c:x val="-1.3888888888888888E-2"/>
                  <c:y val="4.6296296296295869E-3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981-40AD-807B-6A39EDD19CB2}"/>
                </c:ext>
              </c:extLst>
            </c:dLbl>
            <c:dLbl>
              <c:idx val="2"/>
              <c:layout>
                <c:manualLayout>
                  <c:x val="5.5555555555555098E-3"/>
                  <c:y val="1.8226888301384685E-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1"/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4227777777777778"/>
                      <c:h val="0.3385185185185184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981-40AD-807B-6A39EDD19C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Sheet1!$I$2:$I$4</c:f>
              <c:strCache>
                <c:ptCount val="3"/>
                <c:pt idx="0">
                  <c:v>Software </c:v>
                </c:pt>
                <c:pt idx="1">
                  <c:v>Hardware</c:v>
                </c:pt>
                <c:pt idx="2">
                  <c:v>Software and Hardware </c:v>
                </c:pt>
              </c:strCache>
            </c:strRef>
          </c:cat>
          <c:val>
            <c:numRef>
              <c:f>Sheet1!$J$2:$J$4</c:f>
              <c:numCache>
                <c:formatCode>General</c:formatCode>
                <c:ptCount val="3"/>
                <c:pt idx="0">
                  <c:v>18</c:v>
                </c:pt>
                <c:pt idx="1">
                  <c:v>8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81-40AD-807B-6A39EDD19C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Value in Rs Crores</a:t>
            </a:r>
            <a:r>
              <a:rPr lang="en-GB" sz="1400" b="1" i="0" u="none" strike="noStrike" baseline="0" dirty="0">
                <a:solidFill>
                  <a:schemeClr val="tx2">
                    <a:lumMod val="50000"/>
                  </a:schemeClr>
                </a:solidFill>
                <a:effectLst/>
              </a:rPr>
              <a:t>(Domestic)</a:t>
            </a:r>
            <a:endParaRPr lang="en-IN" b="1" dirty="0">
              <a:solidFill>
                <a:schemeClr val="tx2">
                  <a:lumMod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133661417322833"/>
          <c:y val="0.14366287547389908"/>
          <c:w val="0.45010454943132111"/>
          <c:h val="0.75017424905220187"/>
        </c:manualLayout>
      </c:layout>
      <c:doughnutChart>
        <c:varyColors val="1"/>
        <c:ser>
          <c:idx val="0"/>
          <c:order val="0"/>
          <c:tx>
            <c:strRef>
              <c:f>Sheet1!$K$1</c:f>
              <c:strCache>
                <c:ptCount val="1"/>
                <c:pt idx="0">
                  <c:v>Value in Rs Crores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0CB-492A-B972-85C12C4A5393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0CB-492A-B972-85C12C4A5393}"/>
              </c:ext>
            </c:extLst>
          </c:dPt>
          <c:dPt>
            <c:idx val="2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0CB-492A-B972-85C12C4A5393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1"/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4708333333333334"/>
                      <c:h val="0.317037037037037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0CB-492A-B972-85C12C4A539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Sheet1!$I$2:$I$4</c:f>
              <c:strCache>
                <c:ptCount val="3"/>
                <c:pt idx="0">
                  <c:v>Software </c:v>
                </c:pt>
                <c:pt idx="1">
                  <c:v>Hardware</c:v>
                </c:pt>
                <c:pt idx="2">
                  <c:v>Software and Hardware </c:v>
                </c:pt>
              </c:strCache>
            </c:strRef>
          </c:cat>
          <c:val>
            <c:numRef>
              <c:f>Sheet1!$K$2:$K$4</c:f>
              <c:numCache>
                <c:formatCode>General</c:formatCode>
                <c:ptCount val="3"/>
                <c:pt idx="0" formatCode="#,##0">
                  <c:v>1228</c:v>
                </c:pt>
                <c:pt idx="1">
                  <c:v>756</c:v>
                </c:pt>
                <c:pt idx="2" formatCode="#,##0">
                  <c:v>2294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0CB-492A-B972-85C12C4A53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 dirty="0">
                <a:solidFill>
                  <a:schemeClr val="tx2">
                    <a:lumMod val="50000"/>
                  </a:schemeClr>
                </a:solidFill>
                <a:effectLst/>
              </a:rPr>
              <a:t>No of Bids</a:t>
            </a:r>
            <a:r>
              <a:rPr lang="en-GB" sz="1400" b="1" i="0" baseline="0" dirty="0">
                <a:solidFill>
                  <a:schemeClr val="tx2">
                    <a:lumMod val="50000"/>
                  </a:schemeClr>
                </a:solidFill>
                <a:effectLst/>
              </a:rPr>
              <a:t>(Export)</a:t>
            </a:r>
            <a:endParaRPr lang="en-IN" sz="1400" dirty="0">
              <a:solidFill>
                <a:schemeClr val="tx2">
                  <a:lumMod val="50000"/>
                </a:schemeClr>
              </a:solidFill>
              <a:effectLst/>
            </a:endParaRPr>
          </a:p>
        </c:rich>
      </c:tx>
      <c:layout>
        <c:manualLayout>
          <c:xMode val="edge"/>
          <c:yMode val="edge"/>
          <c:x val="0.29772222222222222"/>
          <c:y val="5.55555555555555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2359361329833774"/>
          <c:y val="0.19603565179352581"/>
          <c:w val="0.4611461067366579"/>
          <c:h val="0.76857684456109654"/>
        </c:manualLayout>
      </c:layout>
      <c:doughnutChart>
        <c:varyColors val="1"/>
        <c:ser>
          <c:idx val="0"/>
          <c:order val="0"/>
          <c:tx>
            <c:strRef>
              <c:f>Sheet1!$J$12</c:f>
              <c:strCache>
                <c:ptCount val="1"/>
                <c:pt idx="0">
                  <c:v>No of Bids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D4-42C1-B682-D6F2048E5CB8}"/>
              </c:ext>
            </c:extLst>
          </c:dPt>
          <c:dPt>
            <c:idx val="1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D4-42C1-B682-D6F2048E5CB8}"/>
              </c:ext>
            </c:extLst>
          </c:dPt>
          <c:dPt>
            <c:idx val="2"/>
            <c:bubble3D val="0"/>
            <c:spPr>
              <a:solidFill>
                <a:schemeClr val="tx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D4-42C1-B682-D6F2048E5CB8}"/>
              </c:ext>
            </c:extLst>
          </c:dPt>
          <c:dLbls>
            <c:dLbl>
              <c:idx val="2"/>
              <c:layout>
                <c:manualLayout>
                  <c:x val="1.1111220472440946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3116666666666665"/>
                      <c:h val="0.3153703703703703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BD4-42C1-B682-D6F2048E5C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Sheet1!$I$13:$I$15</c:f>
              <c:strCache>
                <c:ptCount val="3"/>
                <c:pt idx="0">
                  <c:v>Software </c:v>
                </c:pt>
                <c:pt idx="1">
                  <c:v>Hardware</c:v>
                </c:pt>
                <c:pt idx="2">
                  <c:v>Software and Hardware </c:v>
                </c:pt>
              </c:strCache>
            </c:strRef>
          </c:cat>
          <c:val>
            <c:numRef>
              <c:f>Sheet1!$J$13:$J$15</c:f>
              <c:numCache>
                <c:formatCode>General</c:formatCode>
                <c:ptCount val="3"/>
                <c:pt idx="0">
                  <c:v>85</c:v>
                </c:pt>
                <c:pt idx="1">
                  <c:v>28</c:v>
                </c:pt>
                <c:pt idx="2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BD4-42C1-B682-D6F2048E5C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baseline="0" dirty="0">
                <a:solidFill>
                  <a:schemeClr val="tx2">
                    <a:lumMod val="50000"/>
                  </a:schemeClr>
                </a:solidFill>
                <a:effectLst/>
              </a:rPr>
              <a:t>Value in Rs Crores</a:t>
            </a:r>
            <a:r>
              <a:rPr lang="en-GB" sz="1400" b="1" i="0" baseline="0" dirty="0">
                <a:solidFill>
                  <a:schemeClr val="tx2">
                    <a:lumMod val="50000"/>
                  </a:schemeClr>
                </a:solidFill>
                <a:effectLst/>
              </a:rPr>
              <a:t>(</a:t>
            </a:r>
            <a:r>
              <a:rPr lang="en-GB" sz="1400" b="1" i="0" u="none" strike="noStrike" baseline="0" dirty="0">
                <a:solidFill>
                  <a:schemeClr val="tx2">
                    <a:lumMod val="50000"/>
                  </a:schemeClr>
                </a:solidFill>
                <a:effectLst/>
              </a:rPr>
              <a:t>Export</a:t>
            </a:r>
            <a:r>
              <a:rPr lang="en-GB" sz="1400" b="1" i="0" baseline="0" dirty="0">
                <a:solidFill>
                  <a:schemeClr val="tx2">
                    <a:lumMod val="50000"/>
                  </a:schemeClr>
                </a:solidFill>
                <a:effectLst/>
              </a:rPr>
              <a:t>)</a:t>
            </a:r>
            <a:endParaRPr lang="en-IN" sz="1400" dirty="0">
              <a:solidFill>
                <a:schemeClr val="tx2">
                  <a:lumMod val="50000"/>
                </a:schemeClr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689216972878393"/>
          <c:y val="0.14366287547389908"/>
          <c:w val="0.47232677165354331"/>
          <c:h val="0.78721128608923885"/>
        </c:manualLayout>
      </c:layout>
      <c:doughnutChart>
        <c:varyColors val="1"/>
        <c:ser>
          <c:idx val="0"/>
          <c:order val="0"/>
          <c:tx>
            <c:strRef>
              <c:f>Sheet1!$K$12</c:f>
              <c:strCache>
                <c:ptCount val="1"/>
                <c:pt idx="0">
                  <c:v>Value in  Rs Crores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DA-49D5-8FC9-6C7AD66E65DB}"/>
              </c:ext>
            </c:extLst>
          </c:dPt>
          <c:dPt>
            <c:idx val="1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DA-49D5-8FC9-6C7AD66E65DB}"/>
              </c:ext>
            </c:extLst>
          </c:dPt>
          <c:dPt>
            <c:idx val="2"/>
            <c:bubble3D val="0"/>
            <c:spPr>
              <a:solidFill>
                <a:schemeClr val="tx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2DA-49D5-8FC9-6C7AD66E65DB}"/>
              </c:ext>
            </c:extLst>
          </c:dPt>
          <c:dLbls>
            <c:dLbl>
              <c:idx val="2"/>
              <c:layout>
                <c:manualLayout>
                  <c:x val="2.7777777777777779E-3"/>
                  <c:y val="2.777796004666083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4227777777777778"/>
                      <c:h val="0.2968518518518518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2DA-49D5-8FC9-6C7AD66E65D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Sheet1!$I$13:$I$15</c:f>
              <c:strCache>
                <c:ptCount val="3"/>
                <c:pt idx="0">
                  <c:v>Software </c:v>
                </c:pt>
                <c:pt idx="1">
                  <c:v>Hardware</c:v>
                </c:pt>
                <c:pt idx="2">
                  <c:v>Software and Hardware </c:v>
                </c:pt>
              </c:strCache>
            </c:strRef>
          </c:cat>
          <c:val>
            <c:numRef>
              <c:f>Sheet1!$K$13:$K$15</c:f>
              <c:numCache>
                <c:formatCode>#,##0</c:formatCode>
                <c:ptCount val="3"/>
                <c:pt idx="0">
                  <c:v>4803</c:v>
                </c:pt>
                <c:pt idx="1">
                  <c:v>3090</c:v>
                </c:pt>
                <c:pt idx="2">
                  <c:v>4593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2DA-49D5-8FC9-6C7AD66E65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cap="all" baseline="0">
                <a:solidFill>
                  <a:schemeClr val="tx2">
                    <a:lumMod val="50000"/>
                  </a:schemeClr>
                </a:solidFill>
                <a:effectLst/>
              </a:rPr>
              <a:t>Domain Wise Breakup</a:t>
            </a:r>
            <a:r>
              <a:rPr lang="en-IN" sz="1400" b="1" i="0" u="none" strike="noStrike" cap="all" baseline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IN" sz="1400">
              <a:solidFill>
                <a:schemeClr val="tx2">
                  <a:lumMod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1993374119081768"/>
          <c:y val="0.2100352084804685"/>
          <c:w val="0.85384920210713089"/>
          <c:h val="0.4372531289141700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'live tenders'!$C$27</c:f>
              <c:strCache>
                <c:ptCount val="1"/>
                <c:pt idx="0">
                  <c:v>No of Bids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'live tenders'!$B$28:$B$35</c:f>
              <c:strCache>
                <c:ptCount val="8"/>
                <c:pt idx="0">
                  <c:v>AI/ML</c:v>
                </c:pt>
                <c:pt idx="1">
                  <c:v>App Development</c:v>
                </c:pt>
                <c:pt idx="2">
                  <c:v>BFSI</c:v>
                </c:pt>
                <c:pt idx="3">
                  <c:v>Cyber Security</c:v>
                </c:pt>
                <c:pt idx="4">
                  <c:v>ERP</c:v>
                </c:pt>
                <c:pt idx="5">
                  <c:v>Health</c:v>
                </c:pt>
                <c:pt idx="6">
                  <c:v>O&amp;M (COTS)</c:v>
                </c:pt>
                <c:pt idx="7">
                  <c:v>Power</c:v>
                </c:pt>
              </c:strCache>
            </c:strRef>
          </c:cat>
          <c:val>
            <c:numRef>
              <c:f>'live tenders'!$C$28:$C$35</c:f>
              <c:numCache>
                <c:formatCode>General</c:formatCode>
                <c:ptCount val="8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  <c:pt idx="4">
                  <c:v>6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CF-46BC-BE52-15DDE4EEEE99}"/>
            </c:ext>
          </c:extLst>
        </c:ser>
        <c:ser>
          <c:idx val="1"/>
          <c:order val="1"/>
          <c:tx>
            <c:strRef>
              <c:f>'live tenders'!$D$27</c:f>
              <c:strCache>
                <c:ptCount val="1"/>
                <c:pt idx="0">
                  <c:v>Value in Rs Crores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1"/>
              <c:layout>
                <c:manualLayout>
                  <c:x val="2.0508063867601231E-3"/>
                  <c:y val="3.000789892961588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8D7-4677-9563-4E43AA469E6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6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'live tenders'!$B$28:$B$35</c:f>
              <c:strCache>
                <c:ptCount val="8"/>
                <c:pt idx="0">
                  <c:v>AI/ML</c:v>
                </c:pt>
                <c:pt idx="1">
                  <c:v>App Development</c:v>
                </c:pt>
                <c:pt idx="2">
                  <c:v>BFSI</c:v>
                </c:pt>
                <c:pt idx="3">
                  <c:v>Cyber Security</c:v>
                </c:pt>
                <c:pt idx="4">
                  <c:v>ERP</c:v>
                </c:pt>
                <c:pt idx="5">
                  <c:v>Health</c:v>
                </c:pt>
                <c:pt idx="6">
                  <c:v>O&amp;M (COTS)</c:v>
                </c:pt>
                <c:pt idx="7">
                  <c:v>Power</c:v>
                </c:pt>
              </c:strCache>
            </c:strRef>
          </c:cat>
          <c:val>
            <c:numRef>
              <c:f>'live tenders'!$D$28:$D$35</c:f>
              <c:numCache>
                <c:formatCode>General</c:formatCode>
                <c:ptCount val="8"/>
                <c:pt idx="0">
                  <c:v>112</c:v>
                </c:pt>
                <c:pt idx="1">
                  <c:v>89</c:v>
                </c:pt>
                <c:pt idx="2">
                  <c:v>50</c:v>
                </c:pt>
                <c:pt idx="3">
                  <c:v>426</c:v>
                </c:pt>
                <c:pt idx="4">
                  <c:v>404</c:v>
                </c:pt>
                <c:pt idx="5">
                  <c:v>35</c:v>
                </c:pt>
                <c:pt idx="6">
                  <c:v>92</c:v>
                </c:pt>
                <c:pt idx="7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CF-46BC-BE52-15DDE4EEEE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gapDepth val="10"/>
        <c:shape val="box"/>
        <c:axId val="132335488"/>
        <c:axId val="132354048"/>
        <c:axId val="0"/>
      </c:bar3DChart>
      <c:catAx>
        <c:axId val="1323354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800" b="1" dirty="0">
                    <a:solidFill>
                      <a:schemeClr val="tx2">
                        <a:lumMod val="50000"/>
                      </a:schemeClr>
                    </a:solidFill>
                  </a:rPr>
                  <a:t>SW</a:t>
                </a:r>
                <a:r>
                  <a:rPr lang="en-IN" sz="800" b="1" baseline="0" dirty="0">
                    <a:solidFill>
                      <a:schemeClr val="tx2">
                        <a:lumMod val="50000"/>
                      </a:schemeClr>
                    </a:solidFill>
                  </a:rPr>
                  <a:t> domain</a:t>
                </a:r>
                <a:endParaRPr lang="en-IN" sz="800" b="1" dirty="0">
                  <a:solidFill>
                    <a:schemeClr val="tx2">
                      <a:lumMod val="50000"/>
                    </a:schemeClr>
                  </a:solidFill>
                </a:endParaRPr>
              </a:p>
            </c:rich>
          </c:tx>
          <c:layout>
            <c:manualLayout>
              <c:xMode val="edge"/>
              <c:yMode val="edge"/>
              <c:x val="0.46813145608981582"/>
              <c:y val="0.9171226862781655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354048"/>
        <c:crosses val="autoZero"/>
        <c:auto val="1"/>
        <c:lblAlgn val="ctr"/>
        <c:lblOffset val="100"/>
        <c:noMultiLvlLbl val="0"/>
      </c:catAx>
      <c:valAx>
        <c:axId val="132354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2">
                        <a:lumMod val="50000"/>
                      </a:schemeClr>
                    </a:solidFill>
                  </a:rPr>
                  <a:t>value</a:t>
                </a:r>
                <a:r>
                  <a:rPr lang="en-IN" b="1" baseline="0">
                    <a:solidFill>
                      <a:schemeClr val="tx2">
                        <a:lumMod val="50000"/>
                      </a:schemeClr>
                    </a:solidFill>
                  </a:rPr>
                  <a:t> in crores</a:t>
                </a:r>
                <a:endParaRPr lang="en-IN" b="1">
                  <a:solidFill>
                    <a:schemeClr val="tx2">
                      <a:lumMod val="50000"/>
                    </a:schemeClr>
                  </a:solidFill>
                </a:endParaRPr>
              </a:p>
            </c:rich>
          </c:tx>
          <c:layout>
            <c:manualLayout>
              <c:xMode val="edge"/>
              <c:yMode val="edge"/>
              <c:x val="5.3849815734238748E-2"/>
              <c:y val="0.3117600955905164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lnSpc>
                <a:spcPct val="150000"/>
              </a:lnSpc>
              <a:defRPr sz="9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335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28575" cap="flat" cmpd="sng" algn="ctr">
      <a:solidFill>
        <a:schemeClr val="tx1">
          <a:lumMod val="85000"/>
          <a:lumOff val="15000"/>
        </a:schemeClr>
      </a:solidFill>
      <a:prstDash val="dash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5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baseline="0">
                <a:solidFill>
                  <a:schemeClr val="tx2">
                    <a:lumMod val="50000"/>
                  </a:schemeClr>
                </a:solidFill>
                <a:effectLst/>
              </a:rPr>
              <a:t>Domain Wise Breakup</a:t>
            </a:r>
            <a:r>
              <a:rPr lang="en-IN" sz="1400" b="0" i="0" baseline="0">
                <a:solidFill>
                  <a:schemeClr val="tx2">
                    <a:lumMod val="50000"/>
                  </a:schemeClr>
                </a:solidFill>
                <a:effectLst/>
              </a:rPr>
              <a:t> </a:t>
            </a:r>
            <a:endParaRPr lang="en-IN" sz="1400">
              <a:solidFill>
                <a:schemeClr val="tx2">
                  <a:lumMod val="50000"/>
                </a:schemeClr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50" baseline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solidFill>
          <a:schemeClr val="lt1">
            <a:alpha val="27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 Export '!$C$24</c:f>
              <c:strCache>
                <c:ptCount val="1"/>
                <c:pt idx="0">
                  <c:v>No of Bids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translucentPowder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dLbl>
              <c:idx val="1"/>
              <c:layout>
                <c:manualLayout>
                  <c:x val="0"/>
                  <c:y val="-9.957465158672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950-406A-8425-051600080D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 Export '!$B$25:$B$34</c:f>
              <c:strCache>
                <c:ptCount val="10"/>
                <c:pt idx="0">
                  <c:v>AI/ML</c:v>
                </c:pt>
                <c:pt idx="1">
                  <c:v>App Development</c:v>
                </c:pt>
                <c:pt idx="2">
                  <c:v>BFSI</c:v>
                </c:pt>
                <c:pt idx="3">
                  <c:v>Cloud</c:v>
                </c:pt>
                <c:pt idx="4">
                  <c:v>Cyber Security</c:v>
                </c:pt>
                <c:pt idx="5">
                  <c:v>ERP</c:v>
                </c:pt>
                <c:pt idx="6">
                  <c:v>GIS</c:v>
                </c:pt>
                <c:pt idx="7">
                  <c:v>O&amp;M (App)</c:v>
                </c:pt>
                <c:pt idx="8">
                  <c:v>Procurement</c:v>
                </c:pt>
                <c:pt idx="9">
                  <c:v>Video Analytics</c:v>
                </c:pt>
              </c:strCache>
            </c:strRef>
          </c:cat>
          <c:val>
            <c:numRef>
              <c:f>' Export '!$C$25:$C$34</c:f>
              <c:numCache>
                <c:formatCode>General</c:formatCode>
                <c:ptCount val="10"/>
                <c:pt idx="0">
                  <c:v>4</c:v>
                </c:pt>
                <c:pt idx="1">
                  <c:v>35</c:v>
                </c:pt>
                <c:pt idx="2">
                  <c:v>7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4</c:v>
                </c:pt>
                <c:pt idx="7">
                  <c:v>6</c:v>
                </c:pt>
                <c:pt idx="8">
                  <c:v>16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50-406A-8425-051600080DCA}"/>
            </c:ext>
          </c:extLst>
        </c:ser>
        <c:ser>
          <c:idx val="1"/>
          <c:order val="1"/>
          <c:tx>
            <c:strRef>
              <c:f>' Export '!$D$24</c:f>
              <c:strCache>
                <c:ptCount val="1"/>
                <c:pt idx="0">
                  <c:v>Value in Rs Crores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translucentPowder">
              <a:contourClr>
                <a:schemeClr val="accent2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 Export '!$B$25:$B$34</c:f>
              <c:strCache>
                <c:ptCount val="10"/>
                <c:pt idx="0">
                  <c:v>AI/ML</c:v>
                </c:pt>
                <c:pt idx="1">
                  <c:v>App Development</c:v>
                </c:pt>
                <c:pt idx="2">
                  <c:v>BFSI</c:v>
                </c:pt>
                <c:pt idx="3">
                  <c:v>Cloud</c:v>
                </c:pt>
                <c:pt idx="4">
                  <c:v>Cyber Security</c:v>
                </c:pt>
                <c:pt idx="5">
                  <c:v>ERP</c:v>
                </c:pt>
                <c:pt idx="6">
                  <c:v>GIS</c:v>
                </c:pt>
                <c:pt idx="7">
                  <c:v>O&amp;M (App)</c:v>
                </c:pt>
                <c:pt idx="8">
                  <c:v>Procurement</c:v>
                </c:pt>
                <c:pt idx="9">
                  <c:v>Video Analytics</c:v>
                </c:pt>
              </c:strCache>
            </c:strRef>
          </c:cat>
          <c:val>
            <c:numRef>
              <c:f>' Export '!$D$25:$D$34</c:f>
              <c:numCache>
                <c:formatCode>#,##0</c:formatCode>
                <c:ptCount val="10"/>
                <c:pt idx="0" formatCode="General">
                  <c:v>227</c:v>
                </c:pt>
                <c:pt idx="1">
                  <c:v>1425</c:v>
                </c:pt>
                <c:pt idx="2" formatCode="General">
                  <c:v>448</c:v>
                </c:pt>
                <c:pt idx="3" formatCode="General">
                  <c:v>439</c:v>
                </c:pt>
                <c:pt idx="4" formatCode="General">
                  <c:v>430</c:v>
                </c:pt>
                <c:pt idx="5" formatCode="General">
                  <c:v>490</c:v>
                </c:pt>
                <c:pt idx="6" formatCode="General">
                  <c:v>597</c:v>
                </c:pt>
                <c:pt idx="7" formatCode="General">
                  <c:v>202</c:v>
                </c:pt>
                <c:pt idx="8" formatCode="General">
                  <c:v>388</c:v>
                </c:pt>
                <c:pt idx="9" formatCode="General">
                  <c:v>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50-406A-8425-051600080D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32574592"/>
        <c:axId val="132847104"/>
        <c:axId val="0"/>
      </c:bar3DChart>
      <c:catAx>
        <c:axId val="1325745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>
                    <a:solidFill>
                      <a:schemeClr val="tx2">
                        <a:lumMod val="50000"/>
                      </a:schemeClr>
                    </a:solidFill>
                  </a:rPr>
                  <a:t>SW</a:t>
                </a:r>
                <a:r>
                  <a:rPr lang="en-IN" baseline="0">
                    <a:solidFill>
                      <a:schemeClr val="tx2">
                        <a:lumMod val="50000"/>
                      </a:schemeClr>
                    </a:solidFill>
                  </a:rPr>
                  <a:t> domain</a:t>
                </a:r>
                <a:endParaRPr lang="en-IN">
                  <a:solidFill>
                    <a:schemeClr val="tx2">
                      <a:lumMod val="50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847104"/>
        <c:crosses val="autoZero"/>
        <c:auto val="1"/>
        <c:lblAlgn val="ctr"/>
        <c:lblOffset val="100"/>
        <c:noMultiLvlLbl val="0"/>
      </c:catAx>
      <c:valAx>
        <c:axId val="132847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>
                    <a:solidFill>
                      <a:schemeClr val="tx2">
                        <a:lumMod val="50000"/>
                      </a:schemeClr>
                    </a:solidFill>
                  </a:rPr>
                  <a:t>value</a:t>
                </a:r>
                <a:r>
                  <a:rPr lang="en-IN" baseline="0">
                    <a:solidFill>
                      <a:schemeClr val="tx2">
                        <a:lumMod val="50000"/>
                      </a:schemeClr>
                    </a:solidFill>
                  </a:rPr>
                  <a:t> in crores</a:t>
                </a:r>
                <a:endParaRPr lang="en-IN">
                  <a:solidFill>
                    <a:schemeClr val="tx2">
                      <a:lumMod val="50000"/>
                    </a:schemeClr>
                  </a:solidFill>
                </a:endParaRPr>
              </a:p>
            </c:rich>
          </c:tx>
          <c:layout>
            <c:manualLayout>
              <c:xMode val="edge"/>
              <c:yMode val="edge"/>
              <c:x val="5.8413902520316183E-2"/>
              <c:y val="0.300608424642766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574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28575" cap="flat" cmpd="sng" algn="ctr">
      <a:solidFill>
        <a:schemeClr val="tx1"/>
      </a:solidFill>
      <a:prstDash val="dash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862103737745783"/>
          <c:y val="4.0482706996961874E-2"/>
          <c:w val="0.4392090130359364"/>
          <c:h val="0.94455322618398241"/>
        </c:manualLayout>
      </c:layout>
      <c:pieChart>
        <c:varyColors val="1"/>
        <c:ser>
          <c:idx val="0"/>
          <c:order val="0"/>
          <c:tx>
            <c:strRef>
              <c:f>' Export '!$C$24</c:f>
              <c:strCache>
                <c:ptCount val="1"/>
                <c:pt idx="0">
                  <c:v>No of Bids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958-453D-BD3E-518BE2D9F4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958-453D-BD3E-518BE2D9F4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958-453D-BD3E-518BE2D9F41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958-453D-BD3E-518BE2D9F41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1958-453D-BD3E-518BE2D9F41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1958-453D-BD3E-518BE2D9F41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1958-453D-BD3E-518BE2D9F413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1958-453D-BD3E-518BE2D9F413}"/>
              </c:ext>
            </c:extLst>
          </c:dPt>
          <c:dPt>
            <c:idx val="8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1958-453D-BD3E-518BE2D9F413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1958-453D-BD3E-518BE2D9F413}"/>
              </c:ext>
            </c:extLst>
          </c:dPt>
          <c:dLbls>
            <c:dLbl>
              <c:idx val="0"/>
              <c:layout>
                <c:manualLayout>
                  <c:x val="-2.2425492469676473E-2"/>
                  <c:y val="0.1096291657566819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5400000" spcFirstLastPara="1" vertOverflow="ellipsis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58-453D-BD3E-518BE2D9F413}"/>
                </c:ext>
              </c:extLst>
            </c:dLbl>
            <c:dLbl>
              <c:idx val="4"/>
              <c:layout>
                <c:manualLayout>
                  <c:x val="0.10015172655696368"/>
                  <c:y val="-0.101398929006201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5621951348959511E-2"/>
                      <c:h val="0.2366458821048227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1958-453D-BD3E-518BE2D9F413}"/>
                </c:ext>
              </c:extLst>
            </c:dLbl>
            <c:dLbl>
              <c:idx val="8"/>
              <c:layout>
                <c:manualLayout>
                  <c:x val="0.12609051977554545"/>
                  <c:y val="0.23490961424257528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958-453D-BD3E-518BE2D9F413}"/>
                </c:ext>
              </c:extLst>
            </c:dLbl>
            <c:dLbl>
              <c:idx val="9"/>
              <c:layout>
                <c:manualLayout>
                  <c:x val="-4.1999279786020718E-3"/>
                  <c:y val="4.600871336623020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5400000" spcFirstLastPara="1" vertOverflow="ellipsis" wrap="square" lIns="38100" tIns="19050" rIns="38100" bIns="19050" anchor="ctr" anchorCtr="1">
                  <a:spAutoFit/>
                </a:bodyPr>
                <a:lstStyle/>
                <a:p>
                  <a:pPr>
                    <a:defRPr sz="6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958-453D-BD3E-518BE2D9F4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 Export '!$B$25:$B$34</c:f>
              <c:strCache>
                <c:ptCount val="10"/>
                <c:pt idx="0">
                  <c:v>AI/ML</c:v>
                </c:pt>
                <c:pt idx="1">
                  <c:v>App Development</c:v>
                </c:pt>
                <c:pt idx="2">
                  <c:v>BFSI</c:v>
                </c:pt>
                <c:pt idx="3">
                  <c:v>Cloud</c:v>
                </c:pt>
                <c:pt idx="4">
                  <c:v>Cyber Security</c:v>
                </c:pt>
                <c:pt idx="5">
                  <c:v>ERP</c:v>
                </c:pt>
                <c:pt idx="6">
                  <c:v>GIS</c:v>
                </c:pt>
                <c:pt idx="7">
                  <c:v>O&amp;M (App)</c:v>
                </c:pt>
                <c:pt idx="8">
                  <c:v>Procurement</c:v>
                </c:pt>
                <c:pt idx="9">
                  <c:v>Video Analytics</c:v>
                </c:pt>
              </c:strCache>
            </c:strRef>
          </c:cat>
          <c:val>
            <c:numRef>
              <c:f>' Export '!$C$25:$C$34</c:f>
              <c:numCache>
                <c:formatCode>General</c:formatCode>
                <c:ptCount val="10"/>
                <c:pt idx="0">
                  <c:v>4</c:v>
                </c:pt>
                <c:pt idx="1">
                  <c:v>35</c:v>
                </c:pt>
                <c:pt idx="2">
                  <c:v>7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4</c:v>
                </c:pt>
                <c:pt idx="7">
                  <c:v>6</c:v>
                </c:pt>
                <c:pt idx="8">
                  <c:v>16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958-453D-BD3E-518BE2D9F413}"/>
            </c:ext>
          </c:extLst>
        </c:ser>
        <c:ser>
          <c:idx val="1"/>
          <c:order val="1"/>
          <c:tx>
            <c:strRef>
              <c:f>' Export '!$D$24</c:f>
              <c:strCache>
                <c:ptCount val="1"/>
                <c:pt idx="0">
                  <c:v>Value in Rs Crores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6-1958-453D-BD3E-518BE2D9F4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8-1958-453D-BD3E-518BE2D9F4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A-1958-453D-BD3E-518BE2D9F41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C-1958-453D-BD3E-518BE2D9F41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E-1958-453D-BD3E-518BE2D9F41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0-1958-453D-BD3E-518BE2D9F41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2-1958-453D-BD3E-518BE2D9F413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4-1958-453D-BD3E-518BE2D9F413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6-1958-453D-BD3E-518BE2D9F413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8-1958-453D-BD3E-518BE2D9F41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 Export '!$B$25:$B$34</c:f>
              <c:strCache>
                <c:ptCount val="10"/>
                <c:pt idx="0">
                  <c:v>AI/ML</c:v>
                </c:pt>
                <c:pt idx="1">
                  <c:v>App Development</c:v>
                </c:pt>
                <c:pt idx="2">
                  <c:v>BFSI</c:v>
                </c:pt>
                <c:pt idx="3">
                  <c:v>Cloud</c:v>
                </c:pt>
                <c:pt idx="4">
                  <c:v>Cyber Security</c:v>
                </c:pt>
                <c:pt idx="5">
                  <c:v>ERP</c:v>
                </c:pt>
                <c:pt idx="6">
                  <c:v>GIS</c:v>
                </c:pt>
                <c:pt idx="7">
                  <c:v>O&amp;M (App)</c:v>
                </c:pt>
                <c:pt idx="8">
                  <c:v>Procurement</c:v>
                </c:pt>
                <c:pt idx="9">
                  <c:v>Video Analytics</c:v>
                </c:pt>
              </c:strCache>
            </c:strRef>
          </c:cat>
          <c:val>
            <c:numRef>
              <c:f>' Export '!$D$25:$D$34</c:f>
              <c:numCache>
                <c:formatCode>#,##0</c:formatCode>
                <c:ptCount val="10"/>
                <c:pt idx="0" formatCode="General">
                  <c:v>227</c:v>
                </c:pt>
                <c:pt idx="1">
                  <c:v>1425</c:v>
                </c:pt>
                <c:pt idx="2" formatCode="General">
                  <c:v>448</c:v>
                </c:pt>
                <c:pt idx="3" formatCode="General">
                  <c:v>439</c:v>
                </c:pt>
                <c:pt idx="4" formatCode="General">
                  <c:v>430</c:v>
                </c:pt>
                <c:pt idx="5" formatCode="General">
                  <c:v>490</c:v>
                </c:pt>
                <c:pt idx="6" formatCode="General">
                  <c:v>597</c:v>
                </c:pt>
                <c:pt idx="7" formatCode="General">
                  <c:v>202</c:v>
                </c:pt>
                <c:pt idx="8" formatCode="General">
                  <c:v>388</c:v>
                </c:pt>
                <c:pt idx="9" formatCode="General">
                  <c:v>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1958-453D-BD3E-518BE2D9F413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62196455295816799"/>
          <c:y val="2.0133238708872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51702016769378567"/>
          <c:y val="0.16705647294193116"/>
          <c:w val="0.35812213675604671"/>
          <c:h val="0.5791479359731303"/>
        </c:manualLayout>
      </c:layout>
      <c:doughnutChart>
        <c:varyColors val="1"/>
        <c:ser>
          <c:idx val="0"/>
          <c:order val="0"/>
          <c:tx>
            <c:strRef>
              <c:f>'export(march 2024)'!$D$6</c:f>
              <c:strCache>
                <c:ptCount val="1"/>
                <c:pt idx="0">
                  <c:v>Value in Rs Crores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A6-4BE6-83E7-95C095CB512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A6-4BE6-83E7-95C095CB512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1A6-4BE6-83E7-95C095CB5126}"/>
              </c:ext>
            </c:extLst>
          </c:dPt>
          <c:dLbls>
            <c:dLbl>
              <c:idx val="0"/>
              <c:layout>
                <c:manualLayout>
                  <c:x val="2.3691397473249241E-2"/>
                  <c:y val="-0.1247924658478887"/>
                </c:manualLayout>
              </c:layout>
              <c:showLegendKey val="1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1A6-4BE6-83E7-95C095CB5126}"/>
                </c:ext>
              </c:extLst>
            </c:dLbl>
            <c:spPr>
              <a:noFill/>
              <a:ln>
                <a:solidFill>
                  <a:schemeClr val="bg2">
                    <a:lumMod val="10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1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'export(march 2024)'!$B$7:$B$9</c:f>
              <c:strCache>
                <c:ptCount val="3"/>
                <c:pt idx="0">
                  <c:v>Software </c:v>
                </c:pt>
                <c:pt idx="1">
                  <c:v>Hardware</c:v>
                </c:pt>
                <c:pt idx="2">
                  <c:v>Software and Hardware </c:v>
                </c:pt>
              </c:strCache>
            </c:strRef>
          </c:cat>
          <c:val>
            <c:numRef>
              <c:f>'export(march 2024)'!$D$7:$D$9</c:f>
              <c:numCache>
                <c:formatCode>General</c:formatCode>
                <c:ptCount val="3"/>
                <c:pt idx="0">
                  <c:v>446</c:v>
                </c:pt>
                <c:pt idx="1">
                  <c:v>0</c:v>
                </c:pt>
                <c:pt idx="2">
                  <c:v>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A6-4BE6-83E7-95C095CB51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8876861672858678E-2"/>
          <c:y val="0.92634748701775993"/>
          <c:w val="0.83444310192265669"/>
          <c:h val="5.35192742733671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96323228272977"/>
          <c:y val="0.17016937783983288"/>
          <c:w val="0.54347646875327693"/>
          <c:h val="0.6069665165183229"/>
        </c:manualLayout>
      </c:layout>
      <c:doughnutChart>
        <c:varyColors val="1"/>
        <c:ser>
          <c:idx val="0"/>
          <c:order val="0"/>
          <c:tx>
            <c:strRef>
              <c:f>'export(march 2024)'!$C$6</c:f>
              <c:strCache>
                <c:ptCount val="1"/>
                <c:pt idx="0">
                  <c:v>No of Bids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A6-4B2D-AD13-830781DCFCC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A6-4B2D-AD13-830781DCFCC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A6-4B2D-AD13-830781DCFCC0}"/>
              </c:ext>
            </c:extLst>
          </c:dPt>
          <c:dLbls>
            <c:spPr>
              <a:noFill/>
              <a:ln>
                <a:solidFill>
                  <a:schemeClr val="bg2">
                    <a:lumMod val="10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'export(march 2024)'!$B$7:$B$9</c:f>
              <c:strCache>
                <c:ptCount val="3"/>
                <c:pt idx="0">
                  <c:v>Software </c:v>
                </c:pt>
                <c:pt idx="1">
                  <c:v>Hardware</c:v>
                </c:pt>
                <c:pt idx="2">
                  <c:v>Software and Hardware </c:v>
                </c:pt>
              </c:strCache>
            </c:strRef>
          </c:cat>
          <c:val>
            <c:numRef>
              <c:f>'export(march 2024)'!$C$7:$C$9</c:f>
              <c:numCache>
                <c:formatCode>General</c:formatCode>
                <c:ptCount val="3"/>
                <c:pt idx="0">
                  <c:v>8</c:v>
                </c:pt>
                <c:pt idx="1">
                  <c:v>0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CA6-4B2D-AD13-830781DCFC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chemeClr val="tx2">
                    <a:lumMod val="50000"/>
                  </a:schemeClr>
                </a:solidFill>
                <a:effectLst/>
              </a:rPr>
              <a:t>Domain Wise Breakup</a:t>
            </a:r>
            <a:r>
              <a:rPr lang="en-IN" sz="1400" b="0" i="0" u="none" strike="noStrike" baseline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IN">
              <a:solidFill>
                <a:schemeClr val="tx2">
                  <a:lumMod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'export(march 2024)'!$C$20</c:f>
              <c:strCache>
                <c:ptCount val="1"/>
                <c:pt idx="0">
                  <c:v>No of Bids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0272332448374192E-3"/>
                  <c:y val="-2.1494649428070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665-483C-B4CC-E5F076D823CA}"/>
                </c:ext>
              </c:extLst>
            </c:dLbl>
            <c:dLbl>
              <c:idx val="1"/>
              <c:layout>
                <c:manualLayout>
                  <c:x val="-7.9812332548245159E-8"/>
                  <c:y val="-2.45651927397893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309622047103319E-2"/>
                      <c:h val="4.09781346948061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665-483C-B4CC-E5F076D823CA}"/>
                </c:ext>
              </c:extLst>
            </c:dLbl>
            <c:dLbl>
              <c:idx val="2"/>
              <c:layout>
                <c:manualLayout>
                  <c:x val="-7.4331026965672281E-17"/>
                  <c:y val="-2.1494649428070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665-483C-B4CC-E5F076D823CA}"/>
                </c:ext>
              </c:extLst>
            </c:dLbl>
            <c:dLbl>
              <c:idx val="3"/>
              <c:layout>
                <c:manualLayout>
                  <c:x val="-2.0272332448374192E-3"/>
                  <c:y val="-1.84239852240605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665-483C-B4CC-E5F076D823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'export(march 2024)'!$B$21:$B$24</c:f>
              <c:strCache>
                <c:ptCount val="4"/>
                <c:pt idx="0">
                  <c:v>AI/ML</c:v>
                </c:pt>
                <c:pt idx="1">
                  <c:v>App Development</c:v>
                </c:pt>
                <c:pt idx="2">
                  <c:v>Cyber Security</c:v>
                </c:pt>
                <c:pt idx="3">
                  <c:v>ERP</c:v>
                </c:pt>
              </c:strCache>
            </c:strRef>
          </c:cat>
          <c:val>
            <c:numRef>
              <c:f>'export(march 2024)'!$C$21:$C$24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69-4A94-A2FF-D097B29DF8AC}"/>
            </c:ext>
          </c:extLst>
        </c:ser>
        <c:ser>
          <c:idx val="1"/>
          <c:order val="1"/>
          <c:tx>
            <c:strRef>
              <c:f>'export(march 2024)'!$D$20</c:f>
              <c:strCache>
                <c:ptCount val="1"/>
                <c:pt idx="0">
                  <c:v>Value in Rs Crores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027233244837382E-3"/>
                  <c:y val="0.205734501668676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665-483C-B4CC-E5F076D823CA}"/>
                </c:ext>
              </c:extLst>
            </c:dLbl>
            <c:dLbl>
              <c:idx val="1"/>
              <c:layout>
                <c:manualLayout>
                  <c:x val="-4.0544664896748385E-3"/>
                  <c:y val="4.91306272641616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665-483C-B4CC-E5F076D823CA}"/>
                </c:ext>
              </c:extLst>
            </c:dLbl>
            <c:dLbl>
              <c:idx val="2"/>
              <c:layout>
                <c:manualLayout>
                  <c:x val="4.0544664896747639E-3"/>
                  <c:y val="9.51905903243129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665-483C-B4CC-E5F076D823CA}"/>
                </c:ext>
              </c:extLst>
            </c:dLbl>
            <c:dLbl>
              <c:idx val="3"/>
              <c:layout>
                <c:manualLayout>
                  <c:x val="8.108932979349677E-3"/>
                  <c:y val="0.1228265681604037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665-483C-B4CC-E5F076D823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'export(march 2024)'!$B$21:$B$24</c:f>
              <c:strCache>
                <c:ptCount val="4"/>
                <c:pt idx="0">
                  <c:v>AI/ML</c:v>
                </c:pt>
                <c:pt idx="1">
                  <c:v>App Development</c:v>
                </c:pt>
                <c:pt idx="2">
                  <c:v>Cyber Security</c:v>
                </c:pt>
                <c:pt idx="3">
                  <c:v>ERP</c:v>
                </c:pt>
              </c:strCache>
            </c:strRef>
          </c:cat>
          <c:val>
            <c:numRef>
              <c:f>'export(march 2024)'!$D$21:$D$24</c:f>
              <c:numCache>
                <c:formatCode>General</c:formatCode>
                <c:ptCount val="4"/>
                <c:pt idx="0">
                  <c:v>240</c:v>
                </c:pt>
                <c:pt idx="1">
                  <c:v>18</c:v>
                </c:pt>
                <c:pt idx="2">
                  <c:v>78</c:v>
                </c:pt>
                <c:pt idx="3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69-4A94-A2FF-D097B29DF8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33354624"/>
        <c:axId val="133356544"/>
        <c:axId val="0"/>
      </c:bar3DChart>
      <c:catAx>
        <c:axId val="1333546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>
                    <a:solidFill>
                      <a:schemeClr val="tx2">
                        <a:lumMod val="50000"/>
                      </a:schemeClr>
                    </a:solidFill>
                  </a:rPr>
                  <a:t>SW</a:t>
                </a:r>
                <a:r>
                  <a:rPr lang="en-IN" baseline="0">
                    <a:solidFill>
                      <a:schemeClr val="tx2">
                        <a:lumMod val="50000"/>
                      </a:schemeClr>
                    </a:solidFill>
                  </a:rPr>
                  <a:t> domain</a:t>
                </a:r>
                <a:endParaRPr lang="en-IN">
                  <a:solidFill>
                    <a:schemeClr val="tx2">
                      <a:lumMod val="50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356544"/>
        <c:crosses val="autoZero"/>
        <c:auto val="1"/>
        <c:lblAlgn val="ctr"/>
        <c:lblOffset val="100"/>
        <c:noMultiLvlLbl val="0"/>
      </c:catAx>
      <c:valAx>
        <c:axId val="133356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>
                    <a:solidFill>
                      <a:schemeClr val="tx2">
                        <a:lumMod val="50000"/>
                      </a:schemeClr>
                    </a:solidFill>
                  </a:rPr>
                  <a:t>value</a:t>
                </a:r>
                <a:r>
                  <a:rPr lang="en-IN" baseline="0">
                    <a:solidFill>
                      <a:schemeClr val="tx2">
                        <a:lumMod val="50000"/>
                      </a:schemeClr>
                    </a:solidFill>
                  </a:rPr>
                  <a:t> in croes</a:t>
                </a:r>
                <a:endParaRPr lang="en-IN">
                  <a:solidFill>
                    <a:schemeClr val="tx2">
                      <a:lumMod val="50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354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38100" cap="flat" cmpd="sng" algn="ctr">
      <a:solidFill>
        <a:schemeClr val="tx2">
          <a:lumMod val="50000"/>
        </a:schemeClr>
      </a:solidFill>
      <a:prstDash val="lgDash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'export(march 2024)'!$C$20</c:f>
              <c:strCache>
                <c:ptCount val="1"/>
                <c:pt idx="0">
                  <c:v>No of Bids</c:v>
                </c:pt>
              </c:strCache>
            </c:strRef>
          </c:tx>
          <c:dPt>
            <c:idx val="0"/>
            <c:bubble3D val="0"/>
            <c:spPr>
              <a:solidFill>
                <a:srgbClr val="0070C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C35C-4BF5-8385-D7032BFCB44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C35C-4BF5-8385-D7032BFCB445}"/>
              </c:ext>
            </c:extLst>
          </c:dPt>
          <c:dPt>
            <c:idx val="2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C35C-4BF5-8385-D7032BFCB445}"/>
              </c:ext>
            </c:extLst>
          </c:dPt>
          <c:dPt>
            <c:idx val="3"/>
            <c:bubble3D val="0"/>
            <c:spPr>
              <a:solidFill>
                <a:srgbClr val="7030A0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C35C-4BF5-8385-D7032BFCB445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35C-4BF5-8385-D7032BFCB445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C35C-4BF5-8385-D7032BFCB445}"/>
                </c:ext>
              </c:extLst>
            </c:dLbl>
            <c:dLbl>
              <c:idx val="2"/>
              <c:layout>
                <c:manualLayout>
                  <c:x val="2.5230516528272516E-3"/>
                  <c:y val="0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6BF91A1-8391-484E-A053-AFB59BBB0BFA}" type="CATEGORYNAME">
                      <a:rPr lang="en-US" dirty="0">
                        <a:solidFill>
                          <a:schemeClr val="accent2">
                            <a:lumMod val="75000"/>
                          </a:schemeClr>
                        </a:solidFill>
                      </a:rPr>
                      <a:pPr>
                        <a:defRPr sz="1100" b="1" i="0" u="none" strike="noStrike" kern="1200" spc="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[CATEGORY NAME]</a:t>
                    </a:fld>
                    <a:r>
                      <a:rPr lang="en-US" baseline="0" dirty="0">
                        <a:solidFill>
                          <a:schemeClr val="accent2">
                            <a:lumMod val="75000"/>
                          </a:schemeClr>
                        </a:solidFill>
                      </a:rPr>
                      <a:t>
</a:t>
                    </a:r>
                    <a:fld id="{D0AD704C-2708-4950-87A9-7022978EA5A3}" type="PERCENTAGE">
                      <a:rPr lang="en-US" baseline="0" dirty="0">
                        <a:solidFill>
                          <a:schemeClr val="accent2">
                            <a:lumMod val="75000"/>
                          </a:schemeClr>
                        </a:solidFill>
                      </a:rPr>
                      <a:pPr>
                        <a:defRPr sz="1100" b="1" i="0" u="none" strike="noStrike" kern="1200" spc="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[PERCENTAGE]</a:t>
                    </a:fld>
                    <a:endParaRPr lang="en-US" baseline="0" dirty="0">
                      <a:solidFill>
                        <a:schemeClr val="accent2">
                          <a:lumMod val="75000"/>
                        </a:schemeClr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83982356915655"/>
                      <c:h val="0.2156847050548517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35C-4BF5-8385-D7032BFCB445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C35C-4BF5-8385-D7032BFCB4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'export(march 2024)'!$B$21:$B$24</c:f>
              <c:strCache>
                <c:ptCount val="4"/>
                <c:pt idx="0">
                  <c:v>AI/ML</c:v>
                </c:pt>
                <c:pt idx="1">
                  <c:v>App Development</c:v>
                </c:pt>
                <c:pt idx="2">
                  <c:v>Cyber Security</c:v>
                </c:pt>
                <c:pt idx="3">
                  <c:v>ERP</c:v>
                </c:pt>
              </c:strCache>
            </c:strRef>
          </c:cat>
          <c:val>
            <c:numRef>
              <c:f>'export(march 2024)'!$C$21:$C$24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35C-4BF5-8385-D7032BFCB445}"/>
            </c:ext>
          </c:extLst>
        </c:ser>
        <c:ser>
          <c:idx val="1"/>
          <c:order val="1"/>
          <c:tx>
            <c:strRef>
              <c:f>'export(march 2024)'!$D$20</c:f>
              <c:strCache>
                <c:ptCount val="1"/>
                <c:pt idx="0">
                  <c:v>Value in Rs Crores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A-C35C-4BF5-8385-D7032BFCB44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C-C35C-4BF5-8385-D7032BFCB44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E-C35C-4BF5-8385-D7032BFCB44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0-C35C-4BF5-8385-D7032BFCB445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A-C35C-4BF5-8385-D7032BFCB445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C-C35C-4BF5-8385-D7032BFCB445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E-C35C-4BF5-8385-D7032BFCB445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0-C35C-4BF5-8385-D7032BFCB445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'export(march 2024)'!$B$21:$B$24</c:f>
              <c:strCache>
                <c:ptCount val="4"/>
                <c:pt idx="0">
                  <c:v>AI/ML</c:v>
                </c:pt>
                <c:pt idx="1">
                  <c:v>App Development</c:v>
                </c:pt>
                <c:pt idx="2">
                  <c:v>Cyber Security</c:v>
                </c:pt>
                <c:pt idx="3">
                  <c:v>ERP</c:v>
                </c:pt>
              </c:strCache>
            </c:strRef>
          </c:cat>
          <c:val>
            <c:numRef>
              <c:f>'export(march 2024)'!$D$21:$D$24</c:f>
              <c:numCache>
                <c:formatCode>General</c:formatCode>
                <c:ptCount val="4"/>
                <c:pt idx="0">
                  <c:v>240</c:v>
                </c:pt>
                <c:pt idx="1">
                  <c:v>18</c:v>
                </c:pt>
                <c:pt idx="2">
                  <c:v>78</c:v>
                </c:pt>
                <c:pt idx="3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C35C-4BF5-8385-D7032BFCB445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IN" sz="1400">
                <a:solidFill>
                  <a:sysClr val="windowText" lastClr="000000"/>
                </a:solidFill>
              </a:rPr>
              <a:t> </a:t>
            </a:r>
            <a:r>
              <a:rPr lang="en-IN" sz="1400" b="1" i="0" u="none" strike="noStrike" baseline="0">
                <a:solidFill>
                  <a:sysClr val="windowText" lastClr="000000"/>
                </a:solidFill>
                <a:effectLst/>
              </a:rPr>
              <a:t>Total Probable Acquisitions (2024-2026)</a:t>
            </a:r>
            <a:r>
              <a:rPr lang="en-IN" sz="1400" b="0" i="0" u="none" strike="noStrike" baseline="0">
                <a:solidFill>
                  <a:sysClr val="windowText" lastClr="000000"/>
                </a:solidFill>
              </a:rPr>
              <a:t> </a:t>
            </a:r>
            <a:endParaRPr lang="en-IN" sz="140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576830010066748"/>
          <c:y val="0.18163073233677768"/>
          <c:w val="0.86423171831118928"/>
          <c:h val="0.66792595769906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Acquisitions!$C$20</c:f>
              <c:strCache>
                <c:ptCount val="1"/>
                <c:pt idx="0">
                  <c:v>ERP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Acquisitions!$B$21:$B$25</c:f>
              <c:strCache>
                <c:ptCount val="5"/>
                <c:pt idx="0">
                  <c:v>Obtainable by BEL (2025 - 26)</c:v>
                </c:pt>
                <c:pt idx="1">
                  <c:v>Obtainable by BEL (2026 - 27)</c:v>
                </c:pt>
                <c:pt idx="2">
                  <c:v>Obtainable by BEL(2027 - 28)</c:v>
                </c:pt>
                <c:pt idx="3">
                  <c:v>Obtainable by BEL(2028 - 29)</c:v>
                </c:pt>
                <c:pt idx="4">
                  <c:v>Obtainable by BEL(2029 - 30)</c:v>
                </c:pt>
              </c:strCache>
            </c:strRef>
          </c:cat>
          <c:val>
            <c:numRef>
              <c:f>Acquisitions!$C$21:$C$25</c:f>
              <c:numCache>
                <c:formatCode>General</c:formatCode>
                <c:ptCount val="5"/>
                <c:pt idx="0">
                  <c:v>210</c:v>
                </c:pt>
                <c:pt idx="1">
                  <c:v>252</c:v>
                </c:pt>
                <c:pt idx="2">
                  <c:v>302.39999999999998</c:v>
                </c:pt>
                <c:pt idx="3">
                  <c:v>362.88</c:v>
                </c:pt>
                <c:pt idx="4">
                  <c:v>435.45600000000002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55-49E6-83CE-525A7F063436}"/>
            </c:ext>
          </c:extLst>
        </c:ser>
        <c:ser>
          <c:idx val="1"/>
          <c:order val="1"/>
          <c:tx>
            <c:strRef>
              <c:f>Acquisitions!$D$20</c:f>
              <c:strCache>
                <c:ptCount val="1"/>
                <c:pt idx="0">
                  <c:v>Digital Identity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Acquisitions!$B$21:$B$25</c:f>
              <c:strCache>
                <c:ptCount val="5"/>
                <c:pt idx="0">
                  <c:v>Obtainable by BEL (2025 - 26)</c:v>
                </c:pt>
                <c:pt idx="1">
                  <c:v>Obtainable by BEL (2026 - 27)</c:v>
                </c:pt>
                <c:pt idx="2">
                  <c:v>Obtainable by BEL(2027 - 28)</c:v>
                </c:pt>
                <c:pt idx="3">
                  <c:v>Obtainable by BEL(2028 - 29)</c:v>
                </c:pt>
                <c:pt idx="4">
                  <c:v>Obtainable by BEL(2029 - 30)</c:v>
                </c:pt>
              </c:strCache>
            </c:strRef>
          </c:cat>
          <c:val>
            <c:numRef>
              <c:f>Acquisitions!$D$21:$D$25</c:f>
              <c:numCache>
                <c:formatCode>General</c:formatCode>
                <c:ptCount val="5"/>
                <c:pt idx="0">
                  <c:v>25</c:v>
                </c:pt>
                <c:pt idx="1">
                  <c:v>30</c:v>
                </c:pt>
                <c:pt idx="2">
                  <c:v>36</c:v>
                </c:pt>
                <c:pt idx="3">
                  <c:v>43.2</c:v>
                </c:pt>
                <c:pt idx="4">
                  <c:v>51.84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55-49E6-83CE-525A7F063436}"/>
            </c:ext>
          </c:extLst>
        </c:ser>
        <c:ser>
          <c:idx val="2"/>
          <c:order val="2"/>
          <c:tx>
            <c:strRef>
              <c:f>Acquisitions!$E$20</c:f>
              <c:strCache>
                <c:ptCount val="1"/>
                <c:pt idx="0">
                  <c:v>VMS, VA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Acquisitions!$B$21:$B$25</c:f>
              <c:strCache>
                <c:ptCount val="5"/>
                <c:pt idx="0">
                  <c:v>Obtainable by BEL (2025 - 26)</c:v>
                </c:pt>
                <c:pt idx="1">
                  <c:v>Obtainable by BEL (2026 - 27)</c:v>
                </c:pt>
                <c:pt idx="2">
                  <c:v>Obtainable by BEL(2027 - 28)</c:v>
                </c:pt>
                <c:pt idx="3">
                  <c:v>Obtainable by BEL(2028 - 29)</c:v>
                </c:pt>
                <c:pt idx="4">
                  <c:v>Obtainable by BEL(2029 - 30)</c:v>
                </c:pt>
              </c:strCache>
            </c:strRef>
          </c:cat>
          <c:val>
            <c:numRef>
              <c:f>Acquisitions!$E$21:$E$25</c:f>
              <c:numCache>
                <c:formatCode>General</c:formatCode>
                <c:ptCount val="5"/>
                <c:pt idx="0">
                  <c:v>50</c:v>
                </c:pt>
                <c:pt idx="1">
                  <c:v>60</c:v>
                </c:pt>
                <c:pt idx="2">
                  <c:v>72</c:v>
                </c:pt>
                <c:pt idx="3">
                  <c:v>86.4</c:v>
                </c:pt>
                <c:pt idx="4">
                  <c:v>103.68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55-49E6-83CE-525A7F063436}"/>
            </c:ext>
          </c:extLst>
        </c:ser>
        <c:ser>
          <c:idx val="3"/>
          <c:order val="3"/>
          <c:tx>
            <c:strRef>
              <c:f>Acquisitions!$F$20</c:f>
              <c:strCache>
                <c:ptCount val="1"/>
                <c:pt idx="0">
                  <c:v>HMIS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Acquisitions!$B$21:$B$25</c:f>
              <c:strCache>
                <c:ptCount val="5"/>
                <c:pt idx="0">
                  <c:v>Obtainable by BEL (2025 - 26)</c:v>
                </c:pt>
                <c:pt idx="1">
                  <c:v>Obtainable by BEL (2026 - 27)</c:v>
                </c:pt>
                <c:pt idx="2">
                  <c:v>Obtainable by BEL(2027 - 28)</c:v>
                </c:pt>
                <c:pt idx="3">
                  <c:v>Obtainable by BEL(2028 - 29)</c:v>
                </c:pt>
                <c:pt idx="4">
                  <c:v>Obtainable by BEL(2029 - 30)</c:v>
                </c:pt>
              </c:strCache>
            </c:strRef>
          </c:cat>
          <c:val>
            <c:numRef>
              <c:f>Acquisitions!$F$21:$F$25</c:f>
              <c:numCache>
                <c:formatCode>General</c:formatCode>
                <c:ptCount val="5"/>
                <c:pt idx="0">
                  <c:v>6</c:v>
                </c:pt>
                <c:pt idx="1">
                  <c:v>7.2</c:v>
                </c:pt>
                <c:pt idx="2">
                  <c:v>8.64</c:v>
                </c:pt>
                <c:pt idx="3">
                  <c:v>10.368</c:v>
                </c:pt>
                <c:pt idx="4">
                  <c:v>12.441599999999999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055-49E6-83CE-525A7F063436}"/>
            </c:ext>
          </c:extLst>
        </c:ser>
        <c:ser>
          <c:idx val="4"/>
          <c:order val="4"/>
          <c:tx>
            <c:strRef>
              <c:f>Acquisitions!$G$20</c:f>
              <c:strCache>
                <c:ptCount val="1"/>
                <c:pt idx="0">
                  <c:v>AI/ML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Acquisitions!$B$21:$B$25</c:f>
              <c:strCache>
                <c:ptCount val="5"/>
                <c:pt idx="0">
                  <c:v>Obtainable by BEL (2025 - 26)</c:v>
                </c:pt>
                <c:pt idx="1">
                  <c:v>Obtainable by BEL (2026 - 27)</c:v>
                </c:pt>
                <c:pt idx="2">
                  <c:v>Obtainable by BEL(2027 - 28)</c:v>
                </c:pt>
                <c:pt idx="3">
                  <c:v>Obtainable by BEL(2028 - 29)</c:v>
                </c:pt>
                <c:pt idx="4">
                  <c:v>Obtainable by BEL(2029 - 30)</c:v>
                </c:pt>
              </c:strCache>
            </c:strRef>
          </c:cat>
          <c:val>
            <c:numRef>
              <c:f>Acquisitions!$G$21:$G$25</c:f>
              <c:numCache>
                <c:formatCode>General</c:formatCode>
                <c:ptCount val="5"/>
                <c:pt idx="0">
                  <c:v>62</c:v>
                </c:pt>
                <c:pt idx="1">
                  <c:v>74.400000000000006</c:v>
                </c:pt>
                <c:pt idx="2">
                  <c:v>89.28</c:v>
                </c:pt>
                <c:pt idx="3">
                  <c:v>107.136</c:v>
                </c:pt>
                <c:pt idx="4">
                  <c:v>128.56319999999999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55-49E6-83CE-525A7F063436}"/>
            </c:ext>
          </c:extLst>
        </c:ser>
        <c:ser>
          <c:idx val="5"/>
          <c:order val="5"/>
          <c:tx>
            <c:strRef>
              <c:f>Acquisitions!$H$20</c:f>
              <c:strCache>
                <c:ptCount val="1"/>
                <c:pt idx="0">
                  <c:v>ICCC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Acquisitions!$B$21:$B$25</c:f>
              <c:strCache>
                <c:ptCount val="5"/>
                <c:pt idx="0">
                  <c:v>Obtainable by BEL (2025 - 26)</c:v>
                </c:pt>
                <c:pt idx="1">
                  <c:v>Obtainable by BEL (2026 - 27)</c:v>
                </c:pt>
                <c:pt idx="2">
                  <c:v>Obtainable by BEL(2027 - 28)</c:v>
                </c:pt>
                <c:pt idx="3">
                  <c:v>Obtainable by BEL(2028 - 29)</c:v>
                </c:pt>
                <c:pt idx="4">
                  <c:v>Obtainable by BEL(2029 - 30)</c:v>
                </c:pt>
              </c:strCache>
            </c:strRef>
          </c:cat>
          <c:val>
            <c:numRef>
              <c:f>Acquisitions!$H$21:$H$25</c:f>
              <c:numCache>
                <c:formatCode>General</c:formatCode>
                <c:ptCount val="5"/>
                <c:pt idx="0">
                  <c:v>15</c:v>
                </c:pt>
                <c:pt idx="1">
                  <c:v>18</c:v>
                </c:pt>
                <c:pt idx="2">
                  <c:v>21.6</c:v>
                </c:pt>
                <c:pt idx="3">
                  <c:v>25.92</c:v>
                </c:pt>
                <c:pt idx="4">
                  <c:v>31.103999999999999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055-49E6-83CE-525A7F063436}"/>
            </c:ext>
          </c:extLst>
        </c:ser>
        <c:ser>
          <c:idx val="6"/>
          <c:order val="6"/>
          <c:tx>
            <c:strRef>
              <c:f>Acquisitions!$I$20</c:f>
              <c:strCache>
                <c:ptCount val="1"/>
                <c:pt idx="0">
                  <c:v>NMS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Acquisitions!$B$21:$B$25</c:f>
              <c:strCache>
                <c:ptCount val="5"/>
                <c:pt idx="0">
                  <c:v>Obtainable by BEL (2025 - 26)</c:v>
                </c:pt>
                <c:pt idx="1">
                  <c:v>Obtainable by BEL (2026 - 27)</c:v>
                </c:pt>
                <c:pt idx="2">
                  <c:v>Obtainable by BEL(2027 - 28)</c:v>
                </c:pt>
                <c:pt idx="3">
                  <c:v>Obtainable by BEL(2028 - 29)</c:v>
                </c:pt>
                <c:pt idx="4">
                  <c:v>Obtainable by BEL(2029 - 30)</c:v>
                </c:pt>
              </c:strCache>
            </c:strRef>
          </c:cat>
          <c:val>
            <c:numRef>
              <c:f>Acquisitions!$I$21:$I$25</c:f>
              <c:numCache>
                <c:formatCode>General</c:formatCode>
                <c:ptCount val="5"/>
                <c:pt idx="0">
                  <c:v>30</c:v>
                </c:pt>
                <c:pt idx="1">
                  <c:v>36</c:v>
                </c:pt>
                <c:pt idx="2">
                  <c:v>43.2</c:v>
                </c:pt>
                <c:pt idx="3">
                  <c:v>51.84</c:v>
                </c:pt>
                <c:pt idx="4">
                  <c:v>62.207999999999998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055-49E6-83CE-525A7F063436}"/>
            </c:ext>
          </c:extLst>
        </c:ser>
        <c:ser>
          <c:idx val="7"/>
          <c:order val="7"/>
          <c:tx>
            <c:strRef>
              <c:f>Acquisitions!$J$20</c:f>
              <c:strCache>
                <c:ptCount val="1"/>
                <c:pt idx="0">
                  <c:v>Digital Agriculture 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Acquisitions!$B$21:$B$25</c:f>
              <c:strCache>
                <c:ptCount val="5"/>
                <c:pt idx="0">
                  <c:v>Obtainable by BEL (2025 - 26)</c:v>
                </c:pt>
                <c:pt idx="1">
                  <c:v>Obtainable by BEL (2026 - 27)</c:v>
                </c:pt>
                <c:pt idx="2">
                  <c:v>Obtainable by BEL(2027 - 28)</c:v>
                </c:pt>
                <c:pt idx="3">
                  <c:v>Obtainable by BEL(2028 - 29)</c:v>
                </c:pt>
                <c:pt idx="4">
                  <c:v>Obtainable by BEL(2029 - 30)</c:v>
                </c:pt>
              </c:strCache>
            </c:strRef>
          </c:cat>
          <c:val>
            <c:numRef>
              <c:f>Acquisitions!$J$21:$J$25</c:f>
              <c:numCache>
                <c:formatCode>General</c:formatCode>
                <c:ptCount val="5"/>
                <c:pt idx="0">
                  <c:v>50</c:v>
                </c:pt>
                <c:pt idx="1">
                  <c:v>60</c:v>
                </c:pt>
                <c:pt idx="2">
                  <c:v>72</c:v>
                </c:pt>
                <c:pt idx="3">
                  <c:v>86.4</c:v>
                </c:pt>
                <c:pt idx="4">
                  <c:v>103.68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055-49E6-83CE-525A7F063436}"/>
            </c:ext>
          </c:extLst>
        </c:ser>
        <c:ser>
          <c:idx val="8"/>
          <c:order val="8"/>
          <c:tx>
            <c:strRef>
              <c:f>Acquisitions!$K$20</c:f>
              <c:strCache>
                <c:ptCount val="1"/>
                <c:pt idx="0">
                  <c:v>Simulators 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Acquisitions!$B$21:$B$25</c:f>
              <c:strCache>
                <c:ptCount val="5"/>
                <c:pt idx="0">
                  <c:v>Obtainable by BEL (2025 - 26)</c:v>
                </c:pt>
                <c:pt idx="1">
                  <c:v>Obtainable by BEL (2026 - 27)</c:v>
                </c:pt>
                <c:pt idx="2">
                  <c:v>Obtainable by BEL(2027 - 28)</c:v>
                </c:pt>
                <c:pt idx="3">
                  <c:v>Obtainable by BEL(2028 - 29)</c:v>
                </c:pt>
                <c:pt idx="4">
                  <c:v>Obtainable by BEL(2029 - 30)</c:v>
                </c:pt>
              </c:strCache>
            </c:strRef>
          </c:cat>
          <c:val>
            <c:numRef>
              <c:f>Acquisitions!$K$21:$K$25</c:f>
              <c:numCache>
                <c:formatCode>General</c:formatCode>
                <c:ptCount val="5"/>
                <c:pt idx="0">
                  <c:v>20</c:v>
                </c:pt>
                <c:pt idx="1">
                  <c:v>24</c:v>
                </c:pt>
                <c:pt idx="2">
                  <c:v>28.8</c:v>
                </c:pt>
                <c:pt idx="3">
                  <c:v>34.56</c:v>
                </c:pt>
                <c:pt idx="4">
                  <c:v>41.472000000000001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055-49E6-83CE-525A7F063436}"/>
            </c:ext>
          </c:extLst>
        </c:ser>
        <c:ser>
          <c:idx val="9"/>
          <c:order val="9"/>
          <c:tx>
            <c:strRef>
              <c:f>Acquisitions!$L$20</c:f>
              <c:strCache>
                <c:ptCount val="1"/>
                <c:pt idx="0">
                  <c:v>Cloud Services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Acquisitions!$B$21:$B$25</c:f>
              <c:strCache>
                <c:ptCount val="5"/>
                <c:pt idx="0">
                  <c:v>Obtainable by BEL (2025 - 26)</c:v>
                </c:pt>
                <c:pt idx="1">
                  <c:v>Obtainable by BEL (2026 - 27)</c:v>
                </c:pt>
                <c:pt idx="2">
                  <c:v>Obtainable by BEL(2027 - 28)</c:v>
                </c:pt>
                <c:pt idx="3">
                  <c:v>Obtainable by BEL(2028 - 29)</c:v>
                </c:pt>
                <c:pt idx="4">
                  <c:v>Obtainable by BEL(2029 - 30)</c:v>
                </c:pt>
              </c:strCache>
            </c:strRef>
          </c:cat>
          <c:val>
            <c:numRef>
              <c:f>Acquisitions!$L$21:$L$25</c:f>
              <c:numCache>
                <c:formatCode>General</c:formatCode>
                <c:ptCount val="5"/>
                <c:pt idx="0">
                  <c:v>180</c:v>
                </c:pt>
                <c:pt idx="1">
                  <c:v>216</c:v>
                </c:pt>
                <c:pt idx="2">
                  <c:v>259.2</c:v>
                </c:pt>
                <c:pt idx="3">
                  <c:v>311.04000000000002</c:v>
                </c:pt>
                <c:pt idx="4">
                  <c:v>373.24799999999999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055-49E6-83CE-525A7F063436}"/>
            </c:ext>
          </c:extLst>
        </c:ser>
        <c:ser>
          <c:idx val="10"/>
          <c:order val="10"/>
          <c:tx>
            <c:strRef>
              <c:f>Acquisitions!$M$20</c:f>
              <c:strCache>
                <c:ptCount val="1"/>
                <c:pt idx="0">
                  <c:v>BFSI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trendline>
            <c:spPr>
              <a:ln w="31750" cap="rnd" cmpd="sng">
                <a:solidFill>
                  <a:schemeClr val="tx1"/>
                </a:solidFill>
                <a:prstDash val="solid"/>
                <a:tailEnd type="triangle"/>
              </a:ln>
              <a:effectLst/>
            </c:spPr>
            <c:trendlineType val="linear"/>
            <c:forward val="0.51"/>
            <c:backward val="0.4"/>
            <c:dispRSqr val="0"/>
            <c:dispEq val="0"/>
          </c:trendline>
          <c:cat>
            <c:strRef>
              <c:f>Acquisitions!$B$21:$B$25</c:f>
              <c:strCache>
                <c:ptCount val="5"/>
                <c:pt idx="0">
                  <c:v>Obtainable by BEL (2025 - 26)</c:v>
                </c:pt>
                <c:pt idx="1">
                  <c:v>Obtainable by BEL (2026 - 27)</c:v>
                </c:pt>
                <c:pt idx="2">
                  <c:v>Obtainable by BEL(2027 - 28)</c:v>
                </c:pt>
                <c:pt idx="3">
                  <c:v>Obtainable by BEL(2028 - 29)</c:v>
                </c:pt>
                <c:pt idx="4">
                  <c:v>Obtainable by BEL(2029 - 30)</c:v>
                </c:pt>
              </c:strCache>
            </c:strRef>
          </c:cat>
          <c:val>
            <c:numRef>
              <c:f>Acquisitions!$M$21:$M$25</c:f>
              <c:numCache>
                <c:formatCode>General</c:formatCode>
                <c:ptCount val="5"/>
                <c:pt idx="0">
                  <c:v>360</c:v>
                </c:pt>
                <c:pt idx="1">
                  <c:v>432</c:v>
                </c:pt>
                <c:pt idx="2">
                  <c:v>518.4</c:v>
                </c:pt>
                <c:pt idx="3">
                  <c:v>622.08000000000004</c:v>
                </c:pt>
                <c:pt idx="4">
                  <c:v>746.49599999999998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055-49E6-83CE-525A7F0634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3160960"/>
        <c:axId val="133162880"/>
        <c:extLst>
          <c:ext xmlns:c15="http://schemas.microsoft.com/office/drawing/2012/chart" uri="{02D57815-91ED-43cb-92C2-25804820EDAC}">
            <c15:filteredBarSeries>
              <c15:ser>
                <c:idx val="11"/>
                <c:order val="11"/>
                <c:tx>
                  <c:strRef>
                    <c:extLst>
                      <c:ext uri="{02D57815-91ED-43cb-92C2-25804820EDAC}">
                        <c15:formulaRef>
                          <c15:sqref>Acquisitions!$N$20</c15:sqref>
                        </c15:formulaRef>
                      </c:ext>
                    </c:extLst>
                    <c:strCache>
                      <c:ptCount val="1"/>
                      <c:pt idx="0">
                        <c:v>Total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trendline>
                  <c:spPr>
                    <a:ln w="50800" cap="rnd" cmpd="thickThin">
                      <a:solidFill>
                        <a:schemeClr val="tx1"/>
                      </a:solidFill>
                      <a:prstDash val="solid"/>
                      <a:headEnd w="sm" len="med"/>
                      <a:tailEnd type="triangle" w="sm" len="med"/>
                    </a:ln>
                    <a:effectLst/>
                  </c:spPr>
                  <c:trendlineType val="exp"/>
                  <c:forward val="0.53"/>
                  <c:backward val="0.30000000000000004"/>
                  <c:dispRSqr val="0"/>
                  <c:dispEq val="0"/>
                </c:trendline>
                <c:cat>
                  <c:strRef>
                    <c:extLst>
                      <c:ext uri="{02D57815-91ED-43cb-92C2-25804820EDAC}">
                        <c15:formulaRef>
                          <c15:sqref>Acquisitions!$B$21:$B$25</c15:sqref>
                        </c15:formulaRef>
                      </c:ext>
                    </c:extLst>
                    <c:strCache>
                      <c:ptCount val="5"/>
                      <c:pt idx="0">
                        <c:v>Obtainable by BEL (2025 - 26)</c:v>
                      </c:pt>
                      <c:pt idx="1">
                        <c:v>Obtainable by BEL (2026 - 27)</c:v>
                      </c:pt>
                      <c:pt idx="2">
                        <c:v>Obtainable by BEL(2027 - 28)</c:v>
                      </c:pt>
                      <c:pt idx="3">
                        <c:v>Obtainable by BEL(2028 - 29)</c:v>
                      </c:pt>
                      <c:pt idx="4">
                        <c:v>Obtainable by BEL(2029 - 30)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Acquisitions!$N$21:$N$25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1008</c:v>
                      </c:pt>
                      <c:pt idx="1">
                        <c:v>1209.5999999999999</c:v>
                      </c:pt>
                      <c:pt idx="2">
                        <c:v>1451.52</c:v>
                      </c:pt>
                      <c:pt idx="3">
                        <c:v>1741.8240000000001</c:v>
                      </c:pt>
                      <c:pt idx="4">
                        <c:v>2090.1887999999999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D-7055-49E6-83CE-525A7F063436}"/>
                  </c:ext>
                </c:extLst>
              </c15:ser>
            </c15:filteredBarSeries>
          </c:ext>
        </c:extLst>
      </c:barChart>
      <c:catAx>
        <c:axId val="1331609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50">
                    <a:solidFill>
                      <a:sysClr val="windowText" lastClr="000000"/>
                    </a:solidFill>
                  </a:rPr>
                  <a:t>year</a:t>
                </a:r>
              </a:p>
            </c:rich>
          </c:tx>
          <c:layout>
            <c:manualLayout>
              <c:xMode val="edge"/>
              <c:yMode val="edge"/>
              <c:x val="0.50392567657025367"/>
              <c:y val="0.932071144164648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162880"/>
        <c:crosses val="autoZero"/>
        <c:auto val="1"/>
        <c:lblAlgn val="ctr"/>
        <c:lblOffset val="100"/>
        <c:noMultiLvlLbl val="0"/>
      </c:catAx>
      <c:valAx>
        <c:axId val="13316288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50">
                    <a:solidFill>
                      <a:sysClr val="windowText" lastClr="000000"/>
                    </a:solidFill>
                  </a:rPr>
                  <a:t>value</a:t>
                </a:r>
                <a:r>
                  <a:rPr lang="en-IN" sz="1050" baseline="0">
                    <a:solidFill>
                      <a:sysClr val="windowText" lastClr="000000"/>
                    </a:solidFill>
                  </a:rPr>
                  <a:t> in crores</a:t>
                </a:r>
                <a:endParaRPr lang="en-IN" sz="1050">
                  <a:solidFill>
                    <a:sysClr val="windowText" lastClr="000000"/>
                  </a:solidFill>
                </a:endParaRPr>
              </a:p>
            </c:rich>
          </c:tx>
          <c:layout>
            <c:manualLayout>
              <c:xMode val="edge"/>
              <c:yMode val="edge"/>
              <c:x val="6.3044153842831463E-2"/>
              <c:y val="0.358565540116395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16096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4.7706887164079087E-2"/>
          <c:y val="6.5969799740096535E-2"/>
          <c:w val="0.89966122145179617"/>
          <c:h val="6.96675722552224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ysClr val="windowText" lastClr="000000"/>
                </a:solidFill>
                <a:effectLst/>
              </a:rPr>
              <a:t>Domestic Order Acquisition</a:t>
            </a:r>
            <a:r>
              <a:rPr lang="en-IN" sz="1400" b="0" i="0" u="none" strike="noStrike" baseline="0">
                <a:solidFill>
                  <a:sysClr val="windowText" lastClr="000000"/>
                </a:solidFill>
              </a:rPr>
              <a:t> </a:t>
            </a:r>
            <a:endParaRPr lang="en-IN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'Domestic Order'!$B$5</c:f>
              <c:strCache>
                <c:ptCount val="1"/>
                <c:pt idx="0">
                  <c:v>ERP &amp; Health care (TCL, AVNL,UP Metro, IAF, OFBs, State Dept. ERPs)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'Domestic Order'!$C$4:$F$4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 </c:v>
                </c:pt>
              </c:strCache>
            </c:strRef>
          </c:cat>
          <c:val>
            <c:numRef>
              <c:f>'Domestic Order'!$C$5:$F$5</c:f>
              <c:numCache>
                <c:formatCode>General</c:formatCode>
                <c:ptCount val="4"/>
                <c:pt idx="0">
                  <c:v>30</c:v>
                </c:pt>
                <c:pt idx="1">
                  <c:v>50</c:v>
                </c:pt>
                <c:pt idx="2">
                  <c:v>100</c:v>
                </c:pt>
                <c:pt idx="3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F8-441B-8C9D-3BE0F13BABCF}"/>
            </c:ext>
          </c:extLst>
        </c:ser>
        <c:ser>
          <c:idx val="1"/>
          <c:order val="1"/>
          <c:tx>
            <c:strRef>
              <c:f>'Domestic Order'!$B$6</c:f>
              <c:strCache>
                <c:ptCount val="1"/>
                <c:pt idx="0">
                  <c:v>Digital Agriculture, BlockChain, ONGC (EACS)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'Domestic Order'!$C$4:$F$4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 </c:v>
                </c:pt>
              </c:strCache>
            </c:strRef>
          </c:cat>
          <c:val>
            <c:numRef>
              <c:f>'Domestic Order'!$C$6:$F$6</c:f>
              <c:numCache>
                <c:formatCode>General</c:formatCode>
                <c:ptCount val="4"/>
                <c:pt idx="0">
                  <c:v>70</c:v>
                </c:pt>
                <c:pt idx="1">
                  <c:v>120</c:v>
                </c:pt>
                <c:pt idx="2">
                  <c:v>140</c:v>
                </c:pt>
                <c:pt idx="3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F8-441B-8C9D-3BE0F13BABCF}"/>
            </c:ext>
          </c:extLst>
        </c:ser>
        <c:ser>
          <c:idx val="2"/>
          <c:order val="2"/>
          <c:tx>
            <c:strRef>
              <c:f>'Domestic Order'!$B$7</c:f>
              <c:strCache>
                <c:ptCount val="1"/>
                <c:pt idx="0">
                  <c:v>DRDO Projects, (CAIR, ADE, LRDE, DRDL), NSIL(ISRO)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'Domestic Order'!$C$4:$F$4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 </c:v>
                </c:pt>
              </c:strCache>
            </c:strRef>
          </c:cat>
          <c:val>
            <c:numRef>
              <c:f>'Domestic Order'!$C$7:$F$7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50</c:v>
                </c:pt>
                <c:pt idx="3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F8-441B-8C9D-3BE0F13BABCF}"/>
            </c:ext>
          </c:extLst>
        </c:ser>
        <c:ser>
          <c:idx val="3"/>
          <c:order val="3"/>
          <c:tx>
            <c:strRef>
              <c:f>'Domestic Order'!$B$8</c:f>
              <c:strCache>
                <c:ptCount val="1"/>
                <c:pt idx="0">
                  <c:v>MoD Projects (CIDSS, CPSS, AI/ML, Hybrid QA)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'Domestic Order'!$C$4:$F$4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 </c:v>
                </c:pt>
              </c:strCache>
            </c:strRef>
          </c:cat>
          <c:val>
            <c:numRef>
              <c:f>'Domestic Order'!$C$8:$F$8</c:f>
              <c:numCache>
                <c:formatCode>General</c:formatCode>
                <c:ptCount val="4"/>
                <c:pt idx="0">
                  <c:v>1100</c:v>
                </c:pt>
                <c:pt idx="1">
                  <c:v>50</c:v>
                </c:pt>
                <c:pt idx="2">
                  <c:v>60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7F8-441B-8C9D-3BE0F13BABC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3237760"/>
        <c:axId val="133252224"/>
      </c:barChart>
      <c:catAx>
        <c:axId val="1332377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>
                    <a:solidFill>
                      <a:sysClr val="windowText" lastClr="000000"/>
                    </a:solidFill>
                  </a:rPr>
                  <a:t>year</a:t>
                </a:r>
                <a:r>
                  <a:rPr lang="en-IN" baseline="0">
                    <a:solidFill>
                      <a:sysClr val="windowText" lastClr="000000"/>
                    </a:solidFill>
                  </a:rPr>
                  <a:t> </a:t>
                </a:r>
                <a:endParaRPr lang="en-IN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252224"/>
        <c:crosses val="autoZero"/>
        <c:auto val="1"/>
        <c:lblAlgn val="ctr"/>
        <c:lblOffset val="100"/>
        <c:noMultiLvlLbl val="0"/>
      </c:catAx>
      <c:valAx>
        <c:axId val="133252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>
                    <a:solidFill>
                      <a:sysClr val="windowText" lastClr="000000"/>
                    </a:solidFill>
                  </a:rPr>
                  <a:t>vales</a:t>
                </a:r>
                <a:r>
                  <a:rPr lang="en-IN" baseline="0">
                    <a:solidFill>
                      <a:sysClr val="windowText" lastClr="000000"/>
                    </a:solidFill>
                  </a:rPr>
                  <a:t> in crores</a:t>
                </a:r>
                <a:endParaRPr lang="en-IN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237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28575" cap="flat" cmpd="sng" algn="ctr">
      <a:solidFill>
        <a:sysClr val="windowText" lastClr="000000"/>
      </a:solidFill>
      <a:prstDash val="dash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ysClr val="windowText" lastClr="000000"/>
                </a:solidFill>
                <a:effectLst/>
              </a:rPr>
              <a:t>Domestic Order Acquisition</a:t>
            </a:r>
            <a:r>
              <a:rPr lang="en-IN" sz="1400" b="0" i="0" u="none" strike="noStrike" baseline="0">
                <a:solidFill>
                  <a:sysClr val="windowText" lastClr="000000"/>
                </a:solidFill>
              </a:rPr>
              <a:t> </a:t>
            </a:r>
            <a:endParaRPr lang="en-US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'Domestic Order'!$B$5</c:f>
              <c:strCache>
                <c:ptCount val="1"/>
                <c:pt idx="0">
                  <c:v>ERP &amp; Health care (TCL, AVNL,UP Metro, IAF, OFBs, State Dept. ERPs)</c:v>
                </c:pt>
              </c:strCache>
            </c:strRef>
          </c:tx>
          <c:dPt>
            <c:idx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3A4-4C61-B244-5979CF3410B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3A4-4C61-B244-5979CF3410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3A4-4C61-B244-5979CF3410B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3A4-4C61-B244-5979CF3410BA}"/>
              </c:ext>
            </c:extLst>
          </c:dPt>
          <c:dLbls>
            <c:dLbl>
              <c:idx val="0"/>
              <c:layout>
                <c:manualLayout>
                  <c:x val="-5.3441978237462134E-2"/>
                  <c:y val="0.19883986090794584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372F5D9-BA45-44E6-A20F-A4D60F4D442F}" type="CATEGORYNAME">
                      <a:rPr lang="en-US" sz="800">
                        <a:solidFill>
                          <a:schemeClr val="bg1"/>
                        </a:solidFill>
                      </a:rPr>
                      <a:pPr>
                        <a:defRPr b="1">
                          <a:solidFill>
                            <a:schemeClr val="bg1"/>
                          </a:solidFill>
                        </a:defRPr>
                      </a:pPr>
                      <a:t>[CATEGORY NAME]</a:t>
                    </a:fld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
</a:t>
                    </a:r>
                    <a:fld id="{B0CD8EBA-C036-4DAD-BEF5-0B3843A6DC64}" type="PERCENTAGE">
                      <a:rPr lang="en-US" baseline="0">
                        <a:solidFill>
                          <a:schemeClr val="bg1"/>
                        </a:solidFill>
                      </a:rPr>
                      <a:pPr>
                        <a:defRPr b="1">
                          <a:solidFill>
                            <a:schemeClr val="bg1"/>
                          </a:solidFill>
                        </a:defRPr>
                      </a:pPr>
                      <a:t>[PERCENTAGE]</a:t>
                    </a:fld>
                    <a:endParaRPr lang="en-US" baseline="0" dirty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0499549167053296E-2"/>
                      <c:h val="0.1707196797915854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3A4-4C61-B244-5979CF3410B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'Domestic Order'!$C$4:$F$4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 </c:v>
                </c:pt>
              </c:strCache>
            </c:strRef>
          </c:cat>
          <c:val>
            <c:numRef>
              <c:f>'Domestic Order'!$C$5:$F$5</c:f>
              <c:numCache>
                <c:formatCode>General</c:formatCode>
                <c:ptCount val="4"/>
                <c:pt idx="0">
                  <c:v>30</c:v>
                </c:pt>
                <c:pt idx="1">
                  <c:v>50</c:v>
                </c:pt>
                <c:pt idx="2">
                  <c:v>100</c:v>
                </c:pt>
                <c:pt idx="3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3A4-4C61-B244-5979CF3410BA}"/>
            </c:ext>
          </c:extLst>
        </c:ser>
        <c:ser>
          <c:idx val="1"/>
          <c:order val="1"/>
          <c:tx>
            <c:strRef>
              <c:f>'Domestic Order'!$B$6</c:f>
              <c:strCache>
                <c:ptCount val="1"/>
                <c:pt idx="0">
                  <c:v>Digital Agriculture, BlockChain, ONGC (EACS)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03A4-4C61-B244-5979CF3410B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3A4-4C61-B244-5979CF3410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03A4-4C61-B244-5979CF3410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'Domestic Order'!$C$4:$F$4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 </c:v>
                </c:pt>
              </c:strCache>
            </c:strRef>
          </c:cat>
          <c:val>
            <c:numRef>
              <c:f>'Domestic Order'!$D$6:$F$6</c:f>
              <c:numCache>
                <c:formatCode>General</c:formatCode>
                <c:ptCount val="3"/>
                <c:pt idx="0">
                  <c:v>120</c:v>
                </c:pt>
                <c:pt idx="1">
                  <c:v>140</c:v>
                </c:pt>
                <c:pt idx="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03A4-4C61-B244-5979CF3410BA}"/>
            </c:ext>
          </c:extLst>
        </c:ser>
        <c:ser>
          <c:idx val="2"/>
          <c:order val="2"/>
          <c:tx>
            <c:strRef>
              <c:f>'Domestic Order'!$B$7</c:f>
              <c:strCache>
                <c:ptCount val="1"/>
                <c:pt idx="0">
                  <c:v>DRDO Projects, (CAIR, ADE, LRDE, DRDL), NSIL(ISRO)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03A4-4C61-B244-5979CF3410B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3A4-4C61-B244-5979CF3410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03A4-4C61-B244-5979CF3410B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03A4-4C61-B244-5979CF3410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'Domestic Order'!$C$4:$F$4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 </c:v>
                </c:pt>
              </c:strCache>
            </c:strRef>
          </c:cat>
          <c:val>
            <c:numRef>
              <c:f>'Domestic Order'!$C$7:$F$7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50</c:v>
                </c:pt>
                <c:pt idx="3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03A4-4C61-B244-5979CF3410BA}"/>
            </c:ext>
          </c:extLst>
        </c:ser>
        <c:ser>
          <c:idx val="3"/>
          <c:order val="3"/>
          <c:tx>
            <c:strRef>
              <c:f>'Domestic Order'!$B$8</c:f>
              <c:strCache>
                <c:ptCount val="1"/>
                <c:pt idx="0">
                  <c:v>MoD Projects (CIDSS, CPSS, AI/ML, Hybrid QA)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03A4-4C61-B244-5979CF3410B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03A4-4C61-B244-5979CF3410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E-03A4-4C61-B244-5979CF3410B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03A4-4C61-B244-5979CF3410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'Domestic Order'!$C$4:$F$4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 </c:v>
                </c:pt>
              </c:strCache>
            </c:strRef>
          </c:cat>
          <c:val>
            <c:numRef>
              <c:f>'Domestic Order'!$C$8:$F$8</c:f>
              <c:numCache>
                <c:formatCode>General</c:formatCode>
                <c:ptCount val="4"/>
                <c:pt idx="0">
                  <c:v>1100</c:v>
                </c:pt>
                <c:pt idx="1">
                  <c:v>50</c:v>
                </c:pt>
                <c:pt idx="2">
                  <c:v>60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03A4-4C61-B244-5979CF3410B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4"/>
                <c:order val="4"/>
                <c:tx>
                  <c:strRef>
                    <c:extLst>
                      <c:ext uri="{02D57815-91ED-43cb-92C2-25804820EDAC}">
                        <c15:formulaRef>
                          <c15:sqref>'Domestic Order'!$B$9</c15:sqref>
                        </c15:formulaRef>
                      </c:ext>
                    </c:extLst>
                    <c:strCache>
                      <c:ptCount val="1"/>
                      <c:pt idx="0">
                        <c:v>Total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3-03A4-4C61-B244-5979CF3410BA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5-03A4-4C61-B244-5979CF3410BA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7-03A4-4C61-B244-5979CF3410BA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9-03A4-4C61-B244-5979CF3410BA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bestFi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'Domestic Order'!$C$4:$F$4</c15:sqref>
                        </c15:formulaRef>
                      </c:ext>
                    </c:extLst>
                    <c:strCache>
                      <c:ptCount val="4"/>
                      <c:pt idx="0">
                        <c:v>2024-25</c:v>
                      </c:pt>
                      <c:pt idx="1">
                        <c:v>2025-26</c:v>
                      </c:pt>
                      <c:pt idx="2">
                        <c:v>2026-27</c:v>
                      </c:pt>
                      <c:pt idx="3">
                        <c:v>2027-28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'Domestic Order'!$C$9:$F$9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1220</c:v>
                      </c:pt>
                      <c:pt idx="1">
                        <c:v>255</c:v>
                      </c:pt>
                      <c:pt idx="2">
                        <c:v>350</c:v>
                      </c:pt>
                      <c:pt idx="3">
                        <c:v>465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2A-03A4-4C61-B244-5979CF3410BA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28575" cap="flat" cmpd="sng" algn="ctr">
      <a:noFill/>
      <a:prstDash val="dash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>
                <a:solidFill>
                  <a:schemeClr val="bg2">
                    <a:lumMod val="10000"/>
                  </a:schemeClr>
                </a:solidFill>
              </a:rPr>
              <a:t>Export Order Acquisition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'Export Order Acquisition '!$B$6</c:f>
              <c:strCache>
                <c:ptCount val="1"/>
                <c:pt idx="0">
                  <c:v>Belize UDI (Unique Digital Identity)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'Export Order Acquisition '!$C$4:$F$5</c:f>
              <c:multiLvlStrCache>
                <c:ptCount val="4"/>
                <c:lvl>
                  <c:pt idx="0">
                    <c:v>(in Cr)</c:v>
                  </c:pt>
                  <c:pt idx="1">
                    <c:v>(in Cr)</c:v>
                  </c:pt>
                  <c:pt idx="2">
                    <c:v>(in Cr)</c:v>
                  </c:pt>
                  <c:pt idx="3">
                    <c:v>(in Cr) </c:v>
                  </c:pt>
                </c:lvl>
                <c:lvl>
                  <c:pt idx="0">
                    <c:v>2024-25</c:v>
                  </c:pt>
                  <c:pt idx="1">
                    <c:v>2025-26</c:v>
                  </c:pt>
                  <c:pt idx="2">
                    <c:v>2026-27</c:v>
                  </c:pt>
                  <c:pt idx="3">
                    <c:v>2027-28</c:v>
                  </c:pt>
                </c:lvl>
              </c:multiLvlStrCache>
            </c:multiLvlStrRef>
          </c:cat>
          <c:val>
            <c:numRef>
              <c:f>'Export Order Acquisition '!$C$6:$F$6</c:f>
              <c:numCache>
                <c:formatCode>General</c:formatCode>
                <c:ptCount val="4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D5-4759-9FB2-3CFF6CEF987A}"/>
            </c:ext>
          </c:extLst>
        </c:ser>
        <c:ser>
          <c:idx val="1"/>
          <c:order val="1"/>
          <c:tx>
            <c:strRef>
              <c:f>'Export Order Acquisition '!$B$7</c:f>
              <c:strCache>
                <c:ptCount val="1"/>
                <c:pt idx="0">
                  <c:v>Sri Lanka UDI &amp; Other African countries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-1.9111931240732149E-17"/>
                  <c:y val="6.2663185378590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D5-4759-9FB2-3CFF6CEF987A}"/>
                </c:ext>
              </c:extLst>
            </c:dLbl>
            <c:dLbl>
              <c:idx val="1"/>
              <c:layout>
                <c:manualLayout>
                  <c:x val="0"/>
                  <c:y val="7.31070496083550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5D5-4759-9FB2-3CFF6CEF987A}"/>
                </c:ext>
              </c:extLst>
            </c:dLbl>
            <c:dLbl>
              <c:idx val="2"/>
              <c:layout>
                <c:manualLayout>
                  <c:x val="0"/>
                  <c:y val="8.00696257615317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D5-4759-9FB2-3CFF6CEF987A}"/>
                </c:ext>
              </c:extLst>
            </c:dLbl>
            <c:dLbl>
              <c:idx val="3"/>
              <c:layout>
                <c:manualLayout>
                  <c:x val="-1.5289544992585719E-16"/>
                  <c:y val="8.35509138381201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5D5-4759-9FB2-3CFF6CEF987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'Export Order Acquisition '!$C$4:$F$5</c:f>
              <c:multiLvlStrCache>
                <c:ptCount val="4"/>
                <c:lvl>
                  <c:pt idx="0">
                    <c:v>(in Cr)</c:v>
                  </c:pt>
                  <c:pt idx="1">
                    <c:v>(in Cr)</c:v>
                  </c:pt>
                  <c:pt idx="2">
                    <c:v>(in Cr)</c:v>
                  </c:pt>
                  <c:pt idx="3">
                    <c:v>(in Cr) </c:v>
                  </c:pt>
                </c:lvl>
                <c:lvl>
                  <c:pt idx="0">
                    <c:v>2024-25</c:v>
                  </c:pt>
                  <c:pt idx="1">
                    <c:v>2025-26</c:v>
                  </c:pt>
                  <c:pt idx="2">
                    <c:v>2026-27</c:v>
                  </c:pt>
                  <c:pt idx="3">
                    <c:v>2027-28</c:v>
                  </c:pt>
                </c:lvl>
              </c:multiLvlStrCache>
            </c:multiLvlStrRef>
          </c:cat>
          <c:val>
            <c:numRef>
              <c:f>'Export Order Acquisition '!$C$7:$F$7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170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D5-4759-9FB2-3CFF6CEF987A}"/>
            </c:ext>
          </c:extLst>
        </c:ser>
        <c:ser>
          <c:idx val="2"/>
          <c:order val="2"/>
          <c:tx>
            <c:strRef>
              <c:f>'Export Order Acquisition '!$B$8</c:f>
              <c:strCache>
                <c:ptCount val="1"/>
                <c:pt idx="0">
                  <c:v>Pilot Aptitude Test -Oman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6.2548861167466725E-3"/>
                  <c:y val="-6.96257615317667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5D5-4759-9FB2-3CFF6CEF987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8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'Export Order Acquisition '!$C$4:$F$5</c:f>
              <c:multiLvlStrCache>
                <c:ptCount val="4"/>
                <c:lvl>
                  <c:pt idx="0">
                    <c:v>(in Cr)</c:v>
                  </c:pt>
                  <c:pt idx="1">
                    <c:v>(in Cr)</c:v>
                  </c:pt>
                  <c:pt idx="2">
                    <c:v>(in Cr)</c:v>
                  </c:pt>
                  <c:pt idx="3">
                    <c:v>(in Cr) </c:v>
                  </c:pt>
                </c:lvl>
                <c:lvl>
                  <c:pt idx="0">
                    <c:v>2024-25</c:v>
                  </c:pt>
                  <c:pt idx="1">
                    <c:v>2025-26</c:v>
                  </c:pt>
                  <c:pt idx="2">
                    <c:v>2026-27</c:v>
                  </c:pt>
                  <c:pt idx="3">
                    <c:v>2027-28</c:v>
                  </c:pt>
                </c:lvl>
              </c:multiLvlStrCache>
            </c:multiLvlStrRef>
          </c:cat>
          <c:val>
            <c:numRef>
              <c:f>'Export Order Acquisition '!$C$8:$F$8</c:f>
              <c:numCache>
                <c:formatCode>General</c:formatCode>
                <c:ptCount val="4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5D5-4759-9FB2-3CFF6CEF987A}"/>
            </c:ext>
          </c:extLst>
        </c:ser>
        <c:ser>
          <c:idx val="3"/>
          <c:order val="3"/>
          <c:tx>
            <c:strRef>
              <c:f>'Export Order Acquisition '!$B$9</c:f>
              <c:strCache>
                <c:ptCount val="1"/>
                <c:pt idx="0">
                  <c:v>IV&amp;V, Custom SW Development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7030A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'Export Order Acquisition '!$C$4:$F$5</c:f>
              <c:multiLvlStrCache>
                <c:ptCount val="4"/>
                <c:lvl>
                  <c:pt idx="0">
                    <c:v>(in Cr)</c:v>
                  </c:pt>
                  <c:pt idx="1">
                    <c:v>(in Cr)</c:v>
                  </c:pt>
                  <c:pt idx="2">
                    <c:v>(in Cr)</c:v>
                  </c:pt>
                  <c:pt idx="3">
                    <c:v>(in Cr) </c:v>
                  </c:pt>
                </c:lvl>
                <c:lvl>
                  <c:pt idx="0">
                    <c:v>2024-25</c:v>
                  </c:pt>
                  <c:pt idx="1">
                    <c:v>2025-26</c:v>
                  </c:pt>
                  <c:pt idx="2">
                    <c:v>2026-27</c:v>
                  </c:pt>
                  <c:pt idx="3">
                    <c:v>2027-28</c:v>
                  </c:pt>
                </c:lvl>
              </c:multiLvlStrCache>
            </c:multiLvlStrRef>
          </c:cat>
          <c:val>
            <c:numRef>
              <c:f>'Export Order Acquisition '!$C$9:$F$9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D5-4759-9FB2-3CFF6CEF987A}"/>
            </c:ext>
          </c:extLst>
        </c:ser>
        <c:ser>
          <c:idx val="5"/>
          <c:order val="5"/>
          <c:tx>
            <c:strRef>
              <c:f>'Export Order Acquisition '!$B$11</c:f>
              <c:strCache>
                <c:ptCount val="1"/>
                <c:pt idx="0">
                  <c:v>Total in Million USD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1.0424810194577852E-2"/>
                  <c:y val="6.96257615317667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5D5-4759-9FB2-3CFF6CEF987A}"/>
                </c:ext>
              </c:extLst>
            </c:dLbl>
            <c:dLbl>
              <c:idx val="1"/>
              <c:layout>
                <c:manualLayout>
                  <c:x val="1.667969631132448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5D5-4759-9FB2-3CFF6CEF987A}"/>
                </c:ext>
              </c:extLst>
            </c:dLbl>
            <c:dLbl>
              <c:idx val="2"/>
              <c:layout>
                <c:manualLayout>
                  <c:x val="1.6679696311324561E-2"/>
                  <c:y val="-3.48128807658833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5D5-4759-9FB2-3CFF6CEF987A}"/>
                </c:ext>
              </c:extLst>
            </c:dLbl>
            <c:dLbl>
              <c:idx val="3"/>
              <c:layout>
                <c:manualLayout>
                  <c:x val="2.2197644706143761E-2"/>
                  <c:y val="-1.29437428668277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5D5-4759-9FB2-3CFF6CEF987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6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'Export Order Acquisition '!$C$4:$F$5</c:f>
              <c:multiLvlStrCache>
                <c:ptCount val="4"/>
                <c:lvl>
                  <c:pt idx="0">
                    <c:v>(in Cr)</c:v>
                  </c:pt>
                  <c:pt idx="1">
                    <c:v>(in Cr)</c:v>
                  </c:pt>
                  <c:pt idx="2">
                    <c:v>(in Cr)</c:v>
                  </c:pt>
                  <c:pt idx="3">
                    <c:v>(in Cr) </c:v>
                  </c:pt>
                </c:lvl>
                <c:lvl>
                  <c:pt idx="0">
                    <c:v>2024-25</c:v>
                  </c:pt>
                  <c:pt idx="1">
                    <c:v>2025-26</c:v>
                  </c:pt>
                  <c:pt idx="2">
                    <c:v>2026-27</c:v>
                  </c:pt>
                  <c:pt idx="3">
                    <c:v>2027-28</c:v>
                  </c:pt>
                </c:lvl>
              </c:multiLvlStrCache>
            </c:multiLvlStrRef>
          </c:cat>
          <c:val>
            <c:numRef>
              <c:f>'Export Order Acquisition '!$C$11:$F$11</c:f>
              <c:numCache>
                <c:formatCode>General</c:formatCode>
                <c:ptCount val="4"/>
                <c:pt idx="0">
                  <c:v>18.5</c:v>
                </c:pt>
                <c:pt idx="1">
                  <c:v>18.8</c:v>
                </c:pt>
                <c:pt idx="2">
                  <c:v>22.3</c:v>
                </c:pt>
                <c:pt idx="3">
                  <c:v>28.2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5D5-4759-9FB2-3CFF6CEF98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533696"/>
        <c:axId val="133535616"/>
      </c:barChart>
      <c:lineChart>
        <c:grouping val="standard"/>
        <c:varyColors val="0"/>
        <c:ser>
          <c:idx val="4"/>
          <c:order val="4"/>
          <c:tx>
            <c:strRef>
              <c:f>'Export Order Acquisition '!$B$10</c:f>
              <c:strCache>
                <c:ptCount val="1"/>
                <c:pt idx="0">
                  <c:v>Total in Crores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'Export Order Acquisition '!$C$4:$F$5</c:f>
              <c:multiLvlStrCache>
                <c:ptCount val="4"/>
                <c:lvl>
                  <c:pt idx="0">
                    <c:v>(in Cr)</c:v>
                  </c:pt>
                  <c:pt idx="1">
                    <c:v>(in Cr)</c:v>
                  </c:pt>
                  <c:pt idx="2">
                    <c:v>(in Cr)</c:v>
                  </c:pt>
                  <c:pt idx="3">
                    <c:v>(in Cr) </c:v>
                  </c:pt>
                </c:lvl>
                <c:lvl>
                  <c:pt idx="0">
                    <c:v>2024-25</c:v>
                  </c:pt>
                  <c:pt idx="1">
                    <c:v>2025-26</c:v>
                  </c:pt>
                  <c:pt idx="2">
                    <c:v>2026-27</c:v>
                  </c:pt>
                  <c:pt idx="3">
                    <c:v>2027-28</c:v>
                  </c:pt>
                </c:lvl>
              </c:multiLvlStrCache>
            </c:multiLvlStrRef>
          </c:cat>
          <c:val>
            <c:numRef>
              <c:f>'Export Order Acquisition '!$C$10:$F$10</c:f>
              <c:numCache>
                <c:formatCode>General</c:formatCode>
                <c:ptCount val="4"/>
                <c:pt idx="0">
                  <c:v>155</c:v>
                </c:pt>
                <c:pt idx="1">
                  <c:v>160</c:v>
                </c:pt>
                <c:pt idx="2">
                  <c:v>190</c:v>
                </c:pt>
                <c:pt idx="3">
                  <c:v>240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85D5-4759-9FB2-3CFF6CEF98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533696"/>
        <c:axId val="133535616"/>
      </c:lineChart>
      <c:catAx>
        <c:axId val="1335336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>
                    <a:solidFill>
                      <a:schemeClr val="bg2">
                        <a:lumMod val="10000"/>
                      </a:schemeClr>
                    </a:solidFill>
                  </a:rPr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2">
                      <a:lumMod val="1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535616"/>
        <c:crosses val="autoZero"/>
        <c:auto val="1"/>
        <c:lblAlgn val="ctr"/>
        <c:lblOffset val="100"/>
        <c:noMultiLvlLbl val="0"/>
      </c:catAx>
      <c:valAx>
        <c:axId val="133535616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bg1">
                  <a:lumMod val="85000"/>
                  <a:alpha val="93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>
                    <a:solidFill>
                      <a:schemeClr val="bg2">
                        <a:lumMod val="10000"/>
                      </a:schemeClr>
                    </a:solidFill>
                  </a:rPr>
                  <a:t>value in crores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2">
                      <a:lumMod val="1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533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28575" cap="flat" cmpd="sng" algn="ctr">
      <a:solidFill>
        <a:schemeClr val="bg2">
          <a:lumMod val="10000"/>
        </a:schemeClr>
      </a:solidFill>
      <a:prstDash val="dash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ysClr val="windowText" lastClr="000000"/>
                </a:solidFill>
                <a:effectLst/>
              </a:rPr>
              <a:t>Summary of Order Acquisition (in Crores)</a:t>
            </a:r>
            <a:endParaRPr lang="en-IN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summary!$B$5</c:f>
              <c:strCache>
                <c:ptCount val="1"/>
                <c:pt idx="0">
                  <c:v>Software Business (Domestic)</c:v>
                </c:pt>
              </c:strCache>
            </c:strRef>
          </c:tx>
          <c:spPr>
            <a:solidFill>
              <a:schemeClr val="tx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summary!$C$4:$F$4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 </c:v>
                </c:pt>
              </c:strCache>
            </c:strRef>
          </c:cat>
          <c:val>
            <c:numRef>
              <c:f>summary!$C$5:$F$5</c:f>
              <c:numCache>
                <c:formatCode>General</c:formatCode>
                <c:ptCount val="4"/>
                <c:pt idx="0">
                  <c:v>1220</c:v>
                </c:pt>
                <c:pt idx="1">
                  <c:v>255</c:v>
                </c:pt>
                <c:pt idx="2">
                  <c:v>350</c:v>
                </c:pt>
                <c:pt idx="3">
                  <c:v>465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A1-49F6-94CD-103CAFDFF2CE}"/>
            </c:ext>
          </c:extLst>
        </c:ser>
        <c:ser>
          <c:idx val="1"/>
          <c:order val="1"/>
          <c:tx>
            <c:strRef>
              <c:f>summary!$B$6</c:f>
              <c:strCache>
                <c:ptCount val="1"/>
                <c:pt idx="0">
                  <c:v>Exports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summary!$C$4:$F$4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 </c:v>
                </c:pt>
              </c:strCache>
            </c:strRef>
          </c:cat>
          <c:val>
            <c:numRef>
              <c:f>summary!$C$6:$F$6</c:f>
              <c:numCache>
                <c:formatCode>General</c:formatCode>
                <c:ptCount val="4"/>
                <c:pt idx="0">
                  <c:v>155</c:v>
                </c:pt>
                <c:pt idx="1">
                  <c:v>160</c:v>
                </c:pt>
                <c:pt idx="2">
                  <c:v>190</c:v>
                </c:pt>
                <c:pt idx="3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A1-49F6-94CD-103CAFDFF2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34029696"/>
        <c:axId val="134031616"/>
      </c:barChart>
      <c:lineChart>
        <c:grouping val="standard"/>
        <c:varyColors val="0"/>
        <c:ser>
          <c:idx val="2"/>
          <c:order val="2"/>
          <c:tx>
            <c:strRef>
              <c:f>summary!$B$7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tx1">
                  <a:lumMod val="95000"/>
                  <a:lumOff val="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solidFill>
                  <a:sysClr val="windowText" lastClr="000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summary!$C$4:$F$4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 </c:v>
                </c:pt>
              </c:strCache>
            </c:strRef>
          </c:cat>
          <c:val>
            <c:numRef>
              <c:f>summary!$C$7:$F$7</c:f>
              <c:numCache>
                <c:formatCode>General</c:formatCode>
                <c:ptCount val="4"/>
                <c:pt idx="0">
                  <c:v>1375</c:v>
                </c:pt>
                <c:pt idx="1">
                  <c:v>415</c:v>
                </c:pt>
                <c:pt idx="2">
                  <c:v>540</c:v>
                </c:pt>
                <c:pt idx="3">
                  <c:v>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A1-49F6-94CD-103CAFDFF2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029696"/>
        <c:axId val="134031616"/>
      </c:lineChart>
      <c:catAx>
        <c:axId val="1340296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50">
                    <a:solidFill>
                      <a:sysClr val="windowText" lastClr="000000"/>
                    </a:solidFill>
                  </a:rPr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31616"/>
        <c:crosses val="autoZero"/>
        <c:auto val="1"/>
        <c:lblAlgn val="ctr"/>
        <c:lblOffset val="100"/>
        <c:noMultiLvlLbl val="0"/>
      </c:catAx>
      <c:valAx>
        <c:axId val="13403161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50">
                    <a:solidFill>
                      <a:sysClr val="windowText" lastClr="000000"/>
                    </a:solidFill>
                  </a:rPr>
                  <a:t>value</a:t>
                </a:r>
                <a:r>
                  <a:rPr lang="en-IN" sz="1050" baseline="0">
                    <a:solidFill>
                      <a:sysClr val="windowText" lastClr="000000"/>
                    </a:solidFill>
                  </a:rPr>
                  <a:t> in crores</a:t>
                </a:r>
                <a:endParaRPr lang="en-IN" sz="105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29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smConfetti">
      <a:fgClr>
        <a:schemeClr val="bg1">
          <a:lumMod val="85000"/>
        </a:schemeClr>
      </a:fgClr>
      <a:bgClr>
        <a:schemeClr val="bg1"/>
      </a:bgClr>
    </a:pattFill>
    <a:ln w="28575" cap="flat" cmpd="sng" algn="ctr">
      <a:solidFill>
        <a:sysClr val="windowText" lastClr="000000"/>
      </a:solidFill>
      <a:prstDash val="dash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1">
                <a:solidFill>
                  <a:schemeClr val="tx2">
                    <a:lumMod val="50000"/>
                  </a:schemeClr>
                </a:solidFill>
              </a:rPr>
              <a:t>Execution Plan for Software SBU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'Execution Plan'!$A$5</c:f>
              <c:strCache>
                <c:ptCount val="1"/>
                <c:pt idx="0">
                  <c:v>SW Business (Direct)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0418580908626851E-3"/>
                  <c:y val="5.98503740648379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390-4782-A09B-161E48FC0DDB}"/>
                </c:ext>
              </c:extLst>
            </c:dLbl>
            <c:dLbl>
              <c:idx val="1"/>
              <c:layout>
                <c:manualLayout>
                  <c:x val="0"/>
                  <c:y val="5.98503740648379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390-4782-A09B-161E48FC0DDB}"/>
                </c:ext>
              </c:extLst>
            </c:dLbl>
            <c:dLbl>
              <c:idx val="2"/>
              <c:layout>
                <c:manualLayout>
                  <c:x val="0"/>
                  <c:y val="6.31753948462177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390-4782-A09B-161E48FC0DDB}"/>
                </c:ext>
              </c:extLst>
            </c:dLbl>
            <c:dLbl>
              <c:idx val="3"/>
              <c:layout>
                <c:manualLayout>
                  <c:x val="2.0418580908626851E-3"/>
                  <c:y val="6.31753948462177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390-4782-A09B-161E48FC0DD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'Execution Plan'!$B$4:$E$4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</c:v>
                </c:pt>
              </c:strCache>
            </c:strRef>
          </c:cat>
          <c:val>
            <c:numRef>
              <c:f>'Execution Plan'!$B$5:$E$5</c:f>
              <c:numCache>
                <c:formatCode>General</c:formatCode>
                <c:ptCount val="4"/>
                <c:pt idx="0">
                  <c:v>146</c:v>
                </c:pt>
                <c:pt idx="1">
                  <c:v>200</c:v>
                </c:pt>
                <c:pt idx="2">
                  <c:v>280</c:v>
                </c:pt>
                <c:pt idx="3">
                  <c:v>350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390-4782-A09B-161E48FC0DDB}"/>
            </c:ext>
          </c:extLst>
        </c:ser>
        <c:ser>
          <c:idx val="1"/>
          <c:order val="1"/>
          <c:tx>
            <c:strRef>
              <c:f>'Execution Plan'!$A$6</c:f>
              <c:strCache>
                <c:ptCount val="1"/>
                <c:pt idx="0">
                  <c:v>IDST/IUST</c:v>
                </c:pt>
              </c:strCache>
            </c:strRef>
          </c:tx>
          <c:spPr>
            <a:solidFill>
              <a:srgbClr val="EB1D5D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3.7433632562631523E-17"/>
                  <c:y val="5.98503740648379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390-4782-A09B-161E48FC0DDB}"/>
                </c:ext>
              </c:extLst>
            </c:dLbl>
            <c:dLbl>
              <c:idx val="1"/>
              <c:layout>
                <c:manualLayout>
                  <c:x val="4.0837161817252948E-3"/>
                  <c:y val="6.65004156275976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390-4782-A09B-161E48FC0DDB}"/>
                </c:ext>
              </c:extLst>
            </c:dLbl>
            <c:dLbl>
              <c:idx val="2"/>
              <c:layout>
                <c:manualLayout>
                  <c:x val="6.1255742725879799E-3"/>
                  <c:y val="6.31753948462176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390-4782-A09B-161E48FC0DDB}"/>
                </c:ext>
              </c:extLst>
            </c:dLbl>
            <c:dLbl>
              <c:idx val="3"/>
              <c:layout>
                <c:manualLayout>
                  <c:x val="6.1255742725880554E-3"/>
                  <c:y val="6.6500415627597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390-4782-A09B-161E48FC0DD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'Execution Plan'!$B$4:$E$4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</c:v>
                </c:pt>
              </c:strCache>
            </c:strRef>
          </c:cat>
          <c:val>
            <c:numRef>
              <c:f>'Execution Plan'!$B$6:$E$6</c:f>
              <c:numCache>
                <c:formatCode>General</c:formatCode>
                <c:ptCount val="4"/>
                <c:pt idx="0">
                  <c:v>136</c:v>
                </c:pt>
                <c:pt idx="1">
                  <c:v>145</c:v>
                </c:pt>
                <c:pt idx="2">
                  <c:v>155</c:v>
                </c:pt>
                <c:pt idx="3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390-4782-A09B-161E48FC0D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0"/>
        <c:axId val="133825664"/>
        <c:axId val="133827584"/>
      </c:barChart>
      <c:lineChart>
        <c:grouping val="standard"/>
        <c:varyColors val="0"/>
        <c:ser>
          <c:idx val="2"/>
          <c:order val="2"/>
          <c:tx>
            <c:strRef>
              <c:f>'Execution Plan'!$A$7</c:f>
              <c:strCache>
                <c:ptCount val="1"/>
                <c:pt idx="0">
                  <c:v>Total Turnover</c:v>
                </c:pt>
              </c:strCache>
            </c:strRef>
          </c:tx>
          <c:spPr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'Execution Plan'!$B$4:$E$4</c:f>
              <c:strCache>
                <c:ptCount val="4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  <c:pt idx="3">
                  <c:v>2027-28</c:v>
                </c:pt>
              </c:strCache>
            </c:strRef>
          </c:cat>
          <c:val>
            <c:numRef>
              <c:f>'Execution Plan'!$B$7:$E$7</c:f>
              <c:numCache>
                <c:formatCode>General</c:formatCode>
                <c:ptCount val="4"/>
                <c:pt idx="0">
                  <c:v>282</c:v>
                </c:pt>
                <c:pt idx="1">
                  <c:v>345</c:v>
                </c:pt>
                <c:pt idx="2">
                  <c:v>435</c:v>
                </c:pt>
                <c:pt idx="3">
                  <c:v>520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9390-4782-A09B-161E48FC0D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868160"/>
        <c:axId val="133866624"/>
      </c:lineChart>
      <c:catAx>
        <c:axId val="1338256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>
                    <a:solidFill>
                      <a:schemeClr val="tx2">
                        <a:lumMod val="50000"/>
                      </a:schemeClr>
                    </a:solidFill>
                  </a:rPr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827584"/>
        <c:crosses val="autoZero"/>
        <c:auto val="1"/>
        <c:lblAlgn val="ctr"/>
        <c:lblOffset val="100"/>
        <c:noMultiLvlLbl val="0"/>
      </c:catAx>
      <c:valAx>
        <c:axId val="133827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100">
                    <a:solidFill>
                      <a:schemeClr val="tx2">
                        <a:lumMod val="50000"/>
                      </a:schemeClr>
                    </a:solidFill>
                  </a:rPr>
                  <a:t>value</a:t>
                </a:r>
                <a:r>
                  <a:rPr lang="en-IN" sz="1100" baseline="0">
                    <a:solidFill>
                      <a:schemeClr val="tx2">
                        <a:lumMod val="50000"/>
                      </a:schemeClr>
                    </a:solidFill>
                  </a:rPr>
                  <a:t> in crores</a:t>
                </a:r>
                <a:endParaRPr lang="en-IN" sz="1100">
                  <a:solidFill>
                    <a:schemeClr val="tx2">
                      <a:lumMod val="50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825664"/>
        <c:crosses val="autoZero"/>
        <c:crossBetween val="between"/>
      </c:valAx>
      <c:valAx>
        <c:axId val="13386662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50">
                <a:solidFill>
                  <a:schemeClr val="tx2">
                    <a:lumMod val="50000"/>
                  </a:schemeClr>
                </a:solidFill>
              </a:defRPr>
            </a:pPr>
            <a:endParaRPr lang="en-US"/>
          </a:p>
        </c:txPr>
        <c:crossAx val="133868160"/>
        <c:crosses val="max"/>
        <c:crossBetween val="between"/>
      </c:valAx>
      <c:catAx>
        <c:axId val="133868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386662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  <a:sp3d/>
      </c:spPr>
    </c:plotArea>
    <c:legend>
      <c:legendPos val="t"/>
      <c:layout>
        <c:manualLayout>
          <c:xMode val="edge"/>
          <c:yMode val="edge"/>
          <c:x val="0.27568164299360787"/>
          <c:y val="8.0694991271898248E-2"/>
          <c:w val="0.4543985294831549"/>
          <c:h val="5.54464648524593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28575" cap="flat" cmpd="sng" algn="ctr">
      <a:solidFill>
        <a:schemeClr val="tx2">
          <a:lumMod val="50000"/>
        </a:schemeClr>
      </a:solidFill>
      <a:prstDash val="dash"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92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>
            <a:lumMod val="75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>
            <a:lumMod val="75000"/>
          </a:schemeClr>
        </a:solidFill>
      </a:ln>
      <a:scene3d>
        <a:camera prst="orthographicFront"/>
        <a:lightRig rig="threePt" dir="t"/>
      </a:scene3d>
      <a:sp3d prstMaterial="translucentPowder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  <a:ln>
        <a:solidFill>
          <a:schemeClr val="phClr">
            <a:lumMod val="7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lt1"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0" kern="1200" cap="none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712" cy="49680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9832"/>
            <a:ext cx="2945712" cy="496807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376" y="9429832"/>
            <a:ext cx="2945712" cy="496807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3B7F247-E04C-4246-9788-A502BC0A5D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186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712" cy="49680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376" y="1"/>
            <a:ext cx="2945712" cy="49680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1127BAE-F725-459A-BBF0-243B3CB78493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6688" y="742950"/>
            <a:ext cx="6465887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15709"/>
            <a:ext cx="5439092" cy="4468097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9832"/>
            <a:ext cx="2945712" cy="496807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376" y="9429832"/>
            <a:ext cx="2945712" cy="496807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AB8EBC3-3BBC-40E2-B1FF-94FAE2B39A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877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599069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198138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79720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39627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995346" algn="l" defTabSz="119813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94415" algn="l" defTabSz="119813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93484" algn="l" defTabSz="119813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92553" algn="l" defTabSz="119813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>
            <a:extLst>
              <a:ext uri="{FF2B5EF4-FFF2-40B4-BE49-F238E27FC236}">
                <a16:creationId xmlns:a16="http://schemas.microsoft.com/office/drawing/2014/main" id="{98269B7C-1E1B-0B70-90AA-BAB94E762F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66688" y="744538"/>
            <a:ext cx="6464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Notes Placeholder 2">
            <a:extLst>
              <a:ext uri="{FF2B5EF4-FFF2-40B4-BE49-F238E27FC236}">
                <a16:creationId xmlns:a16="http://schemas.microsoft.com/office/drawing/2014/main" id="{1ACFBB67-C3B2-C28A-28E1-05367F3728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741363" lvl="1" indent="-284163" defTabSz="912813">
              <a:spcBef>
                <a:spcPct val="20000"/>
              </a:spcBef>
            </a:pPr>
            <a:endParaRPr lang="en-US" altLang="en-US"/>
          </a:p>
        </p:txBody>
      </p:sp>
      <p:sp>
        <p:nvSpPr>
          <p:cNvPr id="124932" name="Slide Number Placeholder 3">
            <a:extLst>
              <a:ext uri="{FF2B5EF4-FFF2-40B4-BE49-F238E27FC236}">
                <a16:creationId xmlns:a16="http://schemas.microsoft.com/office/drawing/2014/main" id="{0B68E9D4-E298-3246-B1F6-17ACC5CAD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4684630-1DDE-6140-86C9-81024F68B419}" type="slidenum">
              <a:rPr lang="en-US" altLang="en-US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>
            <a:extLst>
              <a:ext uri="{FF2B5EF4-FFF2-40B4-BE49-F238E27FC236}">
                <a16:creationId xmlns:a16="http://schemas.microsoft.com/office/drawing/2014/main" id="{D0257EA6-DB37-7A20-3E97-944D9D76C0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Notes Placeholder 2">
            <a:extLst>
              <a:ext uri="{FF2B5EF4-FFF2-40B4-BE49-F238E27FC236}">
                <a16:creationId xmlns:a16="http://schemas.microsoft.com/office/drawing/2014/main" id="{19928CDE-550B-884C-59C6-C0F6A7859E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37220" name="Slide Number Placeholder 3">
            <a:extLst>
              <a:ext uri="{FF2B5EF4-FFF2-40B4-BE49-F238E27FC236}">
                <a16:creationId xmlns:a16="http://schemas.microsoft.com/office/drawing/2014/main" id="{3D702493-BC98-45E1-24CF-FE5E73DC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6E459AA-F9E8-4D4D-A1A2-4583795B1E47}" type="slidenum"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2</a:t>
            </a:fld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>
            <a:extLst>
              <a:ext uri="{FF2B5EF4-FFF2-40B4-BE49-F238E27FC236}">
                <a16:creationId xmlns:a16="http://schemas.microsoft.com/office/drawing/2014/main" id="{D0257EA6-DB37-7A20-3E97-944D9D76C0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Notes Placeholder 2">
            <a:extLst>
              <a:ext uri="{FF2B5EF4-FFF2-40B4-BE49-F238E27FC236}">
                <a16:creationId xmlns:a16="http://schemas.microsoft.com/office/drawing/2014/main" id="{19928CDE-550B-884C-59C6-C0F6A7859E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37220" name="Slide Number Placeholder 3">
            <a:extLst>
              <a:ext uri="{FF2B5EF4-FFF2-40B4-BE49-F238E27FC236}">
                <a16:creationId xmlns:a16="http://schemas.microsoft.com/office/drawing/2014/main" id="{3D702493-BC98-45E1-24CF-FE5E73DC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6E459AA-F9E8-4D4D-A1A2-4583795B1E47}" type="slidenum"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3</a:t>
            </a:fld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>
            <a:extLst>
              <a:ext uri="{FF2B5EF4-FFF2-40B4-BE49-F238E27FC236}">
                <a16:creationId xmlns:a16="http://schemas.microsoft.com/office/drawing/2014/main" id="{D0257EA6-DB37-7A20-3E97-944D9D76C0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Notes Placeholder 2">
            <a:extLst>
              <a:ext uri="{FF2B5EF4-FFF2-40B4-BE49-F238E27FC236}">
                <a16:creationId xmlns:a16="http://schemas.microsoft.com/office/drawing/2014/main" id="{19928CDE-550B-884C-59C6-C0F6A7859E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37220" name="Slide Number Placeholder 3">
            <a:extLst>
              <a:ext uri="{FF2B5EF4-FFF2-40B4-BE49-F238E27FC236}">
                <a16:creationId xmlns:a16="http://schemas.microsoft.com/office/drawing/2014/main" id="{3D702493-BC98-45E1-24CF-FE5E73DC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6E459AA-F9E8-4D4D-A1A2-4583795B1E47}" type="slidenum"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4</a:t>
            </a:fld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>
            <a:extLst>
              <a:ext uri="{FF2B5EF4-FFF2-40B4-BE49-F238E27FC236}">
                <a16:creationId xmlns:a16="http://schemas.microsoft.com/office/drawing/2014/main" id="{D0257EA6-DB37-7A20-3E97-944D9D76C0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Notes Placeholder 2">
            <a:extLst>
              <a:ext uri="{FF2B5EF4-FFF2-40B4-BE49-F238E27FC236}">
                <a16:creationId xmlns:a16="http://schemas.microsoft.com/office/drawing/2014/main" id="{19928CDE-550B-884C-59C6-C0F6A7859E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37220" name="Slide Number Placeholder 3">
            <a:extLst>
              <a:ext uri="{FF2B5EF4-FFF2-40B4-BE49-F238E27FC236}">
                <a16:creationId xmlns:a16="http://schemas.microsoft.com/office/drawing/2014/main" id="{3D702493-BC98-45E1-24CF-FE5E73DC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6E459AA-F9E8-4D4D-A1A2-4583795B1E47}" type="slidenum"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5</a:t>
            </a:fld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>
            <a:extLst>
              <a:ext uri="{FF2B5EF4-FFF2-40B4-BE49-F238E27FC236}">
                <a16:creationId xmlns:a16="http://schemas.microsoft.com/office/drawing/2014/main" id="{39B91EB0-7C8A-4DDC-6BC1-020CB78F2F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66688" y="744538"/>
            <a:ext cx="6464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Notes Placeholder 2">
            <a:extLst>
              <a:ext uri="{FF2B5EF4-FFF2-40B4-BE49-F238E27FC236}">
                <a16:creationId xmlns:a16="http://schemas.microsoft.com/office/drawing/2014/main" id="{32BE5FAB-F8CC-CE23-38F1-0E9EF3908B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42340" name="Slide Number Placeholder 3">
            <a:extLst>
              <a:ext uri="{FF2B5EF4-FFF2-40B4-BE49-F238E27FC236}">
                <a16:creationId xmlns:a16="http://schemas.microsoft.com/office/drawing/2014/main" id="{619D31C4-4E49-5C2E-3062-774A9536F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0900122-B9FB-194C-9C85-3D2306F6F8DF}" type="slidenum"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7</a:t>
            </a:fld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758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>
            <a:extLst>
              <a:ext uri="{FF2B5EF4-FFF2-40B4-BE49-F238E27FC236}">
                <a16:creationId xmlns:a16="http://schemas.microsoft.com/office/drawing/2014/main" id="{39B91EB0-7C8A-4DDC-6BC1-020CB78F2F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66688" y="744538"/>
            <a:ext cx="6464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Notes Placeholder 2">
            <a:extLst>
              <a:ext uri="{FF2B5EF4-FFF2-40B4-BE49-F238E27FC236}">
                <a16:creationId xmlns:a16="http://schemas.microsoft.com/office/drawing/2014/main" id="{32BE5FAB-F8CC-CE23-38F1-0E9EF3908B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42340" name="Slide Number Placeholder 3">
            <a:extLst>
              <a:ext uri="{FF2B5EF4-FFF2-40B4-BE49-F238E27FC236}">
                <a16:creationId xmlns:a16="http://schemas.microsoft.com/office/drawing/2014/main" id="{619D31C4-4E49-5C2E-3062-774A9536F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0900122-B9FB-194C-9C85-3D2306F6F8DF}" type="slidenum"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9</a:t>
            </a:fld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>
            <a:extLst>
              <a:ext uri="{FF2B5EF4-FFF2-40B4-BE49-F238E27FC236}">
                <a16:creationId xmlns:a16="http://schemas.microsoft.com/office/drawing/2014/main" id="{39B91EB0-7C8A-4DDC-6BC1-020CB78F2F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66688" y="744538"/>
            <a:ext cx="6464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Notes Placeholder 2">
            <a:extLst>
              <a:ext uri="{FF2B5EF4-FFF2-40B4-BE49-F238E27FC236}">
                <a16:creationId xmlns:a16="http://schemas.microsoft.com/office/drawing/2014/main" id="{32BE5FAB-F8CC-CE23-38F1-0E9EF3908B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42340" name="Slide Number Placeholder 3">
            <a:extLst>
              <a:ext uri="{FF2B5EF4-FFF2-40B4-BE49-F238E27FC236}">
                <a16:creationId xmlns:a16="http://schemas.microsoft.com/office/drawing/2014/main" id="{619D31C4-4E49-5C2E-3062-774A9536F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0900122-B9FB-194C-9C85-3D2306F6F8DF}" type="slidenum"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12</a:t>
            </a:fld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150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>
            <a:extLst>
              <a:ext uri="{FF2B5EF4-FFF2-40B4-BE49-F238E27FC236}">
                <a16:creationId xmlns:a16="http://schemas.microsoft.com/office/drawing/2014/main" id="{39B91EB0-7C8A-4DDC-6BC1-020CB78F2F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66688" y="744538"/>
            <a:ext cx="6464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Notes Placeholder 2">
            <a:extLst>
              <a:ext uri="{FF2B5EF4-FFF2-40B4-BE49-F238E27FC236}">
                <a16:creationId xmlns:a16="http://schemas.microsoft.com/office/drawing/2014/main" id="{32BE5FAB-F8CC-CE23-38F1-0E9EF3908B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42340" name="Slide Number Placeholder 3">
            <a:extLst>
              <a:ext uri="{FF2B5EF4-FFF2-40B4-BE49-F238E27FC236}">
                <a16:creationId xmlns:a16="http://schemas.microsoft.com/office/drawing/2014/main" id="{619D31C4-4E49-5C2E-3062-774A9536F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0900122-B9FB-194C-9C85-3D2306F6F8DF}" type="slidenum"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14</a:t>
            </a:fld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812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>
            <a:extLst>
              <a:ext uri="{FF2B5EF4-FFF2-40B4-BE49-F238E27FC236}">
                <a16:creationId xmlns:a16="http://schemas.microsoft.com/office/drawing/2014/main" id="{39B91EB0-7C8A-4DDC-6BC1-020CB78F2F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66688" y="744538"/>
            <a:ext cx="6464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Notes Placeholder 2">
            <a:extLst>
              <a:ext uri="{FF2B5EF4-FFF2-40B4-BE49-F238E27FC236}">
                <a16:creationId xmlns:a16="http://schemas.microsoft.com/office/drawing/2014/main" id="{32BE5FAB-F8CC-CE23-38F1-0E9EF3908B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42340" name="Slide Number Placeholder 3">
            <a:extLst>
              <a:ext uri="{FF2B5EF4-FFF2-40B4-BE49-F238E27FC236}">
                <a16:creationId xmlns:a16="http://schemas.microsoft.com/office/drawing/2014/main" id="{619D31C4-4E49-5C2E-3062-774A9536F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0900122-B9FB-194C-9C85-3D2306F6F8DF}" type="slidenum"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15</a:t>
            </a:fld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812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>
            <a:extLst>
              <a:ext uri="{FF2B5EF4-FFF2-40B4-BE49-F238E27FC236}">
                <a16:creationId xmlns:a16="http://schemas.microsoft.com/office/drawing/2014/main" id="{C5AD7093-4930-8658-EDF8-985EADDAF6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66688" y="744538"/>
            <a:ext cx="6464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3" name="Notes Placeholder 2">
            <a:extLst>
              <a:ext uri="{FF2B5EF4-FFF2-40B4-BE49-F238E27FC236}">
                <a16:creationId xmlns:a16="http://schemas.microsoft.com/office/drawing/2014/main" id="{B1C5C220-02A7-7ACC-D792-FE6ED911AF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741363" lvl="1" indent="-284163" defTabSz="912813">
              <a:spcBef>
                <a:spcPct val="20000"/>
              </a:spcBef>
            </a:pPr>
            <a:endParaRPr lang="en-US" altLang="en-US"/>
          </a:p>
        </p:txBody>
      </p:sp>
      <p:sp>
        <p:nvSpPr>
          <p:cNvPr id="128004" name="Slide Number Placeholder 3">
            <a:extLst>
              <a:ext uri="{FF2B5EF4-FFF2-40B4-BE49-F238E27FC236}">
                <a16:creationId xmlns:a16="http://schemas.microsoft.com/office/drawing/2014/main" id="{1409E4D0-5F3A-C9E5-2B63-97F8E0266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209919E-956C-1D4A-AD3E-C6F6B182D601}" type="slidenum"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16</a:t>
            </a:fld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7AF08-062C-A34E-A26E-43759D659A27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433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>
            <a:extLst>
              <a:ext uri="{FF2B5EF4-FFF2-40B4-BE49-F238E27FC236}">
                <a16:creationId xmlns:a16="http://schemas.microsoft.com/office/drawing/2014/main" id="{19037493-68F1-86D0-B35C-468A1AAD83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27" name="Notes Placeholder 2">
            <a:extLst>
              <a:ext uri="{FF2B5EF4-FFF2-40B4-BE49-F238E27FC236}">
                <a16:creationId xmlns:a16="http://schemas.microsoft.com/office/drawing/2014/main" id="{369430DC-12F7-2D87-793E-401DB226FC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29028" name="Slide Number Placeholder 3">
            <a:extLst>
              <a:ext uri="{FF2B5EF4-FFF2-40B4-BE49-F238E27FC236}">
                <a16:creationId xmlns:a16="http://schemas.microsoft.com/office/drawing/2014/main" id="{D26E60EE-5341-AE48-65BE-CDE6A9C89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1F2F265-DE92-4045-9AC7-8A3A3A5E0E5A}" type="slidenum">
              <a:rPr lang="en-US" altLang="en-US">
                <a:latin typeface="Calibri" panose="020F0502020204030204" pitchFamily="34" charset="0"/>
              </a:rPr>
              <a:pPr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0" y="1444120"/>
            <a:ext cx="11880850" cy="1841958"/>
          </a:xfrm>
        </p:spPr>
        <p:txBody>
          <a:bodyPr>
            <a:spAutoFit/>
          </a:bodyPr>
          <a:lstStyle>
            <a:lvl1pPr>
              <a:spcAft>
                <a:spcPts val="1572"/>
              </a:spcAft>
              <a:defRPr/>
            </a:lvl1pPr>
            <a:lvl2pPr>
              <a:spcAft>
                <a:spcPts val="1572"/>
              </a:spcAft>
              <a:buFont typeface="Courier New" pitchFamily="49" charset="0"/>
              <a:buChar char="o"/>
              <a:defRPr/>
            </a:lvl2pPr>
            <a:lvl3pPr>
              <a:spcAft>
                <a:spcPts val="1572"/>
              </a:spcAft>
              <a:buFont typeface="Tahoma" pitchFamily="34" charset="0"/>
              <a:buChar char="−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024"/>
            <a:ext cx="11880850" cy="45603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C6E27-4E6B-4573-A74B-05BA9EB8F6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87" y="0"/>
            <a:ext cx="11724087" cy="684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8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20025" y="568467"/>
            <a:ext cx="4240803" cy="867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2D875-96B8-4EAA-8051-C2A3552950C6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47CF2-1868-4A4A-8593-BE1251B7B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198015" y="790814"/>
            <a:ext cx="11488048" cy="217533"/>
            <a:chOff x="457200" y="783758"/>
            <a:chExt cx="9289288" cy="261706"/>
          </a:xfrm>
          <a:solidFill>
            <a:srgbClr val="19C3FF"/>
          </a:solidFill>
        </p:grpSpPr>
        <p:sp>
          <p:nvSpPr>
            <p:cNvPr id="6" name="Rectangle 5"/>
            <p:cNvSpPr/>
            <p:nvPr/>
          </p:nvSpPr>
          <p:spPr>
            <a:xfrm>
              <a:off x="457200" y="990600"/>
              <a:ext cx="9289288" cy="548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ight Triangle 7"/>
            <p:cNvSpPr/>
            <p:nvPr/>
          </p:nvSpPr>
          <p:spPr>
            <a:xfrm>
              <a:off x="457200" y="783758"/>
              <a:ext cx="206844" cy="20684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377BC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94047" y="965479"/>
            <a:ext cx="9009646" cy="456036"/>
          </a:xfrm>
        </p:spPr>
        <p:txBody>
          <a:bodyPr>
            <a:noAutofit/>
          </a:bodyPr>
          <a:lstStyle>
            <a:lvl1pPr marL="0" indent="0">
              <a:buNone/>
              <a:defRPr sz="3700">
                <a:solidFill>
                  <a:srgbClr val="377BCD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4612B-976C-4DA1-82BA-6E5C78C76656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9D4603-4469-40DD-B49D-3DA2AC8455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4991076" y="6599654"/>
            <a:ext cx="175080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Company</a:t>
            </a:r>
            <a:r>
              <a:rPr lang="en-US" sz="11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1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Confidential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377BC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04524" y="912074"/>
            <a:ext cx="9116904" cy="435451"/>
          </a:xfrm>
        </p:spPr>
        <p:txBody>
          <a:bodyPr>
            <a:noAutofit/>
          </a:bodyPr>
          <a:lstStyle>
            <a:lvl1pPr marL="0" indent="0">
              <a:buNone/>
              <a:defRPr sz="3700">
                <a:solidFill>
                  <a:srgbClr val="377BCD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87" y="0"/>
            <a:ext cx="11724087" cy="684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024" y="304024"/>
            <a:ext cx="3343554" cy="76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6033246" y="3268257"/>
            <a:ext cx="5584000" cy="1368108"/>
          </a:xfrm>
          <a:prstGeom prst="rect">
            <a:avLst/>
          </a:prstGeom>
          <a:gradFill flip="none" rotWithShape="1">
            <a:gsLst>
              <a:gs pos="0">
                <a:srgbClr val="080808">
                  <a:lumMod val="0"/>
                  <a:alpha val="0"/>
                </a:srgbClr>
              </a:gs>
              <a:gs pos="67000">
                <a:schemeClr val="tx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9814" tIns="59907" rIns="119814" bIns="5990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7087708" y="3268259"/>
            <a:ext cx="4514723" cy="368392"/>
          </a:xfrm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FF2B5EF4-FFF2-40B4-BE49-F238E27FC236}">
                <a16:creationId xmlns:a16="http://schemas.microsoft.com/office/drawing/2014/main" id="{A6B5BFF2-B0AE-6131-2761-C3F3E52B9C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81" y="0"/>
            <a:ext cx="11724089" cy="684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425AA0F0-5E1A-0654-72CE-626352BFEE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024" y="567934"/>
            <a:ext cx="4240803" cy="867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578786-4725-AB31-FDB9-49AF78E71E8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336453" y="3753851"/>
            <a:ext cx="5098865" cy="975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9" tIns="59904" rIns="119809" bIns="59904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>
              <a:lnSpc>
                <a:spcPts val="3276"/>
              </a:lnSpc>
              <a:defRPr/>
            </a:pPr>
            <a:r>
              <a:rPr lang="en-US" b="1">
                <a:solidFill>
                  <a:srgbClr val="10253F"/>
                </a:solidFill>
              </a:rPr>
              <a:t>Shri. G. Mohan Kumar</a:t>
            </a:r>
          </a:p>
          <a:p>
            <a:pPr algn="r">
              <a:lnSpc>
                <a:spcPts val="3276"/>
              </a:lnSpc>
              <a:defRPr/>
            </a:pPr>
            <a:r>
              <a:rPr lang="en-US">
                <a:solidFill>
                  <a:srgbClr val="10253F"/>
                </a:solidFill>
              </a:rPr>
              <a:t>Secretary - Defence Production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ABE56-AB2C-F930-B255-AF5F21EFFF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336453" y="3327373"/>
            <a:ext cx="5098865" cy="548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9" tIns="59904" rIns="119809" bIns="59904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>
              <a:lnSpc>
                <a:spcPts val="3276"/>
              </a:lnSpc>
              <a:defRPr/>
            </a:pPr>
            <a:r>
              <a:rPr lang="en-US" sz="3700">
                <a:solidFill>
                  <a:srgbClr val="10253F"/>
                </a:solidFill>
              </a:rPr>
              <a:t>Hearty Welcome  to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00C121-8EAC-EA95-6D73-3992DBC98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83FACB4-FAFF-BA41-BF5A-BFC320F8E566}" type="datetime1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E2BC48-0146-CC01-2AF7-B6453FC7F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F299D4F-0945-12B9-917B-7F87668C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A241A365-6560-C445-AD19-71DC3ABFA0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7890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505" y="4395680"/>
            <a:ext cx="10098723" cy="1358607"/>
          </a:xfrm>
        </p:spPr>
        <p:txBody>
          <a:bodyPr anchor="t"/>
          <a:lstStyle>
            <a:lvl1pPr algn="l">
              <a:defRPr sz="5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505" y="2899316"/>
            <a:ext cx="10098723" cy="1496367"/>
          </a:xfrm>
        </p:spPr>
        <p:txBody>
          <a:bodyPr anchor="b"/>
          <a:lstStyle>
            <a:lvl1pPr marL="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1pPr>
            <a:lvl2pPr marL="59904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198089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7971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3961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9952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5942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1933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792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FD825-2D4D-8232-9551-9A3963D1A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54BE907-66F8-AE44-B5CC-50FF909844BA}" type="datetime1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4F793-FDD1-5396-BD10-F811F1289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9BAC2-4F0F-17B1-C42F-E739D17A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408FBA6D-4707-3B4E-A649-3605805346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4110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E:\source\Bharat electronics\BEL\2000px-Bharat_Electronics_logo.svg.png">
            <a:extLst>
              <a:ext uri="{FF2B5EF4-FFF2-40B4-BE49-F238E27FC236}">
                <a16:creationId xmlns:a16="http://schemas.microsoft.com/office/drawing/2014/main" id="{4BFFCB89-17AC-E042-7502-3EB5A72940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114" y="314581"/>
            <a:ext cx="2178156" cy="445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467406A-5043-B7EC-0C7B-72AC36F57726}"/>
              </a:ext>
            </a:extLst>
          </p:cNvPr>
          <p:cNvGrpSpPr/>
          <p:nvPr userDrawn="1"/>
        </p:nvGrpSpPr>
        <p:grpSpPr>
          <a:xfrm>
            <a:off x="198014" y="790814"/>
            <a:ext cx="11488047" cy="217533"/>
            <a:chOff x="457200" y="783758"/>
            <a:chExt cx="9289288" cy="261706"/>
          </a:xfrm>
          <a:solidFill>
            <a:srgbClr val="19C3FF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3C43A1-439E-1DC7-32F8-300DD925FEFE}"/>
                </a:ext>
              </a:extLst>
            </p:cNvPr>
            <p:cNvSpPr/>
            <p:nvPr/>
          </p:nvSpPr>
          <p:spPr>
            <a:xfrm>
              <a:off x="457200" y="990600"/>
              <a:ext cx="9289288" cy="548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8458D541-30F6-8D3B-41D0-573F226FD556}"/>
                </a:ext>
              </a:extLst>
            </p:cNvPr>
            <p:cNvSpPr/>
            <p:nvPr/>
          </p:nvSpPr>
          <p:spPr>
            <a:xfrm>
              <a:off x="457200" y="783758"/>
              <a:ext cx="206844" cy="20684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377BC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94042" y="965479"/>
            <a:ext cx="9009645" cy="456036"/>
          </a:xfrm>
        </p:spPr>
        <p:txBody>
          <a:bodyPr>
            <a:noAutofit/>
          </a:bodyPr>
          <a:lstStyle>
            <a:lvl1pPr marL="0" indent="0">
              <a:buNone/>
              <a:defRPr sz="3700">
                <a:solidFill>
                  <a:srgbClr val="377BCD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27E1B149-0F4F-CA01-4E9D-276C9D94118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C0842FF-B53C-5042-9C22-43BF36E11B07}" type="datetime1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D781E17-67DF-6393-F68B-D22478497C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B2F4624-94B1-7F43-CE03-3087DE24EF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AEDE002C-6460-104B-8A7F-9712D44CB4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6673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54419A-9E49-79F2-68C5-C718A9AA9CE6}"/>
              </a:ext>
            </a:extLst>
          </p:cNvPr>
          <p:cNvSpPr/>
          <p:nvPr userDrawn="1"/>
        </p:nvSpPr>
        <p:spPr>
          <a:xfrm>
            <a:off x="198014" y="152013"/>
            <a:ext cx="11488047" cy="658569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92000"/>
                </a:schemeClr>
              </a:gs>
              <a:gs pos="0">
                <a:srgbClr val="B7ECFF">
                  <a:alpha val="69000"/>
                  <a:lumMod val="36000"/>
                  <a:lumOff val="64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9809" tIns="59904" rIns="119809" bIns="59904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4" name="Picture 8" descr="E:\source\Bharat electronics\BEL\2000px-Bharat_Electronics_logo.svg.png">
            <a:extLst>
              <a:ext uri="{FF2B5EF4-FFF2-40B4-BE49-F238E27FC236}">
                <a16:creationId xmlns:a16="http://schemas.microsoft.com/office/drawing/2014/main" id="{2BFE0CF4-9D41-E32E-DAE0-4510782288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114" y="314581"/>
            <a:ext cx="2178156" cy="445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27">
            <a:extLst>
              <a:ext uri="{FF2B5EF4-FFF2-40B4-BE49-F238E27FC236}">
                <a16:creationId xmlns:a16="http://schemas.microsoft.com/office/drawing/2014/main" id="{9D54429F-197C-8484-EF25-3D332E5A1859}"/>
              </a:ext>
            </a:extLst>
          </p:cNvPr>
          <p:cNvGrpSpPr/>
          <p:nvPr userDrawn="1"/>
        </p:nvGrpSpPr>
        <p:grpSpPr>
          <a:xfrm>
            <a:off x="198014" y="790814"/>
            <a:ext cx="11488047" cy="217533"/>
            <a:chOff x="457200" y="783758"/>
            <a:chExt cx="9289288" cy="261706"/>
          </a:xfrm>
          <a:solidFill>
            <a:srgbClr val="19C3FF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04A6A0-4DC2-08C3-4578-7484FB72F687}"/>
                </a:ext>
              </a:extLst>
            </p:cNvPr>
            <p:cNvSpPr/>
            <p:nvPr/>
          </p:nvSpPr>
          <p:spPr>
            <a:xfrm>
              <a:off x="457200" y="990600"/>
              <a:ext cx="9289288" cy="548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F74DDC64-FC7F-5411-FA5B-3414DF7A6B20}"/>
                </a:ext>
              </a:extLst>
            </p:cNvPr>
            <p:cNvSpPr/>
            <p:nvPr/>
          </p:nvSpPr>
          <p:spPr>
            <a:xfrm>
              <a:off x="457200" y="783758"/>
              <a:ext cx="206844" cy="20684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377BC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04522" y="912073"/>
            <a:ext cx="9116902" cy="435451"/>
          </a:xfrm>
        </p:spPr>
        <p:txBody>
          <a:bodyPr>
            <a:noAutofit/>
          </a:bodyPr>
          <a:lstStyle>
            <a:lvl1pPr marL="0" indent="0">
              <a:buNone/>
              <a:defRPr sz="3700">
                <a:solidFill>
                  <a:srgbClr val="377BCD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05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377BC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94B129A-E6AF-4773-5088-19B443DF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8B9118B-AFFA-3C48-B4FE-C9B07EFF1B54}" type="datetime1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EFF7F-51DA-DB22-1E2A-A1F68FF17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1BD682D-E2BC-7D6D-3225-96714D34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A5EFA5CE-9ED6-F742-9FB0-D6B0EF3608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857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59186AC-88EB-5477-E60E-23F04AF3A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11BF432-C217-CE41-B63A-E1A76DA4F1B7}" type="datetime1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8F41AAB-2223-262F-9013-91E021F77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2227DB0-A5E9-B0FA-8FA9-872678B4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E35A93C-EB68-0C42-90EB-B95DDC477C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095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912072"/>
            <a:ext cx="11880850" cy="456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9814" tIns="59907" rIns="119814" bIns="599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0" y="1444116"/>
            <a:ext cx="11880850" cy="5108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9814" tIns="59907" rIns="119814" bIns="599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76101"/>
            <a:ext cx="2772198" cy="264437"/>
          </a:xfrm>
          <a:prstGeom prst="rect">
            <a:avLst/>
          </a:prstGeom>
        </p:spPr>
        <p:txBody>
          <a:bodyPr vert="horz" lIns="119814" tIns="59907" rIns="119814" bIns="59907" rtlCol="0" anchor="ctr"/>
          <a:lstStyle>
            <a:lvl1pPr algn="l">
              <a:defRPr sz="1300" b="1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8085" y="6576101"/>
            <a:ext cx="9504680" cy="264437"/>
          </a:xfrm>
          <a:prstGeom prst="rect">
            <a:avLst/>
          </a:prstGeom>
        </p:spPr>
        <p:txBody>
          <a:bodyPr vert="horz" lIns="119814" tIns="59907" rIns="119814" bIns="59907" rtlCol="0" anchor="ctr"/>
          <a:lstStyle>
            <a:lvl1pPr algn="ctr">
              <a:defRPr sz="1300" b="1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6810" y="6576101"/>
            <a:ext cx="594043" cy="264437"/>
          </a:xfrm>
          <a:prstGeom prst="rect">
            <a:avLst/>
          </a:prstGeom>
        </p:spPr>
        <p:txBody>
          <a:bodyPr vert="horz" lIns="119814" tIns="59907" rIns="119814" bIns="59907" rtlCol="0" anchor="ctr"/>
          <a:lstStyle>
            <a:lvl1pPr algn="r">
              <a:defRPr sz="1300" b="1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E68C6410-20F0-4EE6-91D7-4FD4271EF0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8" descr="E:\source\Bharat electronics\BEL\2000px-Bharat_Electronics_logo.svg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458946" y="67425"/>
            <a:ext cx="1370369" cy="27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8970" r:id="rId1"/>
    <p:sldLayoutId id="2147489077" r:id="rId2"/>
    <p:sldLayoutId id="2147489078" r:id="rId3"/>
    <p:sldLayoutId id="2147489079" r:id="rId4"/>
    <p:sldLayoutId id="2147489081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 b="1" kern="1200">
          <a:solidFill>
            <a:srgbClr val="CC33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CC3300"/>
          </a:solidFill>
          <a:latin typeface="Tahoma" pitchFamily="34" charset="0"/>
          <a:cs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CC3300"/>
          </a:solidFill>
          <a:latin typeface="Tahoma" pitchFamily="34" charset="0"/>
          <a:cs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CC3300"/>
          </a:solidFill>
          <a:latin typeface="Tahoma" pitchFamily="34" charset="0"/>
          <a:cs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CC3300"/>
          </a:solidFill>
          <a:latin typeface="Tahoma" pitchFamily="34" charset="0"/>
          <a:cs typeface="Tahoma" pitchFamily="34" charset="0"/>
        </a:defRPr>
      </a:lvl5pPr>
      <a:lvl6pPr marL="599069" algn="ctr" rtl="0" fontAlgn="base">
        <a:spcBef>
          <a:spcPct val="0"/>
        </a:spcBef>
        <a:spcAft>
          <a:spcPct val="0"/>
        </a:spcAft>
        <a:defRPr sz="3100" b="1">
          <a:solidFill>
            <a:srgbClr val="CC3300"/>
          </a:solidFill>
          <a:latin typeface="Tahoma" pitchFamily="34" charset="0"/>
          <a:cs typeface="Tahoma" pitchFamily="34" charset="0"/>
        </a:defRPr>
      </a:lvl6pPr>
      <a:lvl7pPr marL="1198138" algn="ctr" rtl="0" fontAlgn="base">
        <a:spcBef>
          <a:spcPct val="0"/>
        </a:spcBef>
        <a:spcAft>
          <a:spcPct val="0"/>
        </a:spcAft>
        <a:defRPr sz="3100" b="1">
          <a:solidFill>
            <a:srgbClr val="CC3300"/>
          </a:solidFill>
          <a:latin typeface="Tahoma" pitchFamily="34" charset="0"/>
          <a:cs typeface="Tahoma" pitchFamily="34" charset="0"/>
        </a:defRPr>
      </a:lvl7pPr>
      <a:lvl8pPr marL="1797207" algn="ctr" rtl="0" fontAlgn="base">
        <a:spcBef>
          <a:spcPct val="0"/>
        </a:spcBef>
        <a:spcAft>
          <a:spcPct val="0"/>
        </a:spcAft>
        <a:defRPr sz="3100" b="1">
          <a:solidFill>
            <a:srgbClr val="CC3300"/>
          </a:solidFill>
          <a:latin typeface="Tahoma" pitchFamily="34" charset="0"/>
          <a:cs typeface="Tahoma" pitchFamily="34" charset="0"/>
        </a:defRPr>
      </a:lvl8pPr>
      <a:lvl9pPr marL="2396277" algn="ctr" rtl="0" fontAlgn="base">
        <a:spcBef>
          <a:spcPct val="0"/>
        </a:spcBef>
        <a:spcAft>
          <a:spcPct val="0"/>
        </a:spcAft>
        <a:defRPr sz="3100" b="1">
          <a:solidFill>
            <a:srgbClr val="CC3300"/>
          </a:solidFill>
          <a:latin typeface="Tahoma" pitchFamily="34" charset="0"/>
          <a:cs typeface="Tahoma" pitchFamily="34" charset="0"/>
        </a:defRPr>
      </a:lvl9pPr>
    </p:titleStyle>
    <p:bodyStyle>
      <a:lvl1pPr marL="299535" indent="-299535" algn="l" rtl="0" eaLnBrk="0" fontAlgn="base" hangingPunct="0">
        <a:spcBef>
          <a:spcPct val="0"/>
        </a:spcBef>
        <a:spcAft>
          <a:spcPts val="786"/>
        </a:spcAft>
        <a:buClr>
          <a:srgbClr val="CC3300"/>
        </a:buClr>
        <a:buSzPct val="100000"/>
        <a:buFont typeface="Tahoma" pitchFamily="34" charset="0"/>
        <a:buChar char="•"/>
        <a:defRPr lang="en-US" sz="2600" b="1" kern="1200" dirty="0">
          <a:solidFill>
            <a:srgbClr val="0000FF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898604" indent="-299535" algn="l" rtl="0" eaLnBrk="0" fontAlgn="base" hangingPunct="0">
        <a:spcBef>
          <a:spcPct val="0"/>
        </a:spcBef>
        <a:spcAft>
          <a:spcPts val="786"/>
        </a:spcAft>
        <a:buClr>
          <a:srgbClr val="CC3300"/>
        </a:buClr>
        <a:buSzPct val="100000"/>
        <a:buFont typeface="Tahoma" pitchFamily="34" charset="0"/>
        <a:buChar char="•"/>
        <a:defRPr sz="2600" b="1" kern="1200">
          <a:solidFill>
            <a:srgbClr val="0000FF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497673" indent="-299535" algn="l" rtl="0" eaLnBrk="0" fontAlgn="base" hangingPunct="0">
        <a:spcBef>
          <a:spcPct val="0"/>
        </a:spcBef>
        <a:spcAft>
          <a:spcPts val="786"/>
        </a:spcAft>
        <a:buClr>
          <a:srgbClr val="CC3300"/>
        </a:buClr>
        <a:buSzPct val="100000"/>
        <a:buFont typeface="Tahoma" pitchFamily="34" charset="0"/>
        <a:buChar char="•"/>
        <a:defRPr sz="3100" b="1" kern="1200">
          <a:solidFill>
            <a:srgbClr val="0000FF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2096742" indent="-299535" algn="l" rtl="0" eaLnBrk="0" fontAlgn="base" hangingPunct="0">
        <a:spcBef>
          <a:spcPct val="0"/>
        </a:spcBef>
        <a:spcAft>
          <a:spcPts val="786"/>
        </a:spcAft>
        <a:buClr>
          <a:srgbClr val="CC3300"/>
        </a:buClr>
        <a:buSzPct val="100000"/>
        <a:buFont typeface="Tahoma" pitchFamily="34" charset="0"/>
        <a:buChar char="•"/>
        <a:defRPr sz="2100" b="1" kern="1200">
          <a:solidFill>
            <a:srgbClr val="0000FF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695811" indent="-299535" algn="l" rtl="0" eaLnBrk="0" fontAlgn="base" hangingPunct="0">
        <a:spcBef>
          <a:spcPct val="0"/>
        </a:spcBef>
        <a:spcAft>
          <a:spcPts val="786"/>
        </a:spcAft>
        <a:buClr>
          <a:srgbClr val="CC3300"/>
        </a:buClr>
        <a:buSzPct val="100000"/>
        <a:buFont typeface="Tahoma" pitchFamily="34" charset="0"/>
        <a:buChar char="•"/>
        <a:defRPr sz="2100" b="1" kern="1200">
          <a:solidFill>
            <a:srgbClr val="0000FF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3294880" indent="-299535" algn="l" defTabSz="1198138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93950" indent="-299535" algn="l" defTabSz="1198138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93019" indent="-299535" algn="l" defTabSz="1198138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92088" indent="-299535" algn="l" defTabSz="1198138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81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9069" algn="l" defTabSz="11981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8138" algn="l" defTabSz="11981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7207" algn="l" defTabSz="11981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6277" algn="l" defTabSz="11981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5346" algn="l" defTabSz="11981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94415" algn="l" defTabSz="11981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93484" algn="l" defTabSz="11981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92553" algn="l" defTabSz="11981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2000">
              <a:srgbClr val="5E9EFF">
                <a:lumMod val="0"/>
                <a:lumOff val="100000"/>
              </a:srgbClr>
            </a:gs>
            <a:gs pos="63000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59B83A-4AEE-29B9-622C-837A5A105528}"/>
              </a:ext>
            </a:extLst>
          </p:cNvPr>
          <p:cNvSpPr/>
          <p:nvPr/>
        </p:nvSpPr>
        <p:spPr>
          <a:xfrm>
            <a:off x="198014" y="152013"/>
            <a:ext cx="11488047" cy="658569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92000"/>
                </a:schemeClr>
              </a:gs>
              <a:gs pos="0">
                <a:srgbClr val="B7ECFF">
                  <a:alpha val="69000"/>
                  <a:lumMod val="36000"/>
                  <a:lumOff val="64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9809" tIns="59904" rIns="119809" bIns="59904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077" name="Text Placeholder 2">
            <a:extLst>
              <a:ext uri="{FF2B5EF4-FFF2-40B4-BE49-F238E27FC236}">
                <a16:creationId xmlns:a16="http://schemas.microsoft.com/office/drawing/2014/main" id="{E6C5DB66-191D-BC43-F27F-ADC26CCEF4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94043" y="1596126"/>
            <a:ext cx="10692765" cy="4513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19809" tIns="59904" rIns="119809" bIns="599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0ACD8-83C3-8495-7841-CC9C087B2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4043" y="6340167"/>
            <a:ext cx="2772198" cy="365250"/>
          </a:xfrm>
          <a:prstGeom prst="rect">
            <a:avLst/>
          </a:prstGeom>
        </p:spPr>
        <p:txBody>
          <a:bodyPr vert="horz" lIns="119809" tIns="59904" rIns="119809" bIns="59904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600">
                <a:solidFill>
                  <a:srgbClr val="1F497D">
                    <a:tint val="75000"/>
                  </a:srgb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417CCC5-4530-1A4A-B1CA-BC7F02C43C69}" type="datetime1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0433D-A1A1-E711-BDD4-8FBE7D58E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59291" y="6340167"/>
            <a:ext cx="3762269" cy="365250"/>
          </a:xfrm>
          <a:prstGeom prst="rect">
            <a:avLst/>
          </a:prstGeom>
        </p:spPr>
        <p:txBody>
          <a:bodyPr vert="horz" lIns="119809" tIns="59904" rIns="119809" bIns="59904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600">
                <a:solidFill>
                  <a:srgbClr val="1F497D">
                    <a:tint val="75000"/>
                  </a:srgb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BEF2B-FF08-9F50-03FF-12674BDB1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4609" y="6340167"/>
            <a:ext cx="2772198" cy="365250"/>
          </a:xfrm>
          <a:prstGeom prst="rect">
            <a:avLst/>
          </a:prstGeom>
        </p:spPr>
        <p:txBody>
          <a:bodyPr vert="horz" wrap="square" lIns="119809" tIns="59904" rIns="119809" bIns="59904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C95AA"/>
                </a:solidFill>
              </a:defRPr>
            </a:lvl1pPr>
          </a:lstStyle>
          <a:p>
            <a:fld id="{6747E70D-179B-D044-B05C-2B682289798F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1" name="Title Placeholder 1">
            <a:extLst>
              <a:ext uri="{FF2B5EF4-FFF2-40B4-BE49-F238E27FC236}">
                <a16:creationId xmlns:a16="http://schemas.microsoft.com/office/drawing/2014/main" id="{C6D2EB1C-C2F2-33D2-B867-C92EA6682B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94042" y="350473"/>
            <a:ext cx="8910638" cy="637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19809" tIns="59904" rIns="119809" bIns="599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180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9133" r:id="rId1"/>
    <p:sldLayoutId id="2147489134" r:id="rId2"/>
    <p:sldLayoutId id="2147489135" r:id="rId3"/>
    <p:sldLayoutId id="2147489136" r:id="rId4"/>
    <p:sldLayoutId id="2147489137" r:id="rId5"/>
    <p:sldLayoutId id="2147489138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rgbClr val="377BCD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377BCD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377BCD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377BCD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377BCD"/>
          </a:solidFill>
          <a:latin typeface="Arial" charset="0"/>
          <a:cs typeface="Arial" charset="0"/>
        </a:defRPr>
      </a:lvl5pPr>
      <a:lvl6pPr marL="599044" algn="l" rtl="0" fontAlgn="base">
        <a:spcBef>
          <a:spcPct val="0"/>
        </a:spcBef>
        <a:spcAft>
          <a:spcPct val="0"/>
        </a:spcAft>
        <a:defRPr sz="4200">
          <a:solidFill>
            <a:srgbClr val="377BCD"/>
          </a:solidFill>
          <a:latin typeface="Arial" charset="0"/>
          <a:cs typeface="Arial" charset="0"/>
        </a:defRPr>
      </a:lvl6pPr>
      <a:lvl7pPr marL="1198089" algn="l" rtl="0" fontAlgn="base">
        <a:spcBef>
          <a:spcPct val="0"/>
        </a:spcBef>
        <a:spcAft>
          <a:spcPct val="0"/>
        </a:spcAft>
        <a:defRPr sz="4200">
          <a:solidFill>
            <a:srgbClr val="377BCD"/>
          </a:solidFill>
          <a:latin typeface="Arial" charset="0"/>
          <a:cs typeface="Arial" charset="0"/>
        </a:defRPr>
      </a:lvl7pPr>
      <a:lvl8pPr marL="1797133" algn="l" rtl="0" fontAlgn="base">
        <a:spcBef>
          <a:spcPct val="0"/>
        </a:spcBef>
        <a:spcAft>
          <a:spcPct val="0"/>
        </a:spcAft>
        <a:defRPr sz="4200">
          <a:solidFill>
            <a:srgbClr val="377BCD"/>
          </a:solidFill>
          <a:latin typeface="Arial" charset="0"/>
          <a:cs typeface="Arial" charset="0"/>
        </a:defRPr>
      </a:lvl8pPr>
      <a:lvl9pPr marL="2396177" algn="l" rtl="0" fontAlgn="base">
        <a:spcBef>
          <a:spcPct val="0"/>
        </a:spcBef>
        <a:spcAft>
          <a:spcPct val="0"/>
        </a:spcAft>
        <a:defRPr sz="4200">
          <a:solidFill>
            <a:srgbClr val="377BCD"/>
          </a:solidFill>
          <a:latin typeface="Arial" charset="0"/>
          <a:cs typeface="Arial" charset="0"/>
        </a:defRPr>
      </a:lvl9pPr>
    </p:titleStyle>
    <p:bodyStyle>
      <a:lvl1pPr marL="447222" indent="-44722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71408" indent="-37233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495593" indent="-29745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094663" indent="-29745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693732" indent="-29745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294743" indent="-299523" algn="l" defTabSz="11980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93787" indent="-299523" algn="l" defTabSz="11980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92831" indent="-299523" algn="l" defTabSz="11980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91876" indent="-299523" algn="l" defTabSz="11980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80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9044" algn="l" defTabSz="11980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8089" algn="l" defTabSz="11980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7133" algn="l" defTabSz="11980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6177" algn="l" defTabSz="11980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5221" algn="l" defTabSz="11980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94266" algn="l" defTabSz="11980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93309" algn="l" defTabSz="11980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92354" algn="l" defTabSz="11980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20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122B76-BF4E-B435-BEF2-772A3427E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486391"/>
              </p:ext>
            </p:extLst>
          </p:nvPr>
        </p:nvGraphicFramePr>
        <p:xfrm>
          <a:off x="323801" y="1224141"/>
          <a:ext cx="4320479" cy="220677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463928069"/>
                    </a:ext>
                  </a:extLst>
                </a:gridCol>
                <a:gridCol w="937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9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>
                          <a:latin typeface="Yu Gothic UI Semibold" pitchFamily="34" charset="-128"/>
                          <a:ea typeface="Yu Gothic UI Semibold" pitchFamily="34" charset="-128"/>
                        </a:rPr>
                        <a:t>Sl.No</a:t>
                      </a:r>
                      <a:endParaRPr lang="en-IN" sz="1050" b="1" dirty="0">
                        <a:solidFill>
                          <a:schemeClr val="bg1"/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Yu Gothic UI Semibold" pitchFamily="34" charset="-128"/>
                          <a:ea typeface="Yu Gothic UI Semibold" pitchFamily="34" charset="-128"/>
                        </a:rPr>
                        <a:t>Year</a:t>
                      </a:r>
                      <a:endParaRPr lang="en-IN" sz="12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Yu Gothic UI Semibold" pitchFamily="34" charset="-128"/>
                          <a:ea typeface="Yu Gothic UI Semibold" pitchFamily="34" charset="-128"/>
                        </a:rPr>
                        <a:t>IDST</a:t>
                      </a:r>
                      <a:endParaRPr lang="en-IN" sz="12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Yu Gothic UI Semibold" pitchFamily="34" charset="-128"/>
                          <a:ea typeface="Yu Gothic UI Semibold" pitchFamily="34" charset="-128"/>
                        </a:rPr>
                        <a:t>IUST </a:t>
                      </a:r>
                      <a:endParaRPr lang="en-IN" sz="12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baseline="0" dirty="0">
                          <a:latin typeface="Yu Gothic UI Semibold" pitchFamily="34" charset="-128"/>
                          <a:ea typeface="Yu Gothic UI Semibold" pitchFamily="34" charset="-128"/>
                        </a:rPr>
                        <a:t>Direct order</a:t>
                      </a:r>
                      <a:endParaRPr lang="en-IN" sz="12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Yu Gothic UI Semibold" pitchFamily="34" charset="-128"/>
                          <a:ea typeface="Yu Gothic UI Semibold" pitchFamily="34" charset="-128"/>
                        </a:rPr>
                        <a:t>Total</a:t>
                      </a:r>
                      <a:endParaRPr lang="en-IN" sz="12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1</a:t>
                      </a:r>
                      <a:endParaRPr lang="en-IN" sz="1100" b="0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2020-21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30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4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10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44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IN" sz="1100" b="0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2021-22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35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8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28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71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3</a:t>
                      </a:r>
                      <a:endParaRPr lang="en-IN" sz="1100" b="0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2022-23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77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5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23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105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947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4</a:t>
                      </a:r>
                      <a:endParaRPr lang="en-IN" sz="1100" b="0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2023-24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362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88 </a:t>
                      </a:r>
                      <a:endParaRPr lang="en-US" sz="1100" b="1" kern="1200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54286" marR="154286" marT="81073" marB="81073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362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10</a:t>
                      </a:r>
                      <a:endParaRPr lang="en-US" sz="1100" b="1" kern="1200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54286" marR="154286" marT="81073" marB="81073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362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43</a:t>
                      </a:r>
                      <a:endParaRPr lang="en-US" sz="1100" b="1" kern="1200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54286" marR="154286" marT="81073" marB="81073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362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142</a:t>
                      </a:r>
                      <a:endParaRPr lang="en-US" sz="1100" b="1" kern="1200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202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5</a:t>
                      </a:r>
                      <a:endParaRPr lang="en-IN" sz="1100" b="0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2024-25</a:t>
                      </a:r>
                    </a:p>
                    <a:p>
                      <a:pPr algn="ctr"/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(Planned)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126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10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146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Yu Gothic UI Semibold" pitchFamily="34" charset="-128"/>
                          <a:ea typeface="Yu Gothic UI Semibold" pitchFamily="34" charset="-128"/>
                        </a:rPr>
                        <a:t>282</a:t>
                      </a:r>
                      <a:endParaRPr lang="en-IN" sz="1100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118821" marR="118821" marT="60692" marB="60692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8840797" y="6295832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1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93F9A51-6892-45BF-B9B2-77C5D15A9B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7520804"/>
              </p:ext>
            </p:extLst>
          </p:nvPr>
        </p:nvGraphicFramePr>
        <p:xfrm>
          <a:off x="4716289" y="2037085"/>
          <a:ext cx="6692081" cy="425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9">
            <a:extLst>
              <a:ext uri="{FF2B5EF4-FFF2-40B4-BE49-F238E27FC236}">
                <a16:creationId xmlns:a16="http://schemas.microsoft.com/office/drawing/2014/main" id="{522A027E-B955-90C5-F608-D4DCACC1F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14" y="355750"/>
            <a:ext cx="9448935" cy="49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3100" b="1" spc="-1" dirty="0">
                <a:solidFill>
                  <a:srgbClr val="C00000"/>
                </a:solidFill>
                <a:latin typeface="Copperplate Gothic Light" pitchFamily="34" charset="0"/>
              </a:rPr>
              <a:t>Software SBU – Performance</a:t>
            </a:r>
            <a:endParaRPr lang="en-IN" altLang="en-US" sz="3100" b="1" spc="-1" dirty="0">
              <a:solidFill>
                <a:srgbClr val="C00000"/>
              </a:solidFill>
              <a:latin typeface="Copperplate Gothic Light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247" y="3631671"/>
            <a:ext cx="3114675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753059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stomShape 2">
            <a:extLst>
              <a:ext uri="{FF2B5EF4-FFF2-40B4-BE49-F238E27FC236}">
                <a16:creationId xmlns:a16="http://schemas.microsoft.com/office/drawing/2014/main" id="{E128F935-FEA3-B2FB-1ECE-4DE059C789EB}"/>
              </a:ext>
            </a:extLst>
          </p:cNvPr>
          <p:cNvSpPr/>
          <p:nvPr/>
        </p:nvSpPr>
        <p:spPr>
          <a:xfrm>
            <a:off x="10113162" y="5953801"/>
            <a:ext cx="105194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18" name="CustomShape 3">
            <a:extLst>
              <a:ext uri="{FF2B5EF4-FFF2-40B4-BE49-F238E27FC236}">
                <a16:creationId xmlns:a16="http://schemas.microsoft.com/office/drawing/2014/main" id="{2FFF8BAF-D4C3-FEEA-0FA2-C46405967C14}"/>
              </a:ext>
            </a:extLst>
          </p:cNvPr>
          <p:cNvSpPr/>
          <p:nvPr/>
        </p:nvSpPr>
        <p:spPr>
          <a:xfrm>
            <a:off x="8229964" y="5955913"/>
            <a:ext cx="105196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19" name="CustomShape 5">
            <a:extLst>
              <a:ext uri="{FF2B5EF4-FFF2-40B4-BE49-F238E27FC236}">
                <a16:creationId xmlns:a16="http://schemas.microsoft.com/office/drawing/2014/main" id="{BFDD4BEF-FF1A-597C-198A-4299380A8631}"/>
              </a:ext>
            </a:extLst>
          </p:cNvPr>
          <p:cNvSpPr/>
          <p:nvPr/>
        </p:nvSpPr>
        <p:spPr>
          <a:xfrm>
            <a:off x="3287860" y="1644685"/>
            <a:ext cx="107258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20" name="CustomShape 6">
            <a:extLst>
              <a:ext uri="{FF2B5EF4-FFF2-40B4-BE49-F238E27FC236}">
                <a16:creationId xmlns:a16="http://schemas.microsoft.com/office/drawing/2014/main" id="{C947906E-5048-65CA-2386-60180A3DD646}"/>
              </a:ext>
            </a:extLst>
          </p:cNvPr>
          <p:cNvSpPr/>
          <p:nvPr/>
        </p:nvSpPr>
        <p:spPr>
          <a:xfrm>
            <a:off x="5171058" y="1646796"/>
            <a:ext cx="105194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74760" name="Rectangle 9">
            <a:extLst>
              <a:ext uri="{FF2B5EF4-FFF2-40B4-BE49-F238E27FC236}">
                <a16:creationId xmlns:a16="http://schemas.microsoft.com/office/drawing/2014/main" id="{522A027E-B955-90C5-F608-D4DCACC1F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14" y="355750"/>
            <a:ext cx="9448935" cy="49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3100" b="1" spc="-1" dirty="0">
                <a:solidFill>
                  <a:srgbClr val="C00000"/>
                </a:solidFill>
                <a:latin typeface="Copperplate Gothic Light" pitchFamily="34" charset="0"/>
              </a:rPr>
              <a:t>Software SBU – Order Book</a:t>
            </a:r>
            <a:endParaRPr lang="en-IN" altLang="en-US" sz="3100" b="1" spc="-1" dirty="0">
              <a:solidFill>
                <a:srgbClr val="C00000"/>
              </a:solidFill>
              <a:latin typeface="Copperplate Gothic Light" pitchFamily="34" charset="0"/>
            </a:endParaRP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8840797" y="6346505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2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FD4825-E1B8-CED8-70DF-55777C547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448764"/>
              </p:ext>
            </p:extLst>
          </p:nvPr>
        </p:nvGraphicFramePr>
        <p:xfrm>
          <a:off x="179785" y="1125595"/>
          <a:ext cx="4480383" cy="2620809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44861">
                  <a:extLst>
                    <a:ext uri="{9D8B030D-6E8A-4147-A177-3AD203B41FA5}">
                      <a16:colId xmlns:a16="http://schemas.microsoft.com/office/drawing/2014/main" val="1702102581"/>
                    </a:ext>
                  </a:extLst>
                </a:gridCol>
                <a:gridCol w="1083194">
                  <a:extLst>
                    <a:ext uri="{9D8B030D-6E8A-4147-A177-3AD203B41FA5}">
                      <a16:colId xmlns:a16="http://schemas.microsoft.com/office/drawing/2014/main" val="115082095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02317087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31009148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844197645"/>
                    </a:ext>
                  </a:extLst>
                </a:gridCol>
              </a:tblGrid>
              <a:tr h="5810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050" kern="12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50" kern="1200" dirty="0" err="1">
                          <a:solidFill>
                            <a:schemeClr val="bg1"/>
                          </a:solidFill>
                          <a:effectLst/>
                        </a:rPr>
                        <a:t>Sl</a:t>
                      </a:r>
                      <a:r>
                        <a:rPr lang="en-GB" sz="1050" kern="1200" dirty="0">
                          <a:solidFill>
                            <a:schemeClr val="bg1"/>
                          </a:solidFill>
                          <a:effectLst/>
                        </a:rPr>
                        <a:t> no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50" kern="1200" dirty="0">
                          <a:solidFill>
                            <a:schemeClr val="bg1"/>
                          </a:solidFill>
                          <a:effectLst/>
                        </a:rPr>
                        <a:t>Year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50" kern="1200" dirty="0">
                          <a:solidFill>
                            <a:schemeClr val="bg1"/>
                          </a:solidFill>
                          <a:effectLst/>
                        </a:rPr>
                        <a:t>Order Book</a:t>
                      </a:r>
                      <a:endParaRPr lang="en-US" sz="1050" strike="sng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50" kern="1200" dirty="0">
                          <a:solidFill>
                            <a:schemeClr val="bg1"/>
                          </a:solidFill>
                          <a:effectLst/>
                        </a:rPr>
                        <a:t>Executed Orders</a:t>
                      </a:r>
                      <a:endParaRPr lang="en-US" sz="1050" strike="sng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bg1"/>
                          </a:solidFill>
                          <a:effectLst/>
                        </a:rPr>
                        <a:t>Orders Received</a:t>
                      </a:r>
                      <a:endParaRPr lang="en-US" sz="105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745" marR="118745" marT="60960" marB="6096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749100"/>
                  </a:ext>
                </a:extLst>
              </a:tr>
              <a:tr h="4270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2020-21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10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15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extLst>
                  <a:ext uri="{0D108BD9-81ED-4DB2-BD59-A6C34878D82A}">
                    <a16:rowId xmlns:a16="http://schemas.microsoft.com/office/drawing/2014/main" val="24340701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kern="120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US" sz="110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2021-22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50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15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15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extLst>
                  <a:ext uri="{0D108BD9-81ED-4DB2-BD59-A6C34878D82A}">
                    <a16:rowId xmlns:a16="http://schemas.microsoft.com/office/drawing/2014/main" val="990290490"/>
                  </a:ext>
                </a:extLst>
              </a:tr>
              <a:tr h="2743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</a:t>
                      </a:r>
                      <a:endParaRPr lang="en-US" sz="110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2022-23</a:t>
                      </a:r>
                      <a:endParaRPr lang="en-US" sz="110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85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15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extLst>
                  <a:ext uri="{0D108BD9-81ED-4DB2-BD59-A6C34878D82A}">
                    <a16:rowId xmlns:a16="http://schemas.microsoft.com/office/drawing/2014/main" val="2323054135"/>
                  </a:ext>
                </a:extLst>
              </a:tr>
              <a:tr h="3327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4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2023-24 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125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30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10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extLst>
                  <a:ext uri="{0D108BD9-81ED-4DB2-BD59-A6C34878D82A}">
                    <a16:rowId xmlns:a16="http://schemas.microsoft.com/office/drawing/2014/main" val="262554586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2024-25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(Acquisition</a:t>
                      </a:r>
                      <a:r>
                        <a:rPr lang="en-IN" sz="1100" kern="1200" baseline="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 </a:t>
                      </a:r>
                      <a:r>
                        <a:rPr lang="en-IN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In Progress)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175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Placeholder 30"/>
          <p:cNvSpPr>
            <a:spLocks noGrp="1"/>
          </p:cNvSpPr>
          <p:nvPr>
            <p:ph type="body" sz="quarter" idx="4294967295"/>
          </p:nvPr>
        </p:nvSpPr>
        <p:spPr>
          <a:xfrm>
            <a:off x="-108247" y="3924325"/>
            <a:ext cx="3116028" cy="276577"/>
          </a:xfrm>
          <a:prstGeom prst="rect">
            <a:avLst/>
          </a:prstGeom>
        </p:spPr>
        <p:txBody>
          <a:bodyPr/>
          <a:lstStyle/>
          <a:p>
            <a:pPr marL="0" indent="0" algn="r">
              <a:buNone/>
            </a:pPr>
            <a:r>
              <a:rPr lang="hi-IN" sz="1200" i="1" dirty="0">
                <a:latin typeface="Bookman Old Style" pitchFamily="18" charset="0"/>
              </a:rPr>
              <a:t>मूल्य करोड़ रु. में </a:t>
            </a:r>
            <a:r>
              <a:rPr lang="en-GB" sz="1200" i="1" dirty="0">
                <a:latin typeface="Bookman Old Style" pitchFamily="18" charset="0"/>
              </a:rPr>
              <a:t> </a:t>
            </a:r>
            <a:r>
              <a:rPr lang="en-IN" sz="1200" i="1" dirty="0">
                <a:latin typeface="Bookman Old Style" pitchFamily="18" charset="0"/>
              </a:rPr>
              <a:t>Value in Rs Crores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10DDCF5-C2B2-410F-8FE5-963E72994D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612202"/>
              </p:ext>
            </p:extLst>
          </p:nvPr>
        </p:nvGraphicFramePr>
        <p:xfrm>
          <a:off x="4718166" y="1476053"/>
          <a:ext cx="7128792" cy="4971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73938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stomShape 2">
            <a:extLst>
              <a:ext uri="{FF2B5EF4-FFF2-40B4-BE49-F238E27FC236}">
                <a16:creationId xmlns:a16="http://schemas.microsoft.com/office/drawing/2014/main" id="{E128F935-FEA3-B2FB-1ECE-4DE059C789EB}"/>
              </a:ext>
            </a:extLst>
          </p:cNvPr>
          <p:cNvSpPr/>
          <p:nvPr/>
        </p:nvSpPr>
        <p:spPr>
          <a:xfrm>
            <a:off x="10113162" y="5953801"/>
            <a:ext cx="105194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18" name="CustomShape 3">
            <a:extLst>
              <a:ext uri="{FF2B5EF4-FFF2-40B4-BE49-F238E27FC236}">
                <a16:creationId xmlns:a16="http://schemas.microsoft.com/office/drawing/2014/main" id="{2FFF8BAF-D4C3-FEEA-0FA2-C46405967C14}"/>
              </a:ext>
            </a:extLst>
          </p:cNvPr>
          <p:cNvSpPr/>
          <p:nvPr/>
        </p:nvSpPr>
        <p:spPr>
          <a:xfrm>
            <a:off x="8229964" y="5955913"/>
            <a:ext cx="105196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19" name="CustomShape 5">
            <a:extLst>
              <a:ext uri="{FF2B5EF4-FFF2-40B4-BE49-F238E27FC236}">
                <a16:creationId xmlns:a16="http://schemas.microsoft.com/office/drawing/2014/main" id="{BFDD4BEF-FF1A-597C-198A-4299380A8631}"/>
              </a:ext>
            </a:extLst>
          </p:cNvPr>
          <p:cNvSpPr/>
          <p:nvPr/>
        </p:nvSpPr>
        <p:spPr>
          <a:xfrm>
            <a:off x="3287860" y="1644685"/>
            <a:ext cx="107258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20" name="CustomShape 6">
            <a:extLst>
              <a:ext uri="{FF2B5EF4-FFF2-40B4-BE49-F238E27FC236}">
                <a16:creationId xmlns:a16="http://schemas.microsoft.com/office/drawing/2014/main" id="{C947906E-5048-65CA-2386-60180A3DD646}"/>
              </a:ext>
            </a:extLst>
          </p:cNvPr>
          <p:cNvSpPr/>
          <p:nvPr/>
        </p:nvSpPr>
        <p:spPr>
          <a:xfrm>
            <a:off x="5171058" y="1646796"/>
            <a:ext cx="105194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74760" name="Rectangle 9">
            <a:extLst>
              <a:ext uri="{FF2B5EF4-FFF2-40B4-BE49-F238E27FC236}">
                <a16:creationId xmlns:a16="http://schemas.microsoft.com/office/drawing/2014/main" id="{522A027E-B955-90C5-F608-D4DCACC1F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14" y="355750"/>
            <a:ext cx="9448935" cy="49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31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  </a:t>
            </a:r>
            <a:endParaRPr lang="en-IN" altLang="en-US" sz="3100" b="1" spc="-1" dirty="0">
              <a:solidFill>
                <a:schemeClr val="tx1">
                  <a:lumMod val="75000"/>
                </a:schemeClr>
              </a:solidFill>
              <a:latin typeface="Copperplate Gothic Light" pitchFamily="34" charset="0"/>
            </a:endParaRP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8840797" y="6346505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3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  <p:sp>
        <p:nvSpPr>
          <p:cNvPr id="11" name="Text Placeholder 30"/>
          <p:cNvSpPr>
            <a:spLocks noGrp="1"/>
          </p:cNvSpPr>
          <p:nvPr>
            <p:ph type="body" sz="quarter" idx="4294967295"/>
          </p:nvPr>
        </p:nvSpPr>
        <p:spPr>
          <a:xfrm>
            <a:off x="-108247" y="3492277"/>
            <a:ext cx="2816265" cy="216024"/>
          </a:xfrm>
          <a:prstGeom prst="rect">
            <a:avLst/>
          </a:prstGeom>
        </p:spPr>
        <p:txBody>
          <a:bodyPr/>
          <a:lstStyle/>
          <a:p>
            <a:pPr marL="0" indent="0" algn="r">
              <a:buNone/>
            </a:pPr>
            <a:r>
              <a:rPr lang="hi-IN" sz="1000" i="1" dirty="0">
                <a:latin typeface="Bookman Old Style" pitchFamily="18" charset="0"/>
              </a:rPr>
              <a:t>मूल्य करोड़ रु. में</a:t>
            </a:r>
            <a:r>
              <a:rPr lang="en-IN" sz="1000" i="1" dirty="0">
                <a:latin typeface="Bookman Old Style" pitchFamily="18" charset="0"/>
              </a:rPr>
              <a:t>’ Value in Rs Crores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274" y="355750"/>
            <a:ext cx="10153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opperplate Gothic Light" pitchFamily="34" charset="0"/>
              </a:rPr>
              <a:t>Opportunities Pursued (2022-2024)</a:t>
            </a:r>
            <a:endParaRPr lang="en-IN" sz="3200" b="1" dirty="0">
              <a:solidFill>
                <a:srgbClr val="C00000"/>
              </a:solidFill>
              <a:latin typeface="Copperplate Gothic Light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015D64-4310-44FC-AAD1-990B8680A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396154"/>
              </p:ext>
            </p:extLst>
          </p:nvPr>
        </p:nvGraphicFramePr>
        <p:xfrm>
          <a:off x="219588" y="1188021"/>
          <a:ext cx="4784733" cy="215352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75577">
                  <a:extLst>
                    <a:ext uri="{9D8B030D-6E8A-4147-A177-3AD203B41FA5}">
                      <a16:colId xmlns:a16="http://schemas.microsoft.com/office/drawing/2014/main" val="1741642779"/>
                    </a:ext>
                  </a:extLst>
                </a:gridCol>
                <a:gridCol w="1384820">
                  <a:extLst>
                    <a:ext uri="{9D8B030D-6E8A-4147-A177-3AD203B41FA5}">
                      <a16:colId xmlns:a16="http://schemas.microsoft.com/office/drawing/2014/main" val="4254909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83750278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197156843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415318776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98218714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34854063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99018049"/>
                    </a:ext>
                  </a:extLst>
                </a:gridCol>
              </a:tblGrid>
              <a:tr h="3362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Sl no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EOI/RFI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Value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RFP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Value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BQs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Value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634312"/>
                  </a:ext>
                </a:extLst>
              </a:tr>
              <a:tr h="3724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2022-23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1500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85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01321234"/>
                  </a:ext>
                </a:extLst>
              </a:tr>
              <a:tr h="36119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2023-24</a:t>
                      </a:r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(domestic)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solidFill>
                            <a:srgbClr val="EB1D5D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6</a:t>
                      </a:r>
                      <a:endParaRPr lang="en-IN" sz="1000" b="0" i="0" u="none" strike="noStrike" dirty="0">
                        <a:solidFill>
                          <a:srgbClr val="EB1D5D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EB1D5D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500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solidFill>
                            <a:srgbClr val="EB1D5D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60</a:t>
                      </a:r>
                      <a:endParaRPr lang="en-IN" sz="1000" b="0" i="0" u="none" strike="noStrike" dirty="0">
                        <a:solidFill>
                          <a:srgbClr val="EB1D5D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solidFill>
                            <a:srgbClr val="EB1D5D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1550</a:t>
                      </a:r>
                      <a:endParaRPr lang="en-IN" sz="1000" b="0" i="0" u="none" strike="noStrike" dirty="0">
                        <a:solidFill>
                          <a:srgbClr val="EB1D5D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EB1D5D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EB1D5D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500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065981"/>
                  </a:ext>
                </a:extLst>
              </a:tr>
              <a:tr h="36119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2023-24</a:t>
                      </a:r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(Export</a:t>
                      </a:r>
                      <a:r>
                        <a:rPr lang="en-IN" sz="105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)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9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38.7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69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9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4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2024-25</a:t>
                      </a:r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(domestic) Q1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6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570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29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2703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solidFill>
                            <a:srgbClr val="EB1D5D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44</a:t>
                      </a:r>
                      <a:endParaRPr lang="en-IN" sz="1000" b="0" i="0" u="none" strike="noStrike" dirty="0">
                        <a:solidFill>
                          <a:srgbClr val="EB1D5D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EB1D5D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1484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391022"/>
                  </a:ext>
                </a:extLst>
              </a:tr>
              <a:tr h="36119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2024-25</a:t>
                      </a:r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(export) Q1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476617"/>
                  </a:ext>
                </a:extLst>
              </a:tr>
            </a:tbl>
          </a:graphicData>
        </a:graphic>
      </p:graphicFrame>
      <p:graphicFrame>
        <p:nvGraphicFramePr>
          <p:cNvPr id="30" name="Chart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4026588"/>
              </p:ext>
            </p:extLst>
          </p:nvPr>
        </p:nvGraphicFramePr>
        <p:xfrm>
          <a:off x="891497" y="3890608"/>
          <a:ext cx="4163645" cy="2644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Chart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8736920"/>
              </p:ext>
            </p:extLst>
          </p:nvPr>
        </p:nvGraphicFramePr>
        <p:xfrm>
          <a:off x="4610154" y="1188021"/>
          <a:ext cx="3672408" cy="2720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9328360"/>
              </p:ext>
            </p:extLst>
          </p:nvPr>
        </p:nvGraphicFramePr>
        <p:xfrm>
          <a:off x="4356249" y="3945138"/>
          <a:ext cx="4086200" cy="2592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4" name="Chart 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5733123"/>
              </p:ext>
            </p:extLst>
          </p:nvPr>
        </p:nvGraphicFramePr>
        <p:xfrm>
          <a:off x="7380585" y="111601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5" name="Chart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9650639"/>
              </p:ext>
            </p:extLst>
          </p:nvPr>
        </p:nvGraphicFramePr>
        <p:xfrm>
          <a:off x="7340699" y="396855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97726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stomShape 2">
            <a:extLst>
              <a:ext uri="{FF2B5EF4-FFF2-40B4-BE49-F238E27FC236}">
                <a16:creationId xmlns:a16="http://schemas.microsoft.com/office/drawing/2014/main" id="{E128F935-FEA3-B2FB-1ECE-4DE059C789EB}"/>
              </a:ext>
            </a:extLst>
          </p:cNvPr>
          <p:cNvSpPr/>
          <p:nvPr/>
        </p:nvSpPr>
        <p:spPr>
          <a:xfrm>
            <a:off x="10113162" y="5953801"/>
            <a:ext cx="105194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18" name="CustomShape 3">
            <a:extLst>
              <a:ext uri="{FF2B5EF4-FFF2-40B4-BE49-F238E27FC236}">
                <a16:creationId xmlns:a16="http://schemas.microsoft.com/office/drawing/2014/main" id="{2FFF8BAF-D4C3-FEEA-0FA2-C46405967C14}"/>
              </a:ext>
            </a:extLst>
          </p:cNvPr>
          <p:cNvSpPr/>
          <p:nvPr/>
        </p:nvSpPr>
        <p:spPr>
          <a:xfrm>
            <a:off x="8229964" y="5955913"/>
            <a:ext cx="105196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19" name="CustomShape 5">
            <a:extLst>
              <a:ext uri="{FF2B5EF4-FFF2-40B4-BE49-F238E27FC236}">
                <a16:creationId xmlns:a16="http://schemas.microsoft.com/office/drawing/2014/main" id="{BFDD4BEF-FF1A-597C-198A-4299380A8631}"/>
              </a:ext>
            </a:extLst>
          </p:cNvPr>
          <p:cNvSpPr/>
          <p:nvPr/>
        </p:nvSpPr>
        <p:spPr>
          <a:xfrm>
            <a:off x="3287860" y="1644685"/>
            <a:ext cx="107258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20" name="CustomShape 6">
            <a:extLst>
              <a:ext uri="{FF2B5EF4-FFF2-40B4-BE49-F238E27FC236}">
                <a16:creationId xmlns:a16="http://schemas.microsoft.com/office/drawing/2014/main" id="{C947906E-5048-65CA-2386-60180A3DD646}"/>
              </a:ext>
            </a:extLst>
          </p:cNvPr>
          <p:cNvSpPr/>
          <p:nvPr/>
        </p:nvSpPr>
        <p:spPr>
          <a:xfrm>
            <a:off x="5171058" y="1646796"/>
            <a:ext cx="105194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74760" name="Rectangle 9">
            <a:extLst>
              <a:ext uri="{FF2B5EF4-FFF2-40B4-BE49-F238E27FC236}">
                <a16:creationId xmlns:a16="http://schemas.microsoft.com/office/drawing/2014/main" id="{522A027E-B955-90C5-F608-D4DCACC1F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14" y="355750"/>
            <a:ext cx="9448935" cy="49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3100" b="1" spc="-1" dirty="0">
                <a:solidFill>
                  <a:srgbClr val="C00000"/>
                </a:solidFill>
                <a:latin typeface="Copperplate Gothic Light" pitchFamily="34" charset="0"/>
              </a:rPr>
              <a:t>Software SBU – Tender Types</a:t>
            </a:r>
            <a:endParaRPr lang="en-IN" altLang="en-US" sz="3100" b="1" spc="-1" dirty="0">
              <a:solidFill>
                <a:srgbClr val="C00000"/>
              </a:solidFill>
              <a:latin typeface="Copperplate Gothic Light" pitchFamily="34" charset="0"/>
            </a:endParaRP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8840797" y="6346505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4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FD4825-E1B8-CED8-70DF-55777C547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444143"/>
              </p:ext>
            </p:extLst>
          </p:nvPr>
        </p:nvGraphicFramePr>
        <p:xfrm>
          <a:off x="395809" y="1258299"/>
          <a:ext cx="3744416" cy="284085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70210258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15082095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02317087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10623844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08040214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931009148"/>
                    </a:ext>
                  </a:extLst>
                </a:gridCol>
              </a:tblGrid>
              <a:tr h="3132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50" kern="1200" dirty="0" err="1">
                          <a:solidFill>
                            <a:schemeClr val="bg1"/>
                          </a:solidFill>
                          <a:effectLst/>
                        </a:rPr>
                        <a:t>Sl</a:t>
                      </a:r>
                      <a:r>
                        <a:rPr lang="en-GB" sz="1050" kern="1200" dirty="0">
                          <a:solidFill>
                            <a:schemeClr val="bg1"/>
                          </a:solidFill>
                          <a:effectLst/>
                        </a:rPr>
                        <a:t> no</a:t>
                      </a:r>
                      <a:endParaRPr lang="en-US" sz="105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50" kern="1200" dirty="0">
                          <a:solidFill>
                            <a:schemeClr val="bg1"/>
                          </a:solidFill>
                          <a:effectLst/>
                        </a:rPr>
                        <a:t>Year</a:t>
                      </a:r>
                      <a:endParaRPr lang="en-US" sz="105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strike="noStrike" dirty="0">
                          <a:solidFill>
                            <a:schemeClr val="bg1"/>
                          </a:solidFill>
                          <a:effectLst/>
                        </a:rPr>
                        <a:t>ST</a:t>
                      </a:r>
                      <a:endParaRPr lang="en-US" sz="1050" b="1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8138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strike="noStrike" dirty="0">
                          <a:solidFill>
                            <a:schemeClr val="bg1"/>
                          </a:solidFill>
                          <a:effectLst/>
                        </a:rPr>
                        <a:t>Values</a:t>
                      </a:r>
                      <a:endParaRPr lang="en-US" sz="1050" b="1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8138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strike="noStrike" dirty="0">
                          <a:solidFill>
                            <a:schemeClr val="bg1"/>
                          </a:solidFill>
                          <a:effectLst/>
                        </a:rPr>
                        <a:t>MT</a:t>
                      </a:r>
                      <a:endParaRPr lang="en-US" sz="1050" b="1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strike="noStrike" dirty="0">
                          <a:solidFill>
                            <a:schemeClr val="bg1"/>
                          </a:solidFill>
                          <a:effectLst/>
                        </a:rPr>
                        <a:t>Values</a:t>
                      </a:r>
                      <a:endParaRPr lang="en-US" sz="1050" b="1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749100"/>
                  </a:ext>
                </a:extLst>
              </a:tr>
              <a:tr h="5055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b="0" kern="1200" dirty="0">
                          <a:effectLst/>
                        </a:rPr>
                        <a:t>1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b="0" kern="1200" dirty="0">
                          <a:effectLst/>
                        </a:rPr>
                        <a:t>2020-21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u="none" strike="noStrike" dirty="0">
                          <a:effectLst/>
                        </a:rPr>
                        <a:t>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20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u="none" strike="noStrike">
                          <a:effectLst/>
                        </a:rPr>
                        <a:t>750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407014"/>
                  </a:ext>
                </a:extLst>
              </a:tr>
              <a:tr h="5055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b="0" kern="1200">
                          <a:effectLst/>
                        </a:rPr>
                        <a:t>2</a:t>
                      </a:r>
                      <a:endParaRPr lang="en-U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b="0" kern="1200" dirty="0">
                          <a:effectLst/>
                        </a:rPr>
                        <a:t>2021-22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u="none" strike="noStrike" dirty="0">
                          <a:effectLst/>
                        </a:rPr>
                        <a:t>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123.98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u="none" strike="noStrike" dirty="0">
                          <a:effectLst/>
                        </a:rPr>
                        <a:t>1550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0290490"/>
                  </a:ext>
                </a:extLst>
              </a:tr>
              <a:tr h="5055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1200">
                          <a:effectLst/>
                        </a:rPr>
                        <a:t>3</a:t>
                      </a:r>
                      <a:endParaRPr lang="en-U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1200" dirty="0">
                          <a:effectLst/>
                        </a:rPr>
                        <a:t>2022-23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79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100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3054135"/>
                  </a:ext>
                </a:extLst>
              </a:tr>
              <a:tr h="5055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0" kern="1200" dirty="0">
                          <a:effectLst/>
                        </a:rPr>
                        <a:t>4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0" kern="1200" dirty="0">
                          <a:effectLst/>
                        </a:rPr>
                        <a:t>2023-24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u="none" strike="noStrike" dirty="0">
                          <a:effectLst/>
                        </a:rPr>
                        <a:t>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920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93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u="none" strike="noStrike" dirty="0">
                          <a:effectLst/>
                        </a:rPr>
                        <a:t>3772.98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5545869"/>
                  </a:ext>
                </a:extLst>
              </a:tr>
              <a:tr h="5055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effectLst/>
                        </a:rPr>
                        <a:t>5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0" kern="1200" dirty="0">
                          <a:effectLst/>
                        </a:rPr>
                        <a:t>2024-25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u="none" strike="noStrike" dirty="0">
                          <a:effectLst/>
                        </a:rPr>
                        <a:t>120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Placeholder 30"/>
          <p:cNvSpPr>
            <a:spLocks noGrp="1"/>
          </p:cNvSpPr>
          <p:nvPr>
            <p:ph type="body" sz="quarter" idx="4294967295"/>
          </p:nvPr>
        </p:nvSpPr>
        <p:spPr>
          <a:xfrm>
            <a:off x="330794" y="4212357"/>
            <a:ext cx="3116028" cy="276577"/>
          </a:xfrm>
          <a:prstGeom prst="rect">
            <a:avLst/>
          </a:prstGeom>
        </p:spPr>
        <p:txBody>
          <a:bodyPr/>
          <a:lstStyle/>
          <a:p>
            <a:pPr marL="0" indent="0" algn="r">
              <a:buNone/>
            </a:pPr>
            <a:r>
              <a:rPr lang="hi-IN" sz="1200" i="1" dirty="0">
                <a:latin typeface="Bookman Old Style" pitchFamily="18" charset="0"/>
              </a:rPr>
              <a:t>मूल्य करोड़ रु. में </a:t>
            </a:r>
            <a:r>
              <a:rPr lang="en-GB" sz="1200" i="1" dirty="0">
                <a:latin typeface="Bookman Old Style" pitchFamily="18" charset="0"/>
              </a:rPr>
              <a:t> </a:t>
            </a:r>
            <a:r>
              <a:rPr lang="en-IN" sz="1200" i="1" dirty="0">
                <a:latin typeface="Bookman Old Style" pitchFamily="18" charset="0"/>
              </a:rPr>
              <a:t>Value in Rs Crores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7ED1461-47CD-4C39-8AF8-2E064D01E0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9668810"/>
              </p:ext>
            </p:extLst>
          </p:nvPr>
        </p:nvGraphicFramePr>
        <p:xfrm>
          <a:off x="4068217" y="1116013"/>
          <a:ext cx="4642214" cy="3125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ABF98B4B-D54A-4DDC-9521-C3F44F0F9F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8484542"/>
              </p:ext>
            </p:extLst>
          </p:nvPr>
        </p:nvGraphicFramePr>
        <p:xfrm>
          <a:off x="7224976" y="1059384"/>
          <a:ext cx="5176591" cy="31770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7EDAFB3D-E337-4BEA-990F-E08BFBA2B7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5615670"/>
              </p:ext>
            </p:extLst>
          </p:nvPr>
        </p:nvGraphicFramePr>
        <p:xfrm>
          <a:off x="5604312" y="388945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9209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stomShape 2">
            <a:extLst>
              <a:ext uri="{FF2B5EF4-FFF2-40B4-BE49-F238E27FC236}">
                <a16:creationId xmlns:a16="http://schemas.microsoft.com/office/drawing/2014/main" id="{E128F935-FEA3-B2FB-1ECE-4DE059C789EB}"/>
              </a:ext>
            </a:extLst>
          </p:cNvPr>
          <p:cNvSpPr/>
          <p:nvPr/>
        </p:nvSpPr>
        <p:spPr>
          <a:xfrm>
            <a:off x="10113162" y="5953801"/>
            <a:ext cx="105194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18" name="CustomShape 3">
            <a:extLst>
              <a:ext uri="{FF2B5EF4-FFF2-40B4-BE49-F238E27FC236}">
                <a16:creationId xmlns:a16="http://schemas.microsoft.com/office/drawing/2014/main" id="{2FFF8BAF-D4C3-FEEA-0FA2-C46405967C14}"/>
              </a:ext>
            </a:extLst>
          </p:cNvPr>
          <p:cNvSpPr/>
          <p:nvPr/>
        </p:nvSpPr>
        <p:spPr>
          <a:xfrm>
            <a:off x="8229964" y="5955913"/>
            <a:ext cx="105196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19" name="CustomShape 5">
            <a:extLst>
              <a:ext uri="{FF2B5EF4-FFF2-40B4-BE49-F238E27FC236}">
                <a16:creationId xmlns:a16="http://schemas.microsoft.com/office/drawing/2014/main" id="{BFDD4BEF-FF1A-597C-198A-4299380A8631}"/>
              </a:ext>
            </a:extLst>
          </p:cNvPr>
          <p:cNvSpPr/>
          <p:nvPr/>
        </p:nvSpPr>
        <p:spPr>
          <a:xfrm>
            <a:off x="3287860" y="1644685"/>
            <a:ext cx="107258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20" name="CustomShape 6">
            <a:extLst>
              <a:ext uri="{FF2B5EF4-FFF2-40B4-BE49-F238E27FC236}">
                <a16:creationId xmlns:a16="http://schemas.microsoft.com/office/drawing/2014/main" id="{C947906E-5048-65CA-2386-60180A3DD646}"/>
              </a:ext>
            </a:extLst>
          </p:cNvPr>
          <p:cNvSpPr/>
          <p:nvPr/>
        </p:nvSpPr>
        <p:spPr>
          <a:xfrm>
            <a:off x="5171058" y="1646796"/>
            <a:ext cx="105194" cy="135122"/>
          </a:xfrm>
          <a:custGeom>
            <a:avLst/>
            <a:gdLst/>
            <a:ahLst/>
            <a:cxnLst/>
            <a:rect l="l" t="t" r="r" b="b"/>
            <a:pathLst>
              <a:path w="127000" h="163829">
                <a:moveTo>
                  <a:pt x="0" y="163334"/>
                </a:moveTo>
                <a:lnTo>
                  <a:pt x="126928" y="163334"/>
                </a:lnTo>
                <a:lnTo>
                  <a:pt x="126928" y="0"/>
                </a:lnTo>
                <a:lnTo>
                  <a:pt x="0" y="0"/>
                </a:lnTo>
                <a:lnTo>
                  <a:pt x="0" y="163334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9814" tIns="59907" rIns="119814" bIns="59907"/>
          <a:lstStyle/>
          <a:p>
            <a:endParaRPr lang="en-US"/>
          </a:p>
        </p:txBody>
      </p:sp>
      <p:sp>
        <p:nvSpPr>
          <p:cNvPr id="74760" name="Rectangle 9">
            <a:extLst>
              <a:ext uri="{FF2B5EF4-FFF2-40B4-BE49-F238E27FC236}">
                <a16:creationId xmlns:a16="http://schemas.microsoft.com/office/drawing/2014/main" id="{522A027E-B955-90C5-F608-D4DCACC1F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14" y="355750"/>
            <a:ext cx="9448935" cy="49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r>
              <a:rPr lang="en-GB" sz="2800" b="1" dirty="0">
                <a:latin typeface="Copperplate Gothic Light" panose="020E0507020206020404" pitchFamily="34" charset="0"/>
              </a:rPr>
              <a:t>Software</a:t>
            </a:r>
            <a:r>
              <a:rPr lang="en-GB" sz="2400" b="1" dirty="0">
                <a:latin typeface="Copperplate Gothic Light" panose="020E0507020206020404" pitchFamily="34" charset="0"/>
              </a:rPr>
              <a:t> </a:t>
            </a:r>
            <a:r>
              <a:rPr lang="en-GB" sz="2800" b="1" dirty="0">
                <a:latin typeface="Copperplate Gothic Light" panose="020E0507020206020404" pitchFamily="34" charset="0"/>
              </a:rPr>
              <a:t>SBU – Segment wise Orders received</a:t>
            </a:r>
            <a:r>
              <a:rPr lang="en-GB" sz="4400" b="1" dirty="0">
                <a:latin typeface="Copperplate Gothic Light" panose="020E0507020206020404" pitchFamily="34" charset="0"/>
              </a:rPr>
              <a:t> </a:t>
            </a:r>
            <a:endParaRPr lang="en-IN" altLang="en-US" sz="3600" b="1" spc="-1" dirty="0">
              <a:solidFill>
                <a:schemeClr val="tx1">
                  <a:lumMod val="75000"/>
                </a:schemeClr>
              </a:solidFill>
              <a:latin typeface="Copperplate Gothic Light" panose="020E0507020206020404" pitchFamily="34" charset="0"/>
            </a:endParaRP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8840797" y="6346505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5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FD4825-E1B8-CED8-70DF-55777C547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087106"/>
              </p:ext>
            </p:extLst>
          </p:nvPr>
        </p:nvGraphicFramePr>
        <p:xfrm>
          <a:off x="467817" y="1255830"/>
          <a:ext cx="4392489" cy="220654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29627">
                  <a:extLst>
                    <a:ext uri="{9D8B030D-6E8A-4147-A177-3AD203B41FA5}">
                      <a16:colId xmlns:a16="http://schemas.microsoft.com/office/drawing/2014/main" val="1702102581"/>
                    </a:ext>
                  </a:extLst>
                </a:gridCol>
                <a:gridCol w="1239089">
                  <a:extLst>
                    <a:ext uri="{9D8B030D-6E8A-4147-A177-3AD203B41FA5}">
                      <a16:colId xmlns:a16="http://schemas.microsoft.com/office/drawing/2014/main" val="1150820951"/>
                    </a:ext>
                  </a:extLst>
                </a:gridCol>
                <a:gridCol w="1224456">
                  <a:extLst>
                    <a:ext uri="{9D8B030D-6E8A-4147-A177-3AD203B41FA5}">
                      <a16:colId xmlns:a16="http://schemas.microsoft.com/office/drawing/2014/main" val="3023170877"/>
                    </a:ext>
                  </a:extLst>
                </a:gridCol>
                <a:gridCol w="1399317">
                  <a:extLst>
                    <a:ext uri="{9D8B030D-6E8A-4147-A177-3AD203B41FA5}">
                      <a16:colId xmlns:a16="http://schemas.microsoft.com/office/drawing/2014/main" val="3931009148"/>
                    </a:ext>
                  </a:extLst>
                </a:gridCol>
              </a:tblGrid>
              <a:tr h="3867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kern="1200" dirty="0">
                          <a:effectLst/>
                        </a:rPr>
                        <a:t>Sl no</a:t>
                      </a:r>
                      <a:endParaRPr lang="en-US" sz="1100" b="1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kern="1200" dirty="0">
                          <a:effectLst/>
                        </a:rPr>
                        <a:t>Year</a:t>
                      </a:r>
                      <a:endParaRPr lang="en-US" sz="1100" b="1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trike="noStrike" dirty="0" err="1">
                          <a:effectLst/>
                        </a:rPr>
                        <a:t>Def</a:t>
                      </a:r>
                      <a:endParaRPr lang="en-US" sz="1100" b="1" strike="noStrike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trike="noStrike" dirty="0">
                          <a:effectLst/>
                        </a:rPr>
                        <a:t>Non </a:t>
                      </a:r>
                      <a:r>
                        <a:rPr lang="en-US" sz="1100" strike="noStrike" dirty="0" err="1">
                          <a:effectLst/>
                        </a:rPr>
                        <a:t>Def</a:t>
                      </a:r>
                      <a:endParaRPr lang="en-US" sz="1100" b="1" strike="noStrike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749100"/>
                  </a:ext>
                </a:extLst>
              </a:tr>
              <a:tr h="261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Mangal" panose="02040503050203030202" pitchFamily="18" charset="0"/>
                        </a:rPr>
                        <a:t>2019-20</a:t>
                      </a:r>
                    </a:p>
                  </a:txBody>
                  <a:tcPr marL="118745" marR="118745" marT="60960" marB="6096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2020-21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0701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2021-22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u="none" strike="noStrike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290490"/>
                  </a:ext>
                </a:extLst>
              </a:tr>
              <a:tr h="3291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4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2022-23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05413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2023-24 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545869"/>
                  </a:ext>
                </a:extLst>
              </a:tr>
              <a:tr h="285932">
                <a:tc>
                  <a:txBody>
                    <a:bodyPr/>
                    <a:lstStyle/>
                    <a:p>
                      <a:pPr marL="0" marR="0" algn="ctr" defTabSz="1198138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2024-25(Q1)</a:t>
                      </a:r>
                      <a:endParaRPr lang="en-US" sz="110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198138" rtl="0" eaLnBrk="1" fontAlgn="ctr" latinLnBrk="0" hangingPunct="1"/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198138" rtl="0" eaLnBrk="1" fontAlgn="ctr" latinLnBrk="0" hangingPunct="1"/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8121542"/>
              </p:ext>
            </p:extLst>
          </p:nvPr>
        </p:nvGraphicFramePr>
        <p:xfrm>
          <a:off x="1979985" y="3708301"/>
          <a:ext cx="3660945" cy="2551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1788889"/>
              </p:ext>
            </p:extLst>
          </p:nvPr>
        </p:nvGraphicFramePr>
        <p:xfrm>
          <a:off x="-252263" y="3691269"/>
          <a:ext cx="3924201" cy="2820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2880499"/>
              </p:ext>
            </p:extLst>
          </p:nvPr>
        </p:nvGraphicFramePr>
        <p:xfrm>
          <a:off x="5508377" y="1260029"/>
          <a:ext cx="6048672" cy="4831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76324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887C4D-5938-43A0-9815-EB3EA9ADEBDC}"/>
              </a:ext>
            </a:extLst>
          </p:cNvPr>
          <p:cNvSpPr/>
          <p:nvPr/>
        </p:nvSpPr>
        <p:spPr>
          <a:xfrm>
            <a:off x="539825" y="395933"/>
            <a:ext cx="97930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0000"/>
                </a:solidFill>
                <a:latin typeface="Copperplate Gothic Light" panose="020E0507020206020404" pitchFamily="34" charset="0"/>
              </a:rPr>
              <a:t>Software SBU – Segment wise Bids Analysed</a:t>
            </a:r>
            <a:r>
              <a:rPr lang="en-IN" sz="2800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CA5868-9D61-4301-BD83-860107D9B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406012"/>
              </p:ext>
            </p:extLst>
          </p:nvPr>
        </p:nvGraphicFramePr>
        <p:xfrm>
          <a:off x="307913" y="1908100"/>
          <a:ext cx="4408375" cy="3018333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6036">
                  <a:extLst>
                    <a:ext uri="{9D8B030D-6E8A-4147-A177-3AD203B41FA5}">
                      <a16:colId xmlns:a16="http://schemas.microsoft.com/office/drawing/2014/main" val="1702102581"/>
                    </a:ext>
                  </a:extLst>
                </a:gridCol>
                <a:gridCol w="1462013">
                  <a:extLst>
                    <a:ext uri="{9D8B030D-6E8A-4147-A177-3AD203B41FA5}">
                      <a16:colId xmlns:a16="http://schemas.microsoft.com/office/drawing/2014/main" val="1150820951"/>
                    </a:ext>
                  </a:extLst>
                </a:gridCol>
                <a:gridCol w="1008081">
                  <a:extLst>
                    <a:ext uri="{9D8B030D-6E8A-4147-A177-3AD203B41FA5}">
                      <a16:colId xmlns:a16="http://schemas.microsoft.com/office/drawing/2014/main" val="3023170877"/>
                    </a:ext>
                  </a:extLst>
                </a:gridCol>
                <a:gridCol w="1502245">
                  <a:extLst>
                    <a:ext uri="{9D8B030D-6E8A-4147-A177-3AD203B41FA5}">
                      <a16:colId xmlns:a16="http://schemas.microsoft.com/office/drawing/2014/main" val="3931009148"/>
                    </a:ext>
                  </a:extLst>
                </a:gridCol>
              </a:tblGrid>
              <a:tr h="4670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 dirty="0">
                          <a:solidFill>
                            <a:schemeClr val="bg1"/>
                          </a:solidFill>
                          <a:effectLst/>
                        </a:rPr>
                        <a:t>Sl no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 dirty="0">
                          <a:solidFill>
                            <a:schemeClr val="bg1"/>
                          </a:solidFill>
                          <a:effectLst/>
                        </a:rPr>
                        <a:t>Year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strike="noStrike" dirty="0" err="1">
                          <a:solidFill>
                            <a:schemeClr val="bg1"/>
                          </a:solidFill>
                          <a:effectLst/>
                        </a:rPr>
                        <a:t>Def</a:t>
                      </a:r>
                      <a:endParaRPr lang="en-US" sz="1400" b="1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strike="noStrike" dirty="0">
                          <a:solidFill>
                            <a:schemeClr val="bg1"/>
                          </a:solidFill>
                          <a:effectLst/>
                        </a:rPr>
                        <a:t>Non </a:t>
                      </a:r>
                      <a:r>
                        <a:rPr lang="en-US" sz="1400" strike="noStrike" dirty="0" err="1">
                          <a:solidFill>
                            <a:schemeClr val="bg1"/>
                          </a:solidFill>
                          <a:effectLst/>
                        </a:rPr>
                        <a:t>Def</a:t>
                      </a:r>
                      <a:endParaRPr lang="en-US" sz="1400" b="1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749100"/>
                  </a:ext>
                </a:extLst>
              </a:tr>
              <a:tr h="5055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 dirty="0">
                          <a:effectLst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 dirty="0">
                          <a:effectLst/>
                        </a:rPr>
                        <a:t>2020-21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10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407014"/>
                  </a:ext>
                </a:extLst>
              </a:tr>
              <a:tr h="5055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effectLst/>
                        </a:rPr>
                        <a:t>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 dirty="0">
                          <a:effectLst/>
                        </a:rPr>
                        <a:t>2021-22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0290490"/>
                  </a:ext>
                </a:extLst>
              </a:tr>
              <a:tr h="5055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</a:rPr>
                        <a:t>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2022-23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15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3054135"/>
                  </a:ext>
                </a:extLst>
              </a:tr>
              <a:tr h="5055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200" dirty="0">
                          <a:effectLst/>
                        </a:rPr>
                        <a:t>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200" dirty="0">
                          <a:effectLst/>
                        </a:rPr>
                        <a:t>2023-24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20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20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5545869"/>
                  </a:ext>
                </a:extLst>
              </a:tr>
              <a:tr h="5055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200" dirty="0">
                          <a:effectLst/>
                        </a:rPr>
                        <a:t>2024-25(Q1)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8745" marR="118745" marT="60960" marB="6096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10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1001918"/>
              </p:ext>
            </p:extLst>
          </p:nvPr>
        </p:nvGraphicFramePr>
        <p:xfrm>
          <a:off x="3708177" y="1908100"/>
          <a:ext cx="4896544" cy="3312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5056989"/>
              </p:ext>
            </p:extLst>
          </p:nvPr>
        </p:nvGraphicFramePr>
        <p:xfrm>
          <a:off x="6372473" y="1895192"/>
          <a:ext cx="5632512" cy="4189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96093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3">
            <a:extLst>
              <a:ext uri="{FF2B5EF4-FFF2-40B4-BE49-F238E27FC236}">
                <a16:creationId xmlns:a16="http://schemas.microsoft.com/office/drawing/2014/main" id="{63D17A3C-D70C-1CCC-7954-CFCB2982195A}"/>
              </a:ext>
            </a:extLst>
          </p:cNvPr>
          <p:cNvSpPr txBox="1">
            <a:spLocks/>
          </p:cNvSpPr>
          <p:nvPr/>
        </p:nvSpPr>
        <p:spPr bwMode="auto">
          <a:xfrm>
            <a:off x="8514609" y="8453554"/>
            <a:ext cx="2772198" cy="48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1" tIns="59900" rIns="119801" bIns="599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fld id="{8FB2C2FC-AFA0-E14E-B669-B6326519176A}" type="slidenum">
              <a:rPr lang="en-US" altLang="en-US">
                <a:solidFill>
                  <a:srgbClr val="8C95AA"/>
                </a:solidFill>
              </a:rPr>
              <a:pPr eaLnBrk="0" hangingPunct="0"/>
              <a:t>7</a:t>
            </a:fld>
            <a:endParaRPr lang="en-US" altLang="en-US">
              <a:solidFill>
                <a:srgbClr val="8C95AA"/>
              </a:solidFill>
            </a:endParaRPr>
          </a:p>
        </p:txBody>
      </p:sp>
      <p:sp>
        <p:nvSpPr>
          <p:cNvPr id="79875" name="Slide Number Placeholder 3">
            <a:extLst>
              <a:ext uri="{FF2B5EF4-FFF2-40B4-BE49-F238E27FC236}">
                <a16:creationId xmlns:a16="http://schemas.microsoft.com/office/drawing/2014/main" id="{B9255111-9DDA-A30A-2641-D125609FFF90}"/>
              </a:ext>
            </a:extLst>
          </p:cNvPr>
          <p:cNvSpPr txBox="1">
            <a:spLocks/>
          </p:cNvSpPr>
          <p:nvPr/>
        </p:nvSpPr>
        <p:spPr bwMode="auto">
          <a:xfrm>
            <a:off x="8514609" y="8453554"/>
            <a:ext cx="2772198" cy="48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1" tIns="59900" rIns="119801" bIns="599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fld id="{E736AF2D-FC9A-F648-A9B6-E5D88EDBFBAE}" type="slidenum">
              <a:rPr lang="en-US" altLang="en-US">
                <a:solidFill>
                  <a:srgbClr val="8C95AA"/>
                </a:solidFill>
              </a:rPr>
              <a:pPr eaLnBrk="0" hangingPunct="0"/>
              <a:t>7</a:t>
            </a:fld>
            <a:endParaRPr lang="en-US" altLang="en-US">
              <a:solidFill>
                <a:srgbClr val="8C95AA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1B3CED-ED17-1E7E-1FE3-2DFE1A94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25" y="320833"/>
            <a:ext cx="8910638" cy="637606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GB" altLang="en-US" sz="28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Tender ANALYSIS – (</a:t>
            </a:r>
            <a:r>
              <a:rPr lang="en-GB" altLang="en-US" sz="2800" b="1" spc="-1" dirty="0" err="1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Upto</a:t>
            </a:r>
            <a:r>
              <a:rPr lang="en-GB" altLang="en-US" sz="28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 Mar 2024)</a:t>
            </a:r>
            <a:endParaRPr lang="en-IN" altLang="en-US" sz="2800" b="1" spc="-1" dirty="0">
              <a:solidFill>
                <a:schemeClr val="tx1">
                  <a:lumMod val="75000"/>
                </a:schemeClr>
              </a:solidFill>
              <a:latin typeface="Copperplate Gothic Light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5772B04-FC7E-51A7-0E23-7B584409ED58}"/>
              </a:ext>
            </a:extLst>
          </p:cNvPr>
          <p:cNvSpPr txBox="1">
            <a:spLocks/>
          </p:cNvSpPr>
          <p:nvPr/>
        </p:nvSpPr>
        <p:spPr bwMode="auto">
          <a:xfrm>
            <a:off x="9036769" y="6472830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12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1400">
                <a:solidFill>
                  <a:srgbClr val="045C75"/>
                </a:solidFill>
                <a:latin typeface="Bookman Old Style" pitchFamily="18" charset="0"/>
              </a:rPr>
              <a:pPr algn="r"/>
              <a:t>7</a:t>
            </a:fld>
            <a:endParaRPr lang="en-US" altLang="en-US" sz="12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028BFD-64C8-7862-D4B1-D4B3B0352728}"/>
              </a:ext>
            </a:extLst>
          </p:cNvPr>
          <p:cNvSpPr txBox="1">
            <a:spLocks/>
          </p:cNvSpPr>
          <p:nvPr/>
        </p:nvSpPr>
        <p:spPr bwMode="auto">
          <a:xfrm>
            <a:off x="179785" y="1090536"/>
            <a:ext cx="4151607" cy="637606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0" kern="1200">
                <a:solidFill>
                  <a:srgbClr val="377BCD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5pPr>
            <a:lvl6pPr marL="599069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6pPr>
            <a:lvl7pPr marL="1198138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7pPr>
            <a:lvl8pPr marL="1797207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8pPr>
            <a:lvl9pPr marL="2396277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0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Total Tenders </a:t>
            </a:r>
            <a:endParaRPr lang="en-IN" altLang="en-US" sz="2000" b="1" spc="-1" dirty="0">
              <a:solidFill>
                <a:schemeClr val="tx1">
                  <a:lumMod val="75000"/>
                </a:schemeClr>
              </a:solidFill>
              <a:latin typeface="Copperplate Gothic Light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CF3C9B-F077-AD52-DC8B-79848A175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130761"/>
              </p:ext>
            </p:extLst>
          </p:nvPr>
        </p:nvGraphicFramePr>
        <p:xfrm>
          <a:off x="370951" y="1620069"/>
          <a:ext cx="3960441" cy="1513153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645736">
                  <a:extLst>
                    <a:ext uri="{9D8B030D-6E8A-4147-A177-3AD203B41FA5}">
                      <a16:colId xmlns:a16="http://schemas.microsoft.com/office/drawing/2014/main" val="3270135725"/>
                    </a:ext>
                  </a:extLst>
                </a:gridCol>
                <a:gridCol w="1097640">
                  <a:extLst>
                    <a:ext uri="{9D8B030D-6E8A-4147-A177-3AD203B41FA5}">
                      <a16:colId xmlns:a16="http://schemas.microsoft.com/office/drawing/2014/main" val="3940884553"/>
                    </a:ext>
                  </a:extLst>
                </a:gridCol>
                <a:gridCol w="870850">
                  <a:extLst>
                    <a:ext uri="{9D8B030D-6E8A-4147-A177-3AD203B41FA5}">
                      <a16:colId xmlns:a16="http://schemas.microsoft.com/office/drawing/2014/main" val="1340545223"/>
                    </a:ext>
                  </a:extLst>
                </a:gridCol>
                <a:gridCol w="1346215">
                  <a:extLst>
                    <a:ext uri="{9D8B030D-6E8A-4147-A177-3AD203B41FA5}">
                      <a16:colId xmlns:a16="http://schemas.microsoft.com/office/drawing/2014/main" val="3310838696"/>
                    </a:ext>
                  </a:extLst>
                </a:gridCol>
              </a:tblGrid>
              <a:tr h="4934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bg1"/>
                          </a:solidFill>
                          <a:effectLst/>
                          <a:latin typeface="Arial Black" pitchFamily="34" charset="0"/>
                          <a:ea typeface="Yu Gothic UI Semibold" pitchFamily="34" charset="-128"/>
                        </a:rPr>
                        <a:t>Sl. No.</a:t>
                      </a:r>
                      <a:endParaRPr lang="en-US" sz="1050" b="1" dirty="0">
                        <a:solidFill>
                          <a:schemeClr val="bg1"/>
                        </a:solidFill>
                        <a:effectLst/>
                        <a:latin typeface="Arial Black" pitchFamily="34" charset="0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bg1"/>
                          </a:solidFill>
                          <a:effectLst/>
                          <a:latin typeface="Arial Black" pitchFamily="34" charset="0"/>
                          <a:ea typeface="Yu Gothic UI Semibold" pitchFamily="34" charset="-128"/>
                        </a:rPr>
                        <a:t>Bid Category</a:t>
                      </a:r>
                      <a:endParaRPr lang="en-US" sz="1050" b="1" dirty="0">
                        <a:solidFill>
                          <a:schemeClr val="bg1"/>
                        </a:solidFill>
                        <a:effectLst/>
                        <a:latin typeface="Arial Black" pitchFamily="34" charset="0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bg1"/>
                          </a:solidFill>
                          <a:effectLst/>
                          <a:latin typeface="Arial Black" pitchFamily="34" charset="0"/>
                          <a:ea typeface="Yu Gothic UI Semibold" pitchFamily="34" charset="-128"/>
                        </a:rPr>
                        <a:t>No of Bids</a:t>
                      </a:r>
                      <a:endParaRPr lang="en-US" sz="1050" b="1" dirty="0">
                        <a:solidFill>
                          <a:schemeClr val="bg1"/>
                        </a:solidFill>
                        <a:effectLst/>
                        <a:latin typeface="Arial Black" pitchFamily="34" charset="0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bg1"/>
                          </a:solidFill>
                          <a:effectLst/>
                          <a:latin typeface="Arial Black" pitchFamily="34" charset="0"/>
                          <a:ea typeface="Yu Gothic UI Semibold" pitchFamily="34" charset="-128"/>
                        </a:rPr>
                        <a:t>Value in Rs Crores</a:t>
                      </a:r>
                      <a:endParaRPr lang="en-US" sz="1050" b="1" dirty="0">
                        <a:solidFill>
                          <a:schemeClr val="bg1"/>
                        </a:solidFill>
                        <a:effectLst/>
                        <a:latin typeface="Arial Black" pitchFamily="34" charset="0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43522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Software 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134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5,144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008747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Hardware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249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10,715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20692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</a:t>
                      </a: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Software and Hardware 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367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30,949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4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8007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52D1C-B2A8-43B8-AD40-883EECBCD2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DE002C-6460-104B-8A7F-9712D44CB447}" type="slidenum">
              <a:rPr lang="en-US" altLang="en-US" smtClean="0"/>
              <a:pPr/>
              <a:t>8</a:t>
            </a:fld>
            <a:endParaRPr lang="en-US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6BC305-68E0-4418-9FDA-604A7D2C5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984348"/>
              </p:ext>
            </p:extLst>
          </p:nvPr>
        </p:nvGraphicFramePr>
        <p:xfrm>
          <a:off x="323801" y="1120657"/>
          <a:ext cx="3793859" cy="5218323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47606">
                  <a:extLst>
                    <a:ext uri="{9D8B030D-6E8A-4147-A177-3AD203B41FA5}">
                      <a16:colId xmlns:a16="http://schemas.microsoft.com/office/drawing/2014/main" val="95716435"/>
                    </a:ext>
                  </a:extLst>
                </a:gridCol>
                <a:gridCol w="1230029">
                  <a:extLst>
                    <a:ext uri="{9D8B030D-6E8A-4147-A177-3AD203B41FA5}">
                      <a16:colId xmlns:a16="http://schemas.microsoft.com/office/drawing/2014/main" val="3874840180"/>
                    </a:ext>
                  </a:extLst>
                </a:gridCol>
                <a:gridCol w="625208">
                  <a:extLst>
                    <a:ext uri="{9D8B030D-6E8A-4147-A177-3AD203B41FA5}">
                      <a16:colId xmlns:a16="http://schemas.microsoft.com/office/drawing/2014/main" val="2173096896"/>
                    </a:ext>
                  </a:extLst>
                </a:gridCol>
                <a:gridCol w="1391016">
                  <a:extLst>
                    <a:ext uri="{9D8B030D-6E8A-4147-A177-3AD203B41FA5}">
                      <a16:colId xmlns:a16="http://schemas.microsoft.com/office/drawing/2014/main" val="184472314"/>
                    </a:ext>
                  </a:extLst>
                </a:gridCol>
              </a:tblGrid>
              <a:tr h="4436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Arial Black" pitchFamily="34" charset="0"/>
                          <a:ea typeface="Yu Gothic UI Semibold" pitchFamily="34" charset="-128"/>
                        </a:rPr>
                        <a:t>Sl. No.</a:t>
                      </a:r>
                      <a:endParaRPr lang="en-US" sz="1000" b="0" dirty="0">
                        <a:solidFill>
                          <a:schemeClr val="bg1"/>
                        </a:solidFill>
                        <a:effectLst/>
                        <a:latin typeface="Arial Black" pitchFamily="34" charset="0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Arial Black" pitchFamily="34" charset="0"/>
                          <a:ea typeface="Yu Gothic UI Semibold" pitchFamily="34" charset="-128"/>
                        </a:rPr>
                        <a:t>SW Domain</a:t>
                      </a:r>
                      <a:endParaRPr lang="en-US" sz="1000" b="0" dirty="0">
                        <a:solidFill>
                          <a:schemeClr val="bg1"/>
                        </a:solidFill>
                        <a:effectLst/>
                        <a:latin typeface="Arial Black" pitchFamily="34" charset="0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Arial Black" pitchFamily="34" charset="0"/>
                          <a:ea typeface="Yu Gothic UI Semibold" pitchFamily="34" charset="-128"/>
                        </a:rPr>
                        <a:t>No of Bids</a:t>
                      </a:r>
                      <a:endParaRPr lang="en-US" sz="1000" b="0" dirty="0">
                        <a:solidFill>
                          <a:schemeClr val="bg1"/>
                        </a:solidFill>
                        <a:effectLst/>
                        <a:latin typeface="Arial Black" pitchFamily="34" charset="0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Arial Black" pitchFamily="34" charset="0"/>
                          <a:ea typeface="Yu Gothic UI Semibold" pitchFamily="34" charset="-128"/>
                        </a:rPr>
                        <a:t>Value  in Rs Crores</a:t>
                      </a:r>
                      <a:endParaRPr lang="en-US" sz="1000" b="0" dirty="0">
                        <a:solidFill>
                          <a:schemeClr val="bg1"/>
                        </a:solidFill>
                        <a:effectLst/>
                        <a:latin typeface="Arial Black" pitchFamily="34" charset="0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855661"/>
                  </a:ext>
                </a:extLst>
              </a:tr>
              <a:tr h="24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AI/ML 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7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47354" marR="47354" marT="6577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143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47354" marR="47354" marT="6577" marB="0" anchor="ctr"/>
                </a:tc>
                <a:extLst>
                  <a:ext uri="{0D108BD9-81ED-4DB2-BD59-A6C34878D82A}">
                    <a16:rowId xmlns:a16="http://schemas.microsoft.com/office/drawing/2014/main" val="2821850021"/>
                  </a:ext>
                </a:extLst>
              </a:tr>
              <a:tr h="3230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App Development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28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47354" marR="47354" marT="657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793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47354" marR="47354" marT="657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6306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App Migration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47354" marR="47354" marT="6577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15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47354" marR="47354" marT="6577" marB="0" anchor="ctr"/>
                </a:tc>
                <a:extLst>
                  <a:ext uri="{0D108BD9-81ED-4DB2-BD59-A6C34878D82A}">
                    <a16:rowId xmlns:a16="http://schemas.microsoft.com/office/drawing/2014/main" val="123514389"/>
                  </a:ext>
                </a:extLst>
              </a:tr>
              <a:tr h="24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4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BFSI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6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179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413576"/>
                  </a:ext>
                </a:extLst>
              </a:tr>
              <a:tr h="24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</a:t>
                      </a:r>
                      <a:endParaRPr lang="en-US" sz="10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Cloud Services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15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1,241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extLst>
                  <a:ext uri="{0D108BD9-81ED-4DB2-BD59-A6C34878D82A}">
                    <a16:rowId xmlns:a16="http://schemas.microsoft.com/office/drawing/2014/main" val="3707170482"/>
                  </a:ext>
                </a:extLst>
              </a:tr>
              <a:tr h="237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6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Customer Care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22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307683"/>
                  </a:ext>
                </a:extLst>
              </a:tr>
              <a:tr h="2351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7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Cyber Security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261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extLst>
                  <a:ext uri="{0D108BD9-81ED-4DB2-BD59-A6C34878D82A}">
                    <a16:rowId xmlns:a16="http://schemas.microsoft.com/office/drawing/2014/main" val="905994630"/>
                  </a:ext>
                </a:extLst>
              </a:tr>
              <a:tr h="2881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8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E-Governance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8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619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914154"/>
                  </a:ext>
                </a:extLst>
              </a:tr>
              <a:tr h="24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9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ERP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21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775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extLst>
                  <a:ext uri="{0D108BD9-81ED-4DB2-BD59-A6C34878D82A}">
                    <a16:rowId xmlns:a16="http://schemas.microsoft.com/office/drawing/2014/main" val="2008034948"/>
                  </a:ext>
                </a:extLst>
              </a:tr>
              <a:tr h="24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10</a:t>
                      </a:r>
                      <a:endParaRPr lang="en-US" sz="10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Health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35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495153"/>
                  </a:ext>
                </a:extLst>
              </a:tr>
              <a:tr h="24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11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NMS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84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extLst>
                  <a:ext uri="{0D108BD9-81ED-4DB2-BD59-A6C34878D82A}">
                    <a16:rowId xmlns:a16="http://schemas.microsoft.com/office/drawing/2014/main" val="3811001687"/>
                  </a:ext>
                </a:extLst>
              </a:tr>
              <a:tr h="24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12</a:t>
                      </a:r>
                      <a:endParaRPr lang="en-US" sz="10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GIS</a:t>
                      </a:r>
                      <a:endParaRPr lang="en-US" sz="10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102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974637"/>
                  </a:ext>
                </a:extLst>
              </a:tr>
              <a:tr h="3069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13</a:t>
                      </a:r>
                      <a:endParaRPr lang="en-US" sz="10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O&amp;M (App)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4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112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extLst>
                  <a:ext uri="{0D108BD9-81ED-4DB2-BD59-A6C34878D82A}">
                    <a16:rowId xmlns:a16="http://schemas.microsoft.com/office/drawing/2014/main" val="2833828813"/>
                  </a:ext>
                </a:extLst>
              </a:tr>
              <a:tr h="3069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14</a:t>
                      </a:r>
                      <a:endParaRPr lang="en-US" sz="10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O&amp;M (COTS)</a:t>
                      </a:r>
                      <a:endParaRPr lang="en-US" sz="10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56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497553"/>
                  </a:ext>
                </a:extLst>
              </a:tr>
              <a:tr h="24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15</a:t>
                      </a:r>
                      <a:endParaRPr lang="en-US" sz="10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Power</a:t>
                      </a:r>
                      <a:endParaRPr lang="en-US" sz="10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68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extLst>
                  <a:ext uri="{0D108BD9-81ED-4DB2-BD59-A6C34878D82A}">
                    <a16:rowId xmlns:a16="http://schemas.microsoft.com/office/drawing/2014/main" val="662622678"/>
                  </a:ext>
                </a:extLst>
              </a:tr>
              <a:tr h="3069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16</a:t>
                      </a:r>
                      <a:endParaRPr lang="en-US" sz="10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Procurement</a:t>
                      </a:r>
                      <a:endParaRPr lang="en-US" sz="10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25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590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202193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17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Video Analytics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49</a:t>
                      </a:r>
                      <a:endParaRPr lang="en-US" sz="10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/>
                </a:tc>
                <a:extLst>
                  <a:ext uri="{0D108BD9-81ED-4DB2-BD59-A6C34878D82A}">
                    <a16:rowId xmlns:a16="http://schemas.microsoft.com/office/drawing/2014/main" val="447231513"/>
                  </a:ext>
                </a:extLst>
              </a:tr>
              <a:tr h="24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 </a:t>
                      </a:r>
                      <a:endParaRPr lang="en-US" sz="10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 Black" pitchFamily="34" charset="0"/>
                          <a:ea typeface="Yu Gothic UI Semibold" pitchFamily="34" charset="-128"/>
                        </a:rPr>
                        <a:t>Total</a:t>
                      </a:r>
                      <a:endParaRPr lang="en-US" sz="1000" b="1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 Black" pitchFamily="34" charset="0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 Black" pitchFamily="34" charset="0"/>
                          <a:ea typeface="Yu Gothic UI Semibold" pitchFamily="34" charset="-128"/>
                        </a:rPr>
                        <a:t>134</a:t>
                      </a:r>
                      <a:endParaRPr lang="en-US" sz="1000" b="1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 Black" pitchFamily="34" charset="0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 Black" pitchFamily="34" charset="0"/>
                          <a:ea typeface="Yu Gothic UI Semibold" pitchFamily="34" charset="-128"/>
                        </a:rPr>
                        <a:t>5,144</a:t>
                      </a:r>
                      <a:endParaRPr lang="en-US" sz="1000" b="1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 Black" pitchFamily="34" charset="0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3139" marR="63139" marT="31569" marB="31569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787125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7C15E5E-6CFF-43B9-BFC4-A7ACCF71EF8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323801" y="251917"/>
            <a:ext cx="8910638" cy="636587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0" kern="1200">
                <a:solidFill>
                  <a:srgbClr val="377BCD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5pPr>
            <a:lvl6pPr marL="599069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6pPr>
            <a:lvl7pPr marL="1198138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7pPr>
            <a:lvl8pPr marL="1797207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8pPr>
            <a:lvl9pPr marL="2396277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en-US" sz="2000" b="1" spc="-1" dirty="0">
                <a:solidFill>
                  <a:srgbClr val="C00000"/>
                </a:solidFill>
                <a:latin typeface="Copperplate Gothic Light" pitchFamily="34" charset="0"/>
              </a:rPr>
              <a:t>TENDERS ANALYSED (2022-2024) - Domain Wise Breakup</a:t>
            </a:r>
            <a:endParaRPr lang="en-IN" altLang="en-US" sz="2000" b="1" spc="-1" dirty="0">
              <a:solidFill>
                <a:srgbClr val="C00000"/>
              </a:solidFill>
              <a:latin typeface="Copperplate Gothic Light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63DF254-E79E-402A-9FC5-46038B4F8E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1598607"/>
              </p:ext>
            </p:extLst>
          </p:nvPr>
        </p:nvGraphicFramePr>
        <p:xfrm>
          <a:off x="4395710" y="1323690"/>
          <a:ext cx="7129927" cy="4464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16789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3">
            <a:extLst>
              <a:ext uri="{FF2B5EF4-FFF2-40B4-BE49-F238E27FC236}">
                <a16:creationId xmlns:a16="http://schemas.microsoft.com/office/drawing/2014/main" id="{63D17A3C-D70C-1CCC-7954-CFCB2982195A}"/>
              </a:ext>
            </a:extLst>
          </p:cNvPr>
          <p:cNvSpPr txBox="1">
            <a:spLocks/>
          </p:cNvSpPr>
          <p:nvPr/>
        </p:nvSpPr>
        <p:spPr bwMode="auto">
          <a:xfrm>
            <a:off x="8514609" y="8453554"/>
            <a:ext cx="2772198" cy="48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1" tIns="59900" rIns="119801" bIns="599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fld id="{8FB2C2FC-AFA0-E14E-B669-B6326519176A}" type="slidenum">
              <a:rPr lang="en-US" altLang="en-US">
                <a:solidFill>
                  <a:srgbClr val="8C95AA"/>
                </a:solidFill>
              </a:rPr>
              <a:pPr eaLnBrk="0" hangingPunct="0"/>
              <a:t>9</a:t>
            </a:fld>
            <a:endParaRPr lang="en-US" altLang="en-US">
              <a:solidFill>
                <a:srgbClr val="8C95AA"/>
              </a:solidFill>
            </a:endParaRPr>
          </a:p>
        </p:txBody>
      </p:sp>
      <p:sp>
        <p:nvSpPr>
          <p:cNvPr id="79875" name="Slide Number Placeholder 3">
            <a:extLst>
              <a:ext uri="{FF2B5EF4-FFF2-40B4-BE49-F238E27FC236}">
                <a16:creationId xmlns:a16="http://schemas.microsoft.com/office/drawing/2014/main" id="{B9255111-9DDA-A30A-2641-D125609FFF90}"/>
              </a:ext>
            </a:extLst>
          </p:cNvPr>
          <p:cNvSpPr txBox="1">
            <a:spLocks/>
          </p:cNvSpPr>
          <p:nvPr/>
        </p:nvSpPr>
        <p:spPr bwMode="auto">
          <a:xfrm>
            <a:off x="8514609" y="8453554"/>
            <a:ext cx="2772198" cy="48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1" tIns="59900" rIns="119801" bIns="599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fld id="{E736AF2D-FC9A-F648-A9B6-E5D88EDBFBAE}" type="slidenum">
              <a:rPr lang="en-US" altLang="en-US">
                <a:solidFill>
                  <a:srgbClr val="8C95AA"/>
                </a:solidFill>
              </a:rPr>
              <a:pPr eaLnBrk="0" hangingPunct="0"/>
              <a:t>9</a:t>
            </a:fld>
            <a:endParaRPr lang="en-US" altLang="en-US">
              <a:solidFill>
                <a:srgbClr val="8C95AA"/>
              </a:solidFill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8861037" y="6359178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1" tIns="59900" rIns="119801" bIns="5990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1600">
                <a:solidFill>
                  <a:srgbClr val="045C75"/>
                </a:solidFill>
                <a:latin typeface="Bookman Old Style" pitchFamily="18" charset="0"/>
              </a:rPr>
              <a:pPr algn="r"/>
              <a:t>9</a:t>
            </a:fld>
            <a:endParaRPr lang="en-US" altLang="en-US" sz="16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1B3CED-ED17-1E7E-1FE3-2DFE1A94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25" y="320833"/>
            <a:ext cx="9145016" cy="637606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GB" altLang="en-US" sz="2800" b="1" spc="-1" dirty="0">
                <a:solidFill>
                  <a:srgbClr val="C00000"/>
                </a:solidFill>
                <a:latin typeface="Copperplate Gothic Light" pitchFamily="34" charset="0"/>
              </a:rPr>
              <a:t>Tender ANALYSIS – Live Tenders (Sept 2024)</a:t>
            </a:r>
            <a:endParaRPr lang="en-IN" altLang="en-US" sz="2800" b="1" spc="-1" dirty="0">
              <a:solidFill>
                <a:srgbClr val="C00000"/>
              </a:solidFill>
              <a:latin typeface="Copperplate Gothic Light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4C4A87-A911-F782-71F2-24794D57B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113820"/>
              </p:ext>
            </p:extLst>
          </p:nvPr>
        </p:nvGraphicFramePr>
        <p:xfrm>
          <a:off x="425792" y="1596045"/>
          <a:ext cx="4074473" cy="1728191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53709">
                  <a:extLst>
                    <a:ext uri="{9D8B030D-6E8A-4147-A177-3AD203B41FA5}">
                      <a16:colId xmlns:a16="http://schemas.microsoft.com/office/drawing/2014/main" val="335770637"/>
                    </a:ext>
                  </a:extLst>
                </a:gridCol>
                <a:gridCol w="1543471">
                  <a:extLst>
                    <a:ext uri="{9D8B030D-6E8A-4147-A177-3AD203B41FA5}">
                      <a16:colId xmlns:a16="http://schemas.microsoft.com/office/drawing/2014/main" val="3542505386"/>
                    </a:ext>
                  </a:extLst>
                </a:gridCol>
                <a:gridCol w="778148">
                  <a:extLst>
                    <a:ext uri="{9D8B030D-6E8A-4147-A177-3AD203B41FA5}">
                      <a16:colId xmlns:a16="http://schemas.microsoft.com/office/drawing/2014/main" val="1343935367"/>
                    </a:ext>
                  </a:extLst>
                </a:gridCol>
                <a:gridCol w="1199145">
                  <a:extLst>
                    <a:ext uri="{9D8B030D-6E8A-4147-A177-3AD203B41FA5}">
                      <a16:colId xmlns:a16="http://schemas.microsoft.com/office/drawing/2014/main" val="165209505"/>
                    </a:ext>
                  </a:extLst>
                </a:gridCol>
              </a:tblGrid>
              <a:tr h="5371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Sl. No.</a:t>
                      </a:r>
                      <a:endParaRPr lang="en-US" sz="1100" b="1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Bid Category</a:t>
                      </a:r>
                      <a:endParaRPr lang="en-US" sz="1100" b="1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No of Bids</a:t>
                      </a:r>
                      <a:endParaRPr lang="en-US" sz="1100" b="1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Value in Rs Crores</a:t>
                      </a:r>
                      <a:endParaRPr lang="en-US" sz="1100" b="1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80416"/>
                  </a:ext>
                </a:extLst>
              </a:tr>
              <a:tr h="350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Software 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18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1,228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754033"/>
                  </a:ext>
                </a:extLst>
              </a:tr>
              <a:tr h="350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</a:t>
                      </a: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Hardware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8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756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194474"/>
                  </a:ext>
                </a:extLst>
              </a:tr>
              <a:tr h="4904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3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Software and Hardware 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25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</a:rPr>
                        <a:t>2,294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Mangal" panose="02040503050203030202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818936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E9028BFD-64C8-7862-D4B1-D4B3B0352728}"/>
              </a:ext>
            </a:extLst>
          </p:cNvPr>
          <p:cNvSpPr txBox="1">
            <a:spLocks/>
          </p:cNvSpPr>
          <p:nvPr/>
        </p:nvSpPr>
        <p:spPr bwMode="auto">
          <a:xfrm>
            <a:off x="425792" y="958439"/>
            <a:ext cx="4074473" cy="637606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0" kern="1200">
                <a:solidFill>
                  <a:srgbClr val="377BCD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5pPr>
            <a:lvl6pPr marL="599069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6pPr>
            <a:lvl7pPr marL="1198138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7pPr>
            <a:lvl8pPr marL="1797207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8pPr>
            <a:lvl9pPr marL="2396277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en-US" sz="20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Live Tenders (Domestic)</a:t>
            </a:r>
            <a:endParaRPr lang="en-IN" altLang="en-US" sz="2000" b="1" spc="-1" dirty="0">
              <a:solidFill>
                <a:schemeClr val="tx1">
                  <a:lumMod val="75000"/>
                </a:schemeClr>
              </a:solidFill>
              <a:latin typeface="Copperplate Gothic Light" pitchFamily="34" charset="0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F356401-004B-466B-9570-EA6EBC91C5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5747162"/>
              </p:ext>
            </p:extLst>
          </p:nvPr>
        </p:nvGraphicFramePr>
        <p:xfrm>
          <a:off x="4140225" y="108854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35E7551-8611-4788-8258-DCBC411507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6157092"/>
              </p:ext>
            </p:extLst>
          </p:nvPr>
        </p:nvGraphicFramePr>
        <p:xfrm>
          <a:off x="7236569" y="108854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F9CAAD7-D37C-4806-9F38-5354F5F08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010987"/>
              </p:ext>
            </p:extLst>
          </p:nvPr>
        </p:nvGraphicFramePr>
        <p:xfrm>
          <a:off x="323802" y="4475422"/>
          <a:ext cx="4320480" cy="171092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4136">
                  <a:extLst>
                    <a:ext uri="{9D8B030D-6E8A-4147-A177-3AD203B41FA5}">
                      <a16:colId xmlns:a16="http://schemas.microsoft.com/office/drawing/2014/main" val="1233318613"/>
                    </a:ext>
                  </a:extLst>
                </a:gridCol>
                <a:gridCol w="1532184">
                  <a:extLst>
                    <a:ext uri="{9D8B030D-6E8A-4147-A177-3AD203B41FA5}">
                      <a16:colId xmlns:a16="http://schemas.microsoft.com/office/drawing/2014/main" val="1084163868"/>
                    </a:ext>
                  </a:extLst>
                </a:gridCol>
                <a:gridCol w="846926">
                  <a:extLst>
                    <a:ext uri="{9D8B030D-6E8A-4147-A177-3AD203B41FA5}">
                      <a16:colId xmlns:a16="http://schemas.microsoft.com/office/drawing/2014/main" val="874117469"/>
                    </a:ext>
                  </a:extLst>
                </a:gridCol>
                <a:gridCol w="1337234">
                  <a:extLst>
                    <a:ext uri="{9D8B030D-6E8A-4147-A177-3AD203B41FA5}">
                      <a16:colId xmlns:a16="http://schemas.microsoft.com/office/drawing/2014/main" val="1355634949"/>
                    </a:ext>
                  </a:extLst>
                </a:gridCol>
              </a:tblGrid>
              <a:tr h="457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Sl. No.</a:t>
                      </a:r>
                      <a:endParaRPr lang="en-US" sz="105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Bid Category</a:t>
                      </a:r>
                      <a:endParaRPr lang="en-US" sz="105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No of Bids</a:t>
                      </a:r>
                      <a:endParaRPr lang="en-US" sz="105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Value in  Rs Crores</a:t>
                      </a:r>
                      <a:endParaRPr lang="en-US" sz="105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108781"/>
                  </a:ext>
                </a:extLst>
              </a:tr>
              <a:tr h="33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Software 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85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4,803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048684"/>
                  </a:ext>
                </a:extLst>
              </a:tr>
              <a:tr h="33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2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Hardware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28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3,090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726889"/>
                  </a:ext>
                </a:extLst>
              </a:tr>
              <a:tr h="5777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3</a:t>
                      </a: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Software and Hardware 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66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4,593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531918"/>
                  </a:ext>
                </a:extLst>
              </a:tr>
            </a:tbl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234C6417-EEC7-47B5-B039-F6C1466ADCB3}"/>
              </a:ext>
            </a:extLst>
          </p:cNvPr>
          <p:cNvSpPr txBox="1">
            <a:spLocks/>
          </p:cNvSpPr>
          <p:nvPr/>
        </p:nvSpPr>
        <p:spPr bwMode="auto">
          <a:xfrm>
            <a:off x="461800" y="3831741"/>
            <a:ext cx="4074473" cy="637606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0" kern="1200">
                <a:solidFill>
                  <a:srgbClr val="377BCD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5pPr>
            <a:lvl6pPr marL="599069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6pPr>
            <a:lvl7pPr marL="1198138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7pPr>
            <a:lvl8pPr marL="1797207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8pPr>
            <a:lvl9pPr marL="2396277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en-US" sz="20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Live Tenders (Export)</a:t>
            </a:r>
            <a:endParaRPr lang="en-IN" altLang="en-US" sz="2000" b="1" spc="-1" dirty="0">
              <a:solidFill>
                <a:schemeClr val="tx1">
                  <a:lumMod val="75000"/>
                </a:schemeClr>
              </a:solidFill>
              <a:latin typeface="Copperplate Gothic Light" pitchFamily="34" charset="0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C3B5914F-E95F-42C3-9FCF-838BCC4F6A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9131182"/>
              </p:ext>
            </p:extLst>
          </p:nvPr>
        </p:nvGraphicFramePr>
        <p:xfrm>
          <a:off x="4347214" y="387289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1BDC05D7-5699-4324-809A-DD5335B344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2531939"/>
              </p:ext>
            </p:extLst>
          </p:nvPr>
        </p:nvGraphicFramePr>
        <p:xfrm>
          <a:off x="7236569" y="39618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666956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5FB8C-7714-499A-8616-0F30F55A7F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DE002C-6460-104B-8A7F-9712D44CB447}" type="slidenum">
              <a:rPr lang="en-US" altLang="en-US" smtClean="0"/>
              <a:pPr/>
              <a:t>10</a:t>
            </a:fld>
            <a:endParaRPr lang="en-US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6B315E-3B89-4878-B37A-085245B97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131773"/>
              </p:ext>
            </p:extLst>
          </p:nvPr>
        </p:nvGraphicFramePr>
        <p:xfrm>
          <a:off x="539826" y="1548061"/>
          <a:ext cx="4045182" cy="3956683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627750">
                  <a:extLst>
                    <a:ext uri="{9D8B030D-6E8A-4147-A177-3AD203B41FA5}">
                      <a16:colId xmlns:a16="http://schemas.microsoft.com/office/drawing/2014/main" val="2238152189"/>
                    </a:ext>
                  </a:extLst>
                </a:gridCol>
                <a:gridCol w="1322705">
                  <a:extLst>
                    <a:ext uri="{9D8B030D-6E8A-4147-A177-3AD203B41FA5}">
                      <a16:colId xmlns:a16="http://schemas.microsoft.com/office/drawing/2014/main" val="2336652479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3104292647"/>
                    </a:ext>
                  </a:extLst>
                </a:gridCol>
                <a:gridCol w="1241922">
                  <a:extLst>
                    <a:ext uri="{9D8B030D-6E8A-4147-A177-3AD203B41FA5}">
                      <a16:colId xmlns:a16="http://schemas.microsoft.com/office/drawing/2014/main" val="1879452164"/>
                    </a:ext>
                  </a:extLst>
                </a:gridCol>
              </a:tblGrid>
              <a:tr h="6555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Sl. No.</a:t>
                      </a:r>
                      <a:endParaRPr lang="en-US" sz="105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SW Domain</a:t>
                      </a:r>
                      <a:endParaRPr lang="en-US" sz="105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No of Bids</a:t>
                      </a:r>
                      <a:endParaRPr lang="en-US" sz="105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Value in Rs Crores</a:t>
                      </a:r>
                      <a:endParaRPr lang="en-US" sz="105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454737"/>
                  </a:ext>
                </a:extLst>
              </a:tr>
              <a:tr h="3790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AI/ML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2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112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9306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2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App Development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3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89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32359"/>
                  </a:ext>
                </a:extLst>
              </a:tr>
              <a:tr h="3522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3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BFSI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50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39175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Cyber Security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2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426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395383"/>
                  </a:ext>
                </a:extLst>
              </a:tr>
              <a:tr h="3790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5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ERP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6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404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379998"/>
                  </a:ext>
                </a:extLst>
              </a:tr>
              <a:tr h="3701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6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Health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35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93779"/>
                  </a:ext>
                </a:extLst>
              </a:tr>
              <a:tr h="4029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7</a:t>
                      </a: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O&amp;M (COTS)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2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92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4264701"/>
                  </a:ext>
                </a:extLst>
              </a:tr>
              <a:tr h="3311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8</a:t>
                      </a: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Power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20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98196"/>
                  </a:ext>
                </a:extLst>
              </a:tr>
              <a:tr h="3790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n-US" sz="1050" b="1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Total</a:t>
                      </a:r>
                      <a:endParaRPr lang="en-US" sz="1050" b="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18</a:t>
                      </a:r>
                      <a:endParaRPr lang="en-US" sz="1050" b="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1,228</a:t>
                      </a:r>
                      <a:endParaRPr lang="en-US" sz="1050" b="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381696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3E6D6BA6-815D-4E12-B42C-912A278B047D}"/>
              </a:ext>
            </a:extLst>
          </p:cNvPr>
          <p:cNvSpPr txBox="1">
            <a:spLocks/>
          </p:cNvSpPr>
          <p:nvPr/>
        </p:nvSpPr>
        <p:spPr bwMode="auto">
          <a:xfrm>
            <a:off x="539826" y="323806"/>
            <a:ext cx="8910638" cy="637606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0" kern="1200">
                <a:solidFill>
                  <a:srgbClr val="377BCD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5pPr>
            <a:lvl6pPr marL="599069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6pPr>
            <a:lvl7pPr marL="1198138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7pPr>
            <a:lvl8pPr marL="1797207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8pPr>
            <a:lvl9pPr marL="2396277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en-US" sz="2400" b="1" spc="-1" dirty="0">
                <a:solidFill>
                  <a:schemeClr val="tx2">
                    <a:lumMod val="50000"/>
                  </a:schemeClr>
                </a:solidFill>
                <a:latin typeface="Copperplate Gothic Light" pitchFamily="34" charset="0"/>
              </a:rPr>
              <a:t>Software Live Tenders - Domain Wise Breakup</a:t>
            </a:r>
            <a:endParaRPr lang="en-IN" altLang="en-US" sz="2400" b="1" spc="-1" dirty="0">
              <a:solidFill>
                <a:schemeClr val="tx2">
                  <a:lumMod val="50000"/>
                </a:schemeClr>
              </a:solidFill>
              <a:latin typeface="Copperplate Gothic Light" pitchFamily="34" charset="0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4B58771-B26C-4D85-BA1C-48D9BE3627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0712664"/>
              </p:ext>
            </p:extLst>
          </p:nvPr>
        </p:nvGraphicFramePr>
        <p:xfrm>
          <a:off x="5148337" y="1404045"/>
          <a:ext cx="6192686" cy="4232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31113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55B6C-9A17-435D-A823-4DF9A4148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DE002C-6460-104B-8A7F-9712D44CB447}" type="slidenum">
              <a:rPr lang="en-US" altLang="en-US" smtClean="0"/>
              <a:pPr/>
              <a:t>11</a:t>
            </a:fld>
            <a:endParaRPr lang="en-US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31E70C-A5FE-40F3-924E-7E3514ADD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282679"/>
              </p:ext>
            </p:extLst>
          </p:nvPr>
        </p:nvGraphicFramePr>
        <p:xfrm>
          <a:off x="395809" y="1268801"/>
          <a:ext cx="4093845" cy="473083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497609833"/>
                    </a:ext>
                  </a:extLst>
                </a:gridCol>
                <a:gridCol w="1322705">
                  <a:extLst>
                    <a:ext uri="{9D8B030D-6E8A-4147-A177-3AD203B41FA5}">
                      <a16:colId xmlns:a16="http://schemas.microsoft.com/office/drawing/2014/main" val="1560357514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589105896"/>
                    </a:ext>
                  </a:extLst>
                </a:gridCol>
                <a:gridCol w="1310005">
                  <a:extLst>
                    <a:ext uri="{9D8B030D-6E8A-4147-A177-3AD203B41FA5}">
                      <a16:colId xmlns:a16="http://schemas.microsoft.com/office/drawing/2014/main" val="2676082957"/>
                    </a:ext>
                  </a:extLst>
                </a:gridCol>
              </a:tblGrid>
              <a:tr h="5402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Sl. No.</a:t>
                      </a:r>
                      <a:endParaRPr lang="en-US" sz="105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SW Domain</a:t>
                      </a:r>
                      <a:endParaRPr lang="en-US" sz="105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No of Bids</a:t>
                      </a:r>
                      <a:endParaRPr lang="en-US" sz="105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Value in Rs Crores</a:t>
                      </a:r>
                      <a:endParaRPr lang="en-US" sz="1050" dirty="0"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6558518"/>
                  </a:ext>
                </a:extLst>
              </a:tr>
              <a:tr h="3471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AI/ML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227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21301"/>
                  </a:ext>
                </a:extLst>
              </a:tr>
              <a:tr h="3999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2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App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35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1,425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743919"/>
                  </a:ext>
                </a:extLst>
              </a:tr>
              <a:tr h="3471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3</a:t>
                      </a: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BFSI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7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448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615928"/>
                  </a:ext>
                </a:extLst>
              </a:tr>
              <a:tr h="3471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</a:t>
                      </a: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Cloud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5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439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837283"/>
                  </a:ext>
                </a:extLst>
              </a:tr>
              <a:tr h="5402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5</a:t>
                      </a: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Cyber Security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7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430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307198"/>
                  </a:ext>
                </a:extLst>
              </a:tr>
              <a:tr h="3471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6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ERP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8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490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151506"/>
                  </a:ext>
                </a:extLst>
              </a:tr>
              <a:tr h="3471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7</a:t>
                      </a: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GIS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597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566631"/>
                  </a:ext>
                </a:extLst>
              </a:tr>
              <a:tr h="3471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8</a:t>
                      </a: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O&amp;M (App)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6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202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775435"/>
                  </a:ext>
                </a:extLst>
              </a:tr>
              <a:tr h="3471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9</a:t>
                      </a: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Procurement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16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388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908538"/>
                  </a:ext>
                </a:extLst>
              </a:tr>
              <a:tr h="4733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10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Video Analytics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2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157</a:t>
                      </a:r>
                      <a:endParaRPr lang="en-US" sz="105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151207"/>
                  </a:ext>
                </a:extLst>
              </a:tr>
              <a:tr h="347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5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Total</a:t>
                      </a:r>
                      <a:endParaRPr lang="en-US" sz="1050" b="1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85</a:t>
                      </a:r>
                      <a:endParaRPr lang="en-US" sz="1050" b="1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Yu Gothic UI Semibold" pitchFamily="34" charset="-128"/>
                          <a:ea typeface="Yu Gothic UI Semibold" pitchFamily="34" charset="-128"/>
                          <a:cs typeface="Tahoma" panose="020B0604030504040204" pitchFamily="34" charset="0"/>
                        </a:rPr>
                        <a:t>4,803</a:t>
                      </a:r>
                      <a:endParaRPr lang="en-US" sz="1050" b="1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Yu Gothic UI Semibold" pitchFamily="34" charset="-128"/>
                        <a:ea typeface="Yu Gothic UI Semibold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858328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6E18841-5E15-4E46-A6D2-F860141C750B}"/>
              </a:ext>
            </a:extLst>
          </p:cNvPr>
          <p:cNvSpPr/>
          <p:nvPr/>
        </p:nvSpPr>
        <p:spPr>
          <a:xfrm>
            <a:off x="971873" y="399876"/>
            <a:ext cx="43965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000000"/>
                </a:solidFill>
                <a:latin typeface="Copperplate Gothic Light" panose="020E0507020206020404" pitchFamily="34" charset="0"/>
              </a:rPr>
              <a:t>Domain Wise Breakup</a:t>
            </a:r>
            <a:r>
              <a:rPr lang="en-IN" sz="2800" dirty="0"/>
              <a:t>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C2625D2-8196-43AC-8FA2-040D4FD322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9992585"/>
              </p:ext>
            </p:extLst>
          </p:nvPr>
        </p:nvGraphicFramePr>
        <p:xfrm>
          <a:off x="5004321" y="1112282"/>
          <a:ext cx="5904656" cy="255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7D7E0D9-D51B-42D7-8947-FFE5DAEB29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7812976"/>
              </p:ext>
            </p:extLst>
          </p:nvPr>
        </p:nvGraphicFramePr>
        <p:xfrm>
          <a:off x="4500265" y="3663132"/>
          <a:ext cx="6312013" cy="2935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4102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3">
            <a:extLst>
              <a:ext uri="{FF2B5EF4-FFF2-40B4-BE49-F238E27FC236}">
                <a16:creationId xmlns:a16="http://schemas.microsoft.com/office/drawing/2014/main" id="{63D17A3C-D70C-1CCC-7954-CFCB2982195A}"/>
              </a:ext>
            </a:extLst>
          </p:cNvPr>
          <p:cNvSpPr txBox="1">
            <a:spLocks/>
          </p:cNvSpPr>
          <p:nvPr/>
        </p:nvSpPr>
        <p:spPr bwMode="auto">
          <a:xfrm>
            <a:off x="8514609" y="8453554"/>
            <a:ext cx="2772198" cy="48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1" tIns="59900" rIns="119801" bIns="599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fld id="{8FB2C2FC-AFA0-E14E-B669-B6326519176A}" type="slidenum">
              <a:rPr lang="en-US" altLang="en-US">
                <a:solidFill>
                  <a:srgbClr val="8C95AA"/>
                </a:solidFill>
              </a:rPr>
              <a:pPr eaLnBrk="0" hangingPunct="0"/>
              <a:t>12</a:t>
            </a:fld>
            <a:endParaRPr lang="en-US" altLang="en-US">
              <a:solidFill>
                <a:srgbClr val="8C95AA"/>
              </a:solidFill>
            </a:endParaRPr>
          </a:p>
        </p:txBody>
      </p:sp>
      <p:sp>
        <p:nvSpPr>
          <p:cNvPr id="79875" name="Slide Number Placeholder 3">
            <a:extLst>
              <a:ext uri="{FF2B5EF4-FFF2-40B4-BE49-F238E27FC236}">
                <a16:creationId xmlns:a16="http://schemas.microsoft.com/office/drawing/2014/main" id="{B9255111-9DDA-A30A-2641-D125609FFF90}"/>
              </a:ext>
            </a:extLst>
          </p:cNvPr>
          <p:cNvSpPr txBox="1">
            <a:spLocks/>
          </p:cNvSpPr>
          <p:nvPr/>
        </p:nvSpPr>
        <p:spPr bwMode="auto">
          <a:xfrm>
            <a:off x="8514609" y="8453554"/>
            <a:ext cx="2772198" cy="48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1" tIns="59900" rIns="119801" bIns="599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fld id="{E736AF2D-FC9A-F648-A9B6-E5D88EDBFBAE}" type="slidenum">
              <a:rPr lang="en-US" altLang="en-US">
                <a:solidFill>
                  <a:srgbClr val="8C95AA"/>
                </a:solidFill>
              </a:rPr>
              <a:pPr eaLnBrk="0" hangingPunct="0"/>
              <a:t>12</a:t>
            </a:fld>
            <a:endParaRPr lang="en-US" altLang="en-US">
              <a:solidFill>
                <a:srgbClr val="8C95AA"/>
              </a:solidFill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8861037" y="6359178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1" tIns="59900" rIns="119801" bIns="5990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12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1B3CED-ED17-1E7E-1FE3-2DFE1A94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25" y="320833"/>
            <a:ext cx="8910638" cy="637606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GB" altLang="en-US" sz="28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Tender ANALYSIS – Export (In Mar 2024)</a:t>
            </a:r>
            <a:endParaRPr lang="en-IN" altLang="en-US" sz="2800" b="1" spc="-1" dirty="0">
              <a:solidFill>
                <a:schemeClr val="tx1">
                  <a:lumMod val="75000"/>
                </a:schemeClr>
              </a:solidFill>
              <a:latin typeface="Copperplate Gothic Light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5772B04-FC7E-51A7-0E23-7B584409ED58}"/>
              </a:ext>
            </a:extLst>
          </p:cNvPr>
          <p:cNvSpPr txBox="1">
            <a:spLocks/>
          </p:cNvSpPr>
          <p:nvPr/>
        </p:nvSpPr>
        <p:spPr bwMode="auto">
          <a:xfrm>
            <a:off x="8840797" y="6346505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12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7D4656-42AD-B30B-F2D1-BB7C91938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519747"/>
              </p:ext>
            </p:extLst>
          </p:nvPr>
        </p:nvGraphicFramePr>
        <p:xfrm>
          <a:off x="539825" y="2078940"/>
          <a:ext cx="4695825" cy="2177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59">
                  <a:extLst>
                    <a:ext uri="{9D8B030D-6E8A-4147-A177-3AD203B41FA5}">
                      <a16:colId xmlns:a16="http://schemas.microsoft.com/office/drawing/2014/main" val="111456688"/>
                    </a:ext>
                  </a:extLst>
                </a:gridCol>
                <a:gridCol w="1462165">
                  <a:extLst>
                    <a:ext uri="{9D8B030D-6E8A-4147-A177-3AD203B41FA5}">
                      <a16:colId xmlns:a16="http://schemas.microsoft.com/office/drawing/2014/main" val="687977216"/>
                    </a:ext>
                  </a:extLst>
                </a:gridCol>
                <a:gridCol w="1060102">
                  <a:extLst>
                    <a:ext uri="{9D8B030D-6E8A-4147-A177-3AD203B41FA5}">
                      <a16:colId xmlns:a16="http://schemas.microsoft.com/office/drawing/2014/main" val="4077985571"/>
                    </a:ext>
                  </a:extLst>
                </a:gridCol>
                <a:gridCol w="1439299">
                  <a:extLst>
                    <a:ext uri="{9D8B030D-6E8A-4147-A177-3AD203B41FA5}">
                      <a16:colId xmlns:a16="http://schemas.microsoft.com/office/drawing/2014/main" val="1379831387"/>
                    </a:ext>
                  </a:extLst>
                </a:gridCol>
              </a:tblGrid>
              <a:tr h="11253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Sl. No.</a:t>
                      </a:r>
                      <a:endParaRPr lang="en-US" sz="11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Bid Category</a:t>
                      </a:r>
                      <a:endParaRPr lang="en-US" sz="11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 of Bids</a:t>
                      </a:r>
                      <a:endParaRPr lang="en-US" sz="11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Value in Rs Crores</a:t>
                      </a:r>
                      <a:endParaRPr lang="en-US" sz="11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636615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1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Software </a:t>
                      </a:r>
                      <a:endParaRPr lang="en-US" sz="1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  <a:endParaRPr lang="en-US" sz="1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446</a:t>
                      </a:r>
                      <a:endParaRPr lang="en-US" sz="1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60819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1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Hardware</a:t>
                      </a:r>
                      <a:endParaRPr lang="en-US" sz="1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  <a:endParaRPr lang="en-US" sz="1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  <a:endParaRPr lang="en-US" sz="1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852383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1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Software and Hardware </a:t>
                      </a:r>
                      <a:endParaRPr lang="en-US" sz="1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US" sz="1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664</a:t>
                      </a:r>
                      <a:endParaRPr lang="en-US" sz="1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350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ABB910D-4BD5-4F0C-934D-ED66792857EB}"/>
              </a:ext>
            </a:extLst>
          </p:cNvPr>
          <p:cNvSpPr/>
          <p:nvPr/>
        </p:nvSpPr>
        <p:spPr>
          <a:xfrm>
            <a:off x="1331913" y="1548061"/>
            <a:ext cx="208597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17375E"/>
                </a:solidFill>
                <a:latin typeface="Copperplate Gothic Light" panose="020E0507020206020404" pitchFamily="34" charset="0"/>
              </a:rPr>
              <a:t>Total  Tenders</a:t>
            </a:r>
            <a:r>
              <a:rPr lang="en-IN" dirty="0"/>
              <a:t> </a:t>
            </a:r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6683403"/>
              </p:ext>
            </p:extLst>
          </p:nvPr>
        </p:nvGraphicFramePr>
        <p:xfrm>
          <a:off x="5235650" y="1916361"/>
          <a:ext cx="6969471" cy="4312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968858"/>
              </p:ext>
            </p:extLst>
          </p:nvPr>
        </p:nvGraphicFramePr>
        <p:xfrm>
          <a:off x="4716289" y="1903688"/>
          <a:ext cx="4548909" cy="4073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69783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A021A-C1C9-4A5D-8026-8E1855A679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DE002C-6460-104B-8A7F-9712D44CB447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50E9B7-AC30-47AC-8BC3-10A1F927303B}"/>
              </a:ext>
            </a:extLst>
          </p:cNvPr>
          <p:cNvSpPr txBox="1">
            <a:spLocks/>
          </p:cNvSpPr>
          <p:nvPr/>
        </p:nvSpPr>
        <p:spPr bwMode="auto">
          <a:xfrm>
            <a:off x="220614" y="395933"/>
            <a:ext cx="4999731" cy="637606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0" kern="1200">
                <a:solidFill>
                  <a:srgbClr val="377BCD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5pPr>
            <a:lvl6pPr marL="599069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6pPr>
            <a:lvl7pPr marL="1198138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7pPr>
            <a:lvl8pPr marL="1797207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8pPr>
            <a:lvl9pPr marL="2396277" algn="ctr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CC33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0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Domain Wise Breakup</a:t>
            </a:r>
            <a:endParaRPr lang="en-IN" altLang="en-US" sz="2000" b="1" spc="-1" dirty="0">
              <a:solidFill>
                <a:schemeClr val="tx1">
                  <a:lumMod val="75000"/>
                </a:schemeClr>
              </a:solidFill>
              <a:latin typeface="Copperplate Gothic Light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A78036-2478-4819-BDA2-4C22BF3F0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706877"/>
              </p:ext>
            </p:extLst>
          </p:nvPr>
        </p:nvGraphicFramePr>
        <p:xfrm>
          <a:off x="539825" y="1260029"/>
          <a:ext cx="3888432" cy="1939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394">
                  <a:extLst>
                    <a:ext uri="{9D8B030D-6E8A-4147-A177-3AD203B41FA5}">
                      <a16:colId xmlns:a16="http://schemas.microsoft.com/office/drawing/2014/main" val="932139982"/>
                    </a:ext>
                  </a:extLst>
                </a:gridCol>
                <a:gridCol w="1429999">
                  <a:extLst>
                    <a:ext uri="{9D8B030D-6E8A-4147-A177-3AD203B41FA5}">
                      <a16:colId xmlns:a16="http://schemas.microsoft.com/office/drawing/2014/main" val="2024256085"/>
                    </a:ext>
                  </a:extLst>
                </a:gridCol>
                <a:gridCol w="671054">
                  <a:extLst>
                    <a:ext uri="{9D8B030D-6E8A-4147-A177-3AD203B41FA5}">
                      <a16:colId xmlns:a16="http://schemas.microsoft.com/office/drawing/2014/main" val="3929304254"/>
                    </a:ext>
                  </a:extLst>
                </a:gridCol>
                <a:gridCol w="1196985">
                  <a:extLst>
                    <a:ext uri="{9D8B030D-6E8A-4147-A177-3AD203B41FA5}">
                      <a16:colId xmlns:a16="http://schemas.microsoft.com/office/drawing/2014/main" val="4111489610"/>
                    </a:ext>
                  </a:extLst>
                </a:gridCol>
              </a:tblGrid>
              <a:tr h="2266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Sl. No.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SW Domain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No of Bids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Value in Rs Crores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79613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AI/ML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240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5018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App Development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18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36654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Cyber Security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78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366421627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ERP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110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32414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 dirty="0">
                        <a:effectLst/>
                        <a:latin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</a:rPr>
                        <a:t>Total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</a:rPr>
                        <a:t>8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</a:rPr>
                        <a:t>446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3674955819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508F3E7-259B-4903-ACAC-090299B06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9786581"/>
              </p:ext>
            </p:extLst>
          </p:nvPr>
        </p:nvGraphicFramePr>
        <p:xfrm>
          <a:off x="5220345" y="1156563"/>
          <a:ext cx="6264696" cy="4135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8EDF410-1726-458B-8A13-D6CDE75B41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0085087"/>
              </p:ext>
            </p:extLst>
          </p:nvPr>
        </p:nvGraphicFramePr>
        <p:xfrm>
          <a:off x="33481" y="3824959"/>
          <a:ext cx="5177603" cy="2697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04473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3">
            <a:extLst>
              <a:ext uri="{FF2B5EF4-FFF2-40B4-BE49-F238E27FC236}">
                <a16:creationId xmlns:a16="http://schemas.microsoft.com/office/drawing/2014/main" id="{63D17A3C-D70C-1CCC-7954-CFCB2982195A}"/>
              </a:ext>
            </a:extLst>
          </p:cNvPr>
          <p:cNvSpPr txBox="1">
            <a:spLocks/>
          </p:cNvSpPr>
          <p:nvPr/>
        </p:nvSpPr>
        <p:spPr bwMode="auto">
          <a:xfrm>
            <a:off x="8514609" y="8453554"/>
            <a:ext cx="2772198" cy="48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1" tIns="59900" rIns="119801" bIns="599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fld id="{8FB2C2FC-AFA0-E14E-B669-B6326519176A}" type="slidenum">
              <a:rPr lang="en-US" altLang="en-US">
                <a:solidFill>
                  <a:srgbClr val="8C95AA"/>
                </a:solidFill>
              </a:rPr>
              <a:pPr eaLnBrk="0" hangingPunct="0"/>
              <a:t>14</a:t>
            </a:fld>
            <a:endParaRPr lang="en-US" altLang="en-US">
              <a:solidFill>
                <a:srgbClr val="8C95AA"/>
              </a:solidFill>
            </a:endParaRPr>
          </a:p>
        </p:txBody>
      </p:sp>
      <p:sp>
        <p:nvSpPr>
          <p:cNvPr id="79875" name="Slide Number Placeholder 3">
            <a:extLst>
              <a:ext uri="{FF2B5EF4-FFF2-40B4-BE49-F238E27FC236}">
                <a16:creationId xmlns:a16="http://schemas.microsoft.com/office/drawing/2014/main" id="{B9255111-9DDA-A30A-2641-D125609FFF90}"/>
              </a:ext>
            </a:extLst>
          </p:cNvPr>
          <p:cNvSpPr txBox="1">
            <a:spLocks/>
          </p:cNvSpPr>
          <p:nvPr/>
        </p:nvSpPr>
        <p:spPr bwMode="auto">
          <a:xfrm>
            <a:off x="8514609" y="8453554"/>
            <a:ext cx="2772198" cy="48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1" tIns="59900" rIns="119801" bIns="599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fld id="{E736AF2D-FC9A-F648-A9B6-E5D88EDBFBAE}" type="slidenum">
              <a:rPr lang="en-US" altLang="en-US">
                <a:solidFill>
                  <a:srgbClr val="8C95AA"/>
                </a:solidFill>
              </a:rPr>
              <a:pPr eaLnBrk="0" hangingPunct="0"/>
              <a:t>14</a:t>
            </a:fld>
            <a:endParaRPr lang="en-US" altLang="en-US">
              <a:solidFill>
                <a:srgbClr val="8C95AA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1B3CED-ED17-1E7E-1FE3-2DFE1A94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25" y="320833"/>
            <a:ext cx="8910638" cy="637606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GB" altLang="en-US" sz="26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Total Probable Acquisitions (2024-2026)</a:t>
            </a:r>
            <a:endParaRPr lang="en-IN" altLang="en-US" sz="2600" b="1" spc="-1" dirty="0">
              <a:solidFill>
                <a:schemeClr val="tx1">
                  <a:lumMod val="75000"/>
                </a:schemeClr>
              </a:solidFill>
              <a:latin typeface="Copperplate Gothic Light" pitchFamily="34" charset="0"/>
            </a:endParaRPr>
          </a:p>
        </p:txBody>
      </p:sp>
      <p:sp>
        <p:nvSpPr>
          <p:cNvPr id="8" name="Text Placeholder 30"/>
          <p:cNvSpPr>
            <a:spLocks noGrp="1"/>
          </p:cNvSpPr>
          <p:nvPr>
            <p:ph type="body" sz="quarter" idx="4294967295"/>
          </p:nvPr>
        </p:nvSpPr>
        <p:spPr>
          <a:xfrm>
            <a:off x="5886395" y="6456060"/>
            <a:ext cx="5256427" cy="27657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1800" b="1" i="1" dirty="0">
                <a:latin typeface="Bookman Old Style" pitchFamily="18" charset="0"/>
              </a:rPr>
              <a:t>Obtainable Business/year = ~235 Crores</a:t>
            </a:r>
            <a:endParaRPr lang="en-IN" sz="1800" b="1" i="1" dirty="0">
              <a:latin typeface="Bookman Old Style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9831" y="1089373"/>
            <a:ext cx="10153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Tenders available in various tender portals from 2022-2024 were analyzed. Based on the analysis, the expected market growth and the business available &amp; addressable by BEL is provided below.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26EF39-C0EE-4534-B588-D59050889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465774"/>
              </p:ext>
            </p:extLst>
          </p:nvPr>
        </p:nvGraphicFramePr>
        <p:xfrm>
          <a:off x="971873" y="1865222"/>
          <a:ext cx="9632093" cy="4397623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538163">
                  <a:extLst>
                    <a:ext uri="{9D8B030D-6E8A-4147-A177-3AD203B41FA5}">
                      <a16:colId xmlns:a16="http://schemas.microsoft.com/office/drawing/2014/main" val="3277018536"/>
                    </a:ext>
                  </a:extLst>
                </a:gridCol>
                <a:gridCol w="1389659">
                  <a:extLst>
                    <a:ext uri="{9D8B030D-6E8A-4147-A177-3AD203B41FA5}">
                      <a16:colId xmlns:a16="http://schemas.microsoft.com/office/drawing/2014/main" val="4176910352"/>
                    </a:ext>
                  </a:extLst>
                </a:gridCol>
                <a:gridCol w="1389659">
                  <a:extLst>
                    <a:ext uri="{9D8B030D-6E8A-4147-A177-3AD203B41FA5}">
                      <a16:colId xmlns:a16="http://schemas.microsoft.com/office/drawing/2014/main" val="2559139043"/>
                    </a:ext>
                  </a:extLst>
                </a:gridCol>
                <a:gridCol w="1578653">
                  <a:extLst>
                    <a:ext uri="{9D8B030D-6E8A-4147-A177-3AD203B41FA5}">
                      <a16:colId xmlns:a16="http://schemas.microsoft.com/office/drawing/2014/main" val="2087692953"/>
                    </a:ext>
                  </a:extLst>
                </a:gridCol>
                <a:gridCol w="1578653">
                  <a:extLst>
                    <a:ext uri="{9D8B030D-6E8A-4147-A177-3AD203B41FA5}">
                      <a16:colId xmlns:a16="http://schemas.microsoft.com/office/drawing/2014/main" val="896131797"/>
                    </a:ext>
                  </a:extLst>
                </a:gridCol>
                <a:gridCol w="1578653">
                  <a:extLst>
                    <a:ext uri="{9D8B030D-6E8A-4147-A177-3AD203B41FA5}">
                      <a16:colId xmlns:a16="http://schemas.microsoft.com/office/drawing/2014/main" val="726655774"/>
                    </a:ext>
                  </a:extLst>
                </a:gridCol>
                <a:gridCol w="1578653">
                  <a:extLst>
                    <a:ext uri="{9D8B030D-6E8A-4147-A177-3AD203B41FA5}">
                      <a16:colId xmlns:a16="http://schemas.microsoft.com/office/drawing/2014/main" val="3999537215"/>
                    </a:ext>
                  </a:extLst>
                </a:gridCol>
              </a:tblGrid>
              <a:tr h="23562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Sl. No.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SW Domain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Obtainable by BEL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Obtainable by BEL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Obtainable by BEL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Obtainable by BEL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Obtainable by BEL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62458"/>
                  </a:ext>
                </a:extLst>
              </a:tr>
              <a:tr h="24633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2025 - 26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2026 - 27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2027 - 28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2028 - 29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2029 - 30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653292"/>
                  </a:ext>
                </a:extLst>
              </a:tr>
              <a:tr h="3213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ERP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210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252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302.4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362.88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435.456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595881"/>
                  </a:ext>
                </a:extLst>
              </a:tr>
              <a:tr h="3105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Digital Identity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36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43.2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51.84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623861"/>
                  </a:ext>
                </a:extLst>
              </a:tr>
              <a:tr h="3213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VMS, VA 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72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86.4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103.68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377397"/>
                  </a:ext>
                </a:extLst>
              </a:tr>
              <a:tr h="3105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HMIS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7.2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8.64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10.368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12.4416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415030"/>
                  </a:ext>
                </a:extLst>
              </a:tr>
              <a:tr h="3213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AI/ML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62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74.4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89.28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107.136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128.5632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739045"/>
                  </a:ext>
                </a:extLst>
              </a:tr>
              <a:tr h="3105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ICCC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21.6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25.92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31.104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703989"/>
                  </a:ext>
                </a:extLst>
              </a:tr>
              <a:tr h="3105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NMS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36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43.2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51.84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62.208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327168"/>
                  </a:ext>
                </a:extLst>
              </a:tr>
              <a:tr h="2972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Digital Agriculture 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72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86.4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103.68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693686"/>
                  </a:ext>
                </a:extLst>
              </a:tr>
              <a:tr h="3105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Simulators 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28.8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34.56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41.472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40936"/>
                  </a:ext>
                </a:extLst>
              </a:tr>
              <a:tr h="3105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Cloud Services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180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216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259.2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311.04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373.248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498016"/>
                  </a:ext>
                </a:extLst>
              </a:tr>
              <a:tr h="3105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BFSI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360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432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518.4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622.08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746.496</a:t>
                      </a:r>
                      <a:endParaRPr lang="en-IN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315164"/>
                  </a:ext>
                </a:extLst>
              </a:tr>
              <a:tr h="342729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N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</a:t>
                      </a:r>
                      <a:endParaRPr lang="en-IN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1008</a:t>
                      </a:r>
                      <a:endParaRPr lang="en-IN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1209.6</a:t>
                      </a:r>
                      <a:endParaRPr lang="en-IN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1451.52</a:t>
                      </a:r>
                      <a:endParaRPr lang="en-IN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1741.824</a:t>
                      </a:r>
                      <a:endParaRPr lang="en-IN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2090.1888</a:t>
                      </a:r>
                      <a:endParaRPr lang="en-IN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093" marR="8093" marT="809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30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137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3">
            <a:extLst>
              <a:ext uri="{FF2B5EF4-FFF2-40B4-BE49-F238E27FC236}">
                <a16:creationId xmlns:a16="http://schemas.microsoft.com/office/drawing/2014/main" id="{63D17A3C-D70C-1CCC-7954-CFCB2982195A}"/>
              </a:ext>
            </a:extLst>
          </p:cNvPr>
          <p:cNvSpPr txBox="1">
            <a:spLocks/>
          </p:cNvSpPr>
          <p:nvPr/>
        </p:nvSpPr>
        <p:spPr bwMode="auto">
          <a:xfrm>
            <a:off x="8514609" y="8453554"/>
            <a:ext cx="2772198" cy="48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1" tIns="59900" rIns="119801" bIns="599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fld id="{8FB2C2FC-AFA0-E14E-B669-B6326519176A}" type="slidenum">
              <a:rPr lang="en-US" altLang="en-US">
                <a:solidFill>
                  <a:srgbClr val="8C95AA"/>
                </a:solidFill>
              </a:rPr>
              <a:pPr eaLnBrk="0" hangingPunct="0"/>
              <a:t>15</a:t>
            </a:fld>
            <a:endParaRPr lang="en-US" altLang="en-US">
              <a:solidFill>
                <a:srgbClr val="8C95AA"/>
              </a:solidFill>
            </a:endParaRPr>
          </a:p>
        </p:txBody>
      </p:sp>
      <p:sp>
        <p:nvSpPr>
          <p:cNvPr id="79875" name="Slide Number Placeholder 3">
            <a:extLst>
              <a:ext uri="{FF2B5EF4-FFF2-40B4-BE49-F238E27FC236}">
                <a16:creationId xmlns:a16="http://schemas.microsoft.com/office/drawing/2014/main" id="{B9255111-9DDA-A30A-2641-D125609FFF90}"/>
              </a:ext>
            </a:extLst>
          </p:cNvPr>
          <p:cNvSpPr txBox="1">
            <a:spLocks/>
          </p:cNvSpPr>
          <p:nvPr/>
        </p:nvSpPr>
        <p:spPr bwMode="auto">
          <a:xfrm>
            <a:off x="8514609" y="8453554"/>
            <a:ext cx="2772198" cy="48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01" tIns="59900" rIns="119801" bIns="599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fld id="{E736AF2D-FC9A-F648-A9B6-E5D88EDBFBAE}" type="slidenum">
              <a:rPr lang="en-US" altLang="en-US">
                <a:solidFill>
                  <a:srgbClr val="8C95AA"/>
                </a:solidFill>
              </a:rPr>
              <a:pPr eaLnBrk="0" hangingPunct="0"/>
              <a:t>15</a:t>
            </a:fld>
            <a:endParaRPr lang="en-US" altLang="en-US">
              <a:solidFill>
                <a:srgbClr val="8C95AA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1B3CED-ED17-1E7E-1FE3-2DFE1A94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25" y="320833"/>
            <a:ext cx="8910638" cy="637606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GB" altLang="en-US" sz="26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Total Probable Acquisitions (2024-2026)</a:t>
            </a:r>
            <a:endParaRPr lang="en-IN" altLang="en-US" sz="2600" b="1" spc="-1" dirty="0">
              <a:solidFill>
                <a:schemeClr val="tx1">
                  <a:lumMod val="75000"/>
                </a:schemeClr>
              </a:solidFill>
              <a:latin typeface="Copperplate Gothic Light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5E79046-CC18-42B8-B822-C8FCB6BF78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7555855"/>
              </p:ext>
            </p:extLst>
          </p:nvPr>
        </p:nvGraphicFramePr>
        <p:xfrm>
          <a:off x="467817" y="1156175"/>
          <a:ext cx="11341025" cy="5363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02044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43264-7449-A3B4-F0B5-6BB89EA0BFD3}"/>
              </a:ext>
            </a:extLst>
          </p:cNvPr>
          <p:cNvSpPr/>
          <p:nvPr/>
        </p:nvSpPr>
        <p:spPr>
          <a:xfrm>
            <a:off x="2291569" y="2529008"/>
            <a:ext cx="7017030" cy="213622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19814" tIns="59907" rIns="119814" bIns="59907" anchor="ctr"/>
          <a:lstStyle/>
          <a:p>
            <a:pPr algn="ctr">
              <a:defRPr/>
            </a:pPr>
            <a:r>
              <a:rPr lang="en-GB" sz="3700" b="1" dirty="0">
                <a:solidFill>
                  <a:schemeClr val="bg1"/>
                </a:solidFill>
                <a:latin typeface="Copperplate Gothic Light" pitchFamily="34" charset="0"/>
              </a:rPr>
              <a:t>SW SBU Business PLAN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8840797" y="6295832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16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020097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83058AB2-A964-FD86-02F9-0C5233472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41" y="350473"/>
            <a:ext cx="9271439" cy="637606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21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Domestic Order Acquisition (Software Business in </a:t>
            </a:r>
            <a:r>
              <a:rPr lang="en-IN" sz="21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Crores</a:t>
            </a:r>
            <a:r>
              <a:rPr lang="en-GB" altLang="en-US" sz="21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)</a:t>
            </a:r>
            <a:endParaRPr lang="en-IN" altLang="en-US" sz="2100" b="1" spc="-1" dirty="0">
              <a:solidFill>
                <a:schemeClr val="tx1">
                  <a:lumMod val="75000"/>
                </a:schemeClr>
              </a:solidFill>
              <a:latin typeface="Copperplate Gothic Light" pitchFamily="34" charset="0"/>
            </a:endParaRP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388C696E-2C31-1B62-FC0D-2E122DF5880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43881" y="1483718"/>
          <a:ext cx="9577066" cy="439248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637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73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4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017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</a:t>
                      </a:r>
                      <a:endParaRPr kumimoji="0" lang="en-IN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Project</a:t>
                      </a:r>
                      <a:endParaRPr kumimoji="0" lang="en-IN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2024-25</a:t>
                      </a:r>
                      <a:endParaRPr kumimoji="0" lang="en-IN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2025-26</a:t>
                      </a:r>
                      <a:endParaRPr kumimoji="0" lang="en-GB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2026-27</a:t>
                      </a:r>
                      <a:endParaRPr kumimoji="0" lang="en-GB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2027-28 </a:t>
                      </a:r>
                      <a:endParaRPr kumimoji="0" lang="en-GB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132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ERP &amp; Health care</a:t>
                      </a:r>
                    </a:p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(TCL, AVNL,UP Metro, IAF, OFBs, State Dept. ERPs)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kumimoji="0" lang="en-IN" sz="160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t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kumimoji="0" lang="en-IN" sz="160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t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kumimoji="0" lang="en-IN" sz="160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t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kumimoji="0" lang="en-IN" sz="160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t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83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Digital Agriculture, </a:t>
                      </a:r>
                      <a:r>
                        <a:rPr kumimoji="0" lang="en-IN" sz="120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BlockChain</a:t>
                      </a:r>
                      <a:r>
                        <a:rPr kumimoji="0" lang="en-IN" sz="12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ONGC (EACS) 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70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1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DRDO Projects, (CAIR, ADE, LRDE, DRDL), NSIL(ISRO)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kumimoji="0" lang="en-IN" sz="160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t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kumimoji="0" lang="en-IN" sz="160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t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35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kumimoji="0" lang="en-IN" sz="160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t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kumimoji="0" lang="en-IN" sz="160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t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75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61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MoD Projects (CIDSS, CPSS, AI/ML, Hybrid QA)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1100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kumimoji="0" lang="en-IN" sz="16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  <a:endParaRPr kumimoji="0" lang="en-IN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03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</a:t>
                      </a:r>
                      <a:endParaRPr kumimoji="0" lang="en-IN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6" marR="89126" marT="9126" marB="91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1220</a:t>
                      </a:r>
                      <a:endParaRPr kumimoji="0" lang="en-IN" sz="16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255</a:t>
                      </a:r>
                      <a:endParaRPr kumimoji="0" lang="en-IN" sz="16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350</a:t>
                      </a:r>
                      <a:endParaRPr kumimoji="0" lang="en-IN" sz="16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465</a:t>
                      </a:r>
                      <a:endParaRPr kumimoji="0" lang="en-IN" sz="16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8849144" y="6371846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17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69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21B6D-7EAB-46FD-B054-AF5702AB441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DE002C-6460-104B-8A7F-9712D44CB447}" type="slidenum">
              <a:rPr lang="en-US" altLang="en-US" smtClean="0"/>
              <a:pPr/>
              <a:t>18</a:t>
            </a:fld>
            <a:endParaRPr lang="en-US" alt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63ED959-F8DF-477F-A573-03ABC7E6F595}"/>
              </a:ext>
            </a:extLst>
          </p:cNvPr>
          <p:cNvGraphicFramePr>
            <a:graphicFrameLocks/>
          </p:cNvGraphicFramePr>
          <p:nvPr/>
        </p:nvGraphicFramePr>
        <p:xfrm>
          <a:off x="467817" y="1209390"/>
          <a:ext cx="7023968" cy="44217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9D331C2-3CF0-4637-B214-02E0E6EB996F}"/>
              </a:ext>
            </a:extLst>
          </p:cNvPr>
          <p:cNvGraphicFramePr>
            <a:graphicFrameLocks/>
          </p:cNvGraphicFramePr>
          <p:nvPr/>
        </p:nvGraphicFramePr>
        <p:xfrm>
          <a:off x="6732513" y="1692077"/>
          <a:ext cx="5616624" cy="3672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49270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6227677B-0AE4-FE03-7188-FC7657573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81653"/>
              </p:ext>
            </p:extLst>
          </p:nvPr>
        </p:nvGraphicFramePr>
        <p:xfrm>
          <a:off x="577135" y="1188021"/>
          <a:ext cx="10517518" cy="490415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3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29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7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99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522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</a:t>
                      </a:r>
                      <a:endParaRPr kumimoji="0" lang="en-IN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32" marR="89132" marT="9126" marB="912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Project</a:t>
                      </a:r>
                      <a:endParaRPr kumimoji="0" lang="en-IN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32" marR="89132" marT="9126" marB="912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2024-25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(in Cr)</a:t>
                      </a:r>
                      <a:endParaRPr kumimoji="0" lang="en-IN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32" marR="89132" marT="9126" marB="912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2025-26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(in Cr)</a:t>
                      </a: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32" marR="89132" marT="9126" marB="912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2026-27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(in Cr)</a:t>
                      </a: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32" marR="89132" marT="9126" marB="912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2027-28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(in Cr)</a:t>
                      </a: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32" marR="89132" marT="9126" marB="912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6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Belize UDI (Unique</a:t>
                      </a:r>
                      <a:r>
                        <a:rPr lang="en-IN" sz="1600" u="none" strike="noStrike" baseline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Digital Identity)</a:t>
                      </a:r>
                      <a:endParaRPr lang="en-IN" sz="16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443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GB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Sri Lanka UDI &amp; Other African countries</a:t>
                      </a:r>
                      <a:endParaRPr lang="en-GB" sz="16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0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Pilot Aptitude Test -Oman</a:t>
                      </a:r>
                      <a:endParaRPr lang="en-IN" sz="16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0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IV&amp;V,</a:t>
                      </a:r>
                      <a:r>
                        <a:rPr lang="en-US" sz="1600" u="none" strike="noStrike" baseline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Custom SW Development</a:t>
                      </a:r>
                      <a:endParaRPr lang="en-IN" sz="16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335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in Crores</a:t>
                      </a:r>
                      <a:endParaRPr lang="en-IN" sz="1600" b="1" i="0" u="none" strike="noStrike" dirty="0"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155</a:t>
                      </a:r>
                      <a:endParaRPr lang="en-IN" sz="1600" b="1" i="0" u="none" strike="noStrike" dirty="0"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160</a:t>
                      </a:r>
                      <a:endParaRPr lang="en-IN" sz="1600" b="1" i="0" u="none" strike="noStrike" dirty="0"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190</a:t>
                      </a:r>
                      <a:endParaRPr lang="en-IN" sz="1600" b="1" i="0" u="none" strike="noStrike" dirty="0"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240</a:t>
                      </a:r>
                      <a:endParaRPr lang="en-IN" sz="1600" b="1" i="0" u="none" strike="noStrike" dirty="0"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335">
                <a:tc>
                  <a:txBody>
                    <a:bodyPr/>
                    <a:lstStyle/>
                    <a:p>
                      <a:pPr algn="ctr" fontAlgn="t"/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3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in Million USD</a:t>
                      </a:r>
                    </a:p>
                    <a:p>
                      <a:pPr algn="l" rtl="0" fontAlgn="ctr"/>
                      <a:endParaRPr lang="en-IN" sz="1600" b="1" i="0" u="none" strike="noStrike" dirty="0"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18.5</a:t>
                      </a:r>
                      <a:endParaRPr lang="en-IN" sz="1600" b="1" i="0" u="none" strike="noStrike" dirty="0"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18.8</a:t>
                      </a:r>
                      <a:endParaRPr lang="en-IN" sz="1600" b="1" i="0" u="none" strike="noStrike" dirty="0"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22.3</a:t>
                      </a:r>
                      <a:endParaRPr lang="en-IN" sz="1600" b="1" i="0" u="none" strike="noStrike" dirty="0"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28.2</a:t>
                      </a:r>
                      <a:endParaRPr lang="en-IN" sz="1600" b="1" i="0" u="none" strike="noStrike" dirty="0"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63248710"/>
                  </a:ext>
                </a:extLst>
              </a:tr>
            </a:tbl>
          </a:graphicData>
        </a:graphic>
      </p:graphicFrame>
      <p:sp>
        <p:nvSpPr>
          <p:cNvPr id="62525" name="Title 1">
            <a:extLst>
              <a:ext uri="{FF2B5EF4-FFF2-40B4-BE49-F238E27FC236}">
                <a16:creationId xmlns:a16="http://schemas.microsoft.com/office/drawing/2014/main" id="{EA0425DB-7B70-D730-67C3-7C54557727AD}"/>
              </a:ext>
            </a:extLst>
          </p:cNvPr>
          <p:cNvSpPr txBox="1">
            <a:spLocks/>
          </p:cNvSpPr>
          <p:nvPr/>
        </p:nvSpPr>
        <p:spPr bwMode="auto">
          <a:xfrm>
            <a:off x="577135" y="236848"/>
            <a:ext cx="9057086" cy="637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>
            <a:lvl1pPr>
              <a:defRPr sz="1800" b="1" spc="-1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  <a:cs typeface="+mn-cs"/>
              </a:defRPr>
            </a:lvl1pPr>
            <a:lvl2pPr>
              <a:defRPr sz="3200">
                <a:solidFill>
                  <a:srgbClr val="377BCD"/>
                </a:solidFill>
                <a:latin typeface="+mn-lt"/>
                <a:cs typeface="+mn-cs"/>
              </a:defRPr>
            </a:lvl2pPr>
            <a:lvl3pPr>
              <a:defRPr sz="3200">
                <a:solidFill>
                  <a:srgbClr val="377BCD"/>
                </a:solidFill>
                <a:latin typeface="+mn-lt"/>
                <a:cs typeface="+mn-cs"/>
              </a:defRPr>
            </a:lvl3pPr>
            <a:lvl4pPr>
              <a:defRPr sz="3200">
                <a:solidFill>
                  <a:srgbClr val="377BCD"/>
                </a:solidFill>
                <a:latin typeface="+mn-lt"/>
                <a:cs typeface="+mn-cs"/>
              </a:defRPr>
            </a:lvl4pPr>
            <a:lvl5pPr>
              <a:defRPr sz="3200">
                <a:solidFill>
                  <a:srgbClr val="377BCD"/>
                </a:solidFill>
                <a:latin typeface="+mn-lt"/>
                <a:cs typeface="+mn-cs"/>
              </a:defRPr>
            </a:lvl5pPr>
            <a:lvl6pPr marL="457181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377BCD"/>
                </a:solidFill>
                <a:latin typeface="+mn-lt"/>
                <a:cs typeface="+mn-cs"/>
              </a:defRPr>
            </a:lvl6pPr>
            <a:lvl7pPr marL="914362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377BCD"/>
                </a:solidFill>
                <a:latin typeface="+mn-lt"/>
                <a:cs typeface="+mn-cs"/>
              </a:defRPr>
            </a:lvl7pPr>
            <a:lvl8pPr marL="1371543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377BCD"/>
                </a:solidFill>
                <a:latin typeface="+mn-lt"/>
                <a:cs typeface="+mn-cs"/>
              </a:defRPr>
            </a:lvl8pPr>
            <a:lvl9pPr marL="1828724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377BCD"/>
                </a:solidFill>
                <a:latin typeface="+mn-lt"/>
                <a:cs typeface="+mn-cs"/>
              </a:defRPr>
            </a:lvl9pPr>
          </a:lstStyle>
          <a:p>
            <a:r>
              <a:rPr lang="en-GB" altLang="en-US" sz="3700" dirty="0"/>
              <a:t>Export Order Acquisition </a:t>
            </a:r>
            <a:endParaRPr lang="en-IN" altLang="en-US" sz="3700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9108652" y="6421066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19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541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78D84-8247-46DA-8900-D9A1E352A0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DE002C-6460-104B-8A7F-9712D44CB447}" type="slidenum">
              <a:rPr lang="en-US" altLang="en-US" smtClean="0"/>
              <a:pPr/>
              <a:t>20</a:t>
            </a:fld>
            <a:endParaRPr lang="en-US" alt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4AE5AAA-197E-4B03-8DF5-597616A320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2957752"/>
              </p:ext>
            </p:extLst>
          </p:nvPr>
        </p:nvGraphicFramePr>
        <p:xfrm>
          <a:off x="1403921" y="1260029"/>
          <a:ext cx="9001000" cy="5080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04388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53" name="Title 1">
            <a:extLst>
              <a:ext uri="{FF2B5EF4-FFF2-40B4-BE49-F238E27FC236}">
                <a16:creationId xmlns:a16="http://schemas.microsoft.com/office/drawing/2014/main" id="{BD34698C-C662-71DA-0F7F-EA6CB284C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362" y="350473"/>
            <a:ext cx="9084318" cy="637606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31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Summary of Order Acquisition (</a:t>
            </a:r>
            <a:r>
              <a:rPr lang="en-IN" sz="2400" b="1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in Crores)</a:t>
            </a:r>
            <a:endParaRPr lang="en-IN" altLang="en-US" sz="2400" b="1" dirty="0">
              <a:solidFill>
                <a:schemeClr val="tx1"/>
              </a:solidFill>
              <a:latin typeface="Bookman Old Style" pitchFamily="18" charset="0"/>
              <a:cs typeface="Arial" pitchFamily="34" charset="0"/>
            </a:endParaRP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671EF72B-C0AD-D261-2054-23CE9441445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51793" y="1116013"/>
          <a:ext cx="5832647" cy="16656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2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2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8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984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Sl. No</a:t>
                      </a:r>
                      <a:endParaRPr kumimoji="0" lang="en-I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2" marR="89122" marT="9130" marB="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Project</a:t>
                      </a:r>
                      <a:endParaRPr kumimoji="0" lang="en-I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2" marR="89122" marT="9130" marB="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2024-25</a:t>
                      </a:r>
                      <a:endParaRPr kumimoji="0" lang="en-IN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2" marR="89122" marT="9130" marB="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2025-26</a:t>
                      </a:r>
                      <a:endParaRPr kumimoji="0" lang="en-GB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2" marR="89122" marT="9130" marB="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2026-27</a:t>
                      </a:r>
                      <a:endParaRPr kumimoji="0" lang="en-GB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2" marR="89122" marT="9130" marB="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2027-28 </a:t>
                      </a:r>
                      <a:endParaRPr kumimoji="0" lang="en-GB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2" marR="89122" marT="9130" marB="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899"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2" marR="89122" marT="9130" marB="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Software Business (Domestic)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2" marR="89122" marT="9130" marB="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1220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255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350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465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624"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2" marR="89122" marT="9130" marB="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Exports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2" marR="89122" marT="9130" marB="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155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160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190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240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295"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2" marR="89122" marT="9130" marB="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122" marR="89122" marT="9130" marB="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1375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415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540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705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8840797" y="6346505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21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CB8D1F3-66A7-4FE6-8AAE-87FE50BD5052}"/>
              </a:ext>
            </a:extLst>
          </p:cNvPr>
          <p:cNvGraphicFramePr>
            <a:graphicFrameLocks/>
          </p:cNvGraphicFramePr>
          <p:nvPr/>
        </p:nvGraphicFramePr>
        <p:xfrm>
          <a:off x="2700065" y="2909609"/>
          <a:ext cx="7830800" cy="3762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61813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Placeholder 2">
            <a:extLst>
              <a:ext uri="{FF2B5EF4-FFF2-40B4-BE49-F238E27FC236}">
                <a16:creationId xmlns:a16="http://schemas.microsoft.com/office/drawing/2014/main" id="{5363EB66-684F-73A0-ABD0-24CDC942EA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55965" y="3228736"/>
            <a:ext cx="9009645" cy="766130"/>
          </a:xfr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119809" tIns="59904" rIns="119809" bIns="59904" numCol="1" anchor="t" anchorCtr="0" compatLnSpc="1">
            <a:prstTxWarp prst="textNoShape">
              <a:avLst/>
            </a:prstTxWarp>
            <a:noAutofit/>
          </a:bodyPr>
          <a:lstStyle/>
          <a:p>
            <a:pPr algn="ctr" eaLnBrk="1" hangingPunct="1">
              <a:spcBef>
                <a:spcPct val="0"/>
              </a:spcBef>
            </a:pPr>
            <a:r>
              <a:rPr lang="en-IN" altLang="en-US" b="1" dirty="0">
                <a:solidFill>
                  <a:srgbClr val="FFFFFF"/>
                </a:solidFill>
                <a:latin typeface="Copperplate Gothic Light" pitchFamily="34" charset="0"/>
              </a:rPr>
              <a:t>Business Execution Plan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8840797" y="6346505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22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999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9EAF0DDA-9461-2FFD-E098-2750B0C16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41" y="1"/>
            <a:ext cx="9356039" cy="125023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17927" tIns="58964" rIns="117927" bIns="58964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2400" b="1" spc="-1" dirty="0">
                <a:solidFill>
                  <a:schemeClr val="tx1">
                    <a:lumMod val="75000"/>
                  </a:schemeClr>
                </a:solidFill>
                <a:latin typeface="Copperplate Gothic Light" pitchFamily="34" charset="0"/>
              </a:rPr>
              <a:t>Execution Plan for Software SBU: 2024-25 to 2027-28 in Crores</a:t>
            </a:r>
            <a:endParaRPr lang="en-IN" altLang="en-US" sz="2400" b="1" spc="-1" dirty="0">
              <a:solidFill>
                <a:schemeClr val="tx1">
                  <a:lumMod val="75000"/>
                </a:schemeClr>
              </a:solidFill>
              <a:latin typeface="Copperplate Gothic Light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A153CC-821A-D591-0D91-5352DC05C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599645"/>
              </p:ext>
            </p:extLst>
          </p:nvPr>
        </p:nvGraphicFramePr>
        <p:xfrm>
          <a:off x="467817" y="1235432"/>
          <a:ext cx="4371596" cy="1524235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233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6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210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Particulars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2024-25</a:t>
                      </a:r>
                      <a:endParaRPr kumimoji="0" lang="en-I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2025-26</a:t>
                      </a:r>
                      <a:endParaRPr kumimoji="0" lang="en-I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2026-27</a:t>
                      </a:r>
                      <a:endParaRPr kumimoji="0" lang="en-GB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2027-28</a:t>
                      </a:r>
                      <a:endParaRPr kumimoji="0" lang="en-GB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79"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SW Business (Direct)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IN" sz="105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146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281" marR="9281" marT="94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IN" sz="105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200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281" marR="9281" marT="94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IN" sz="105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280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281" marR="9281" marT="94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IN" sz="105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350</a:t>
                      </a:r>
                      <a:endParaRPr kumimoji="0" lang="en-IN" sz="105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281" marR="9281" marT="949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IDST/IUST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136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155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170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108">
                <a:tc>
                  <a:txBody>
                    <a:bodyPr/>
                    <a:lstStyle/>
                    <a:p>
                      <a:pPr marL="0" marR="0" lvl="0" indent="0" algn="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Turnover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282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345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435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520</a:t>
                      </a: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096" marR="89096" marT="9117" marB="91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BFCD8C09-3AD0-1215-E765-3797C4418D8C}"/>
              </a:ext>
            </a:extLst>
          </p:cNvPr>
          <p:cNvSpPr txBox="1">
            <a:spLocks/>
          </p:cNvSpPr>
          <p:nvPr/>
        </p:nvSpPr>
        <p:spPr bwMode="auto">
          <a:xfrm>
            <a:off x="8840797" y="6346505"/>
            <a:ext cx="2772198" cy="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814" tIns="59907" rIns="119814" bIns="59907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100" dirty="0">
                <a:solidFill>
                  <a:srgbClr val="045C75"/>
                </a:solidFill>
                <a:latin typeface="Bookman Old Style" pitchFamily="18" charset="0"/>
              </a:rPr>
              <a:t> </a:t>
            </a:r>
            <a:fld id="{C393FC9D-66BC-5C44-BC6B-C102EB416E77}" type="slidenum">
              <a:rPr lang="en-US" altLang="en-US" sz="2100">
                <a:solidFill>
                  <a:srgbClr val="045C75"/>
                </a:solidFill>
                <a:latin typeface="Bookman Old Style" pitchFamily="18" charset="0"/>
              </a:rPr>
              <a:pPr algn="r"/>
              <a:t>23</a:t>
            </a:fld>
            <a:endParaRPr lang="en-US" altLang="en-US" sz="2100" dirty="0">
              <a:solidFill>
                <a:srgbClr val="045C75"/>
              </a:solidFill>
              <a:latin typeface="Bookman Old Style" pitchFamily="18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30EB63B-3199-4156-BAD8-F39A8ABF7B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7312294"/>
              </p:ext>
            </p:extLst>
          </p:nvPr>
        </p:nvGraphicFramePr>
        <p:xfrm>
          <a:off x="5073989" y="2434468"/>
          <a:ext cx="6510468" cy="391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26705145"/>
      </p:ext>
    </p:extLst>
  </p:cSld>
  <p:clrMapOvr>
    <a:masterClrMapping/>
  </p:clrMapOvr>
</p:sld>
</file>

<file path=ppt/theme/theme1.xml><?xml version="1.0" encoding="utf-8"?>
<a:theme xmlns:a="http://schemas.openxmlformats.org/drawingml/2006/main" name="1_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el">
      <a:dk1>
        <a:srgbClr val="1F497D"/>
      </a:dk1>
      <a:lt1>
        <a:sysClr val="window" lastClr="FFFFFF"/>
      </a:lt1>
      <a:dk2>
        <a:srgbClr val="595959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16081</TotalTime>
  <Words>1462</Words>
  <Application>Microsoft Office PowerPoint</Application>
  <PresentationFormat>Custom</PresentationFormat>
  <Paragraphs>871</Paragraphs>
  <Slides>23</Slides>
  <Notes>13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Yu Gothic UI Semibold</vt:lpstr>
      <vt:lpstr>Arial</vt:lpstr>
      <vt:lpstr>Arial Black</vt:lpstr>
      <vt:lpstr>Bookman Old Style</vt:lpstr>
      <vt:lpstr>Calibri</vt:lpstr>
      <vt:lpstr>Copperplate Gothic Light</vt:lpstr>
      <vt:lpstr>Courier New</vt:lpstr>
      <vt:lpstr>Tahoma</vt:lpstr>
      <vt:lpstr>1_blank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Tender ANALYSIS – (Upto Mar 2024)</vt:lpstr>
      <vt:lpstr>TENDERS ANALYSED (2022-2024) - Domain Wise Breakup</vt:lpstr>
      <vt:lpstr>Tender ANALYSIS – Live Tenders (Sept 2024)</vt:lpstr>
      <vt:lpstr>PowerPoint Presentation</vt:lpstr>
      <vt:lpstr>PowerPoint Presentation</vt:lpstr>
      <vt:lpstr>Tender ANALYSIS – Export (In Mar 2024)</vt:lpstr>
      <vt:lpstr>PowerPoint Presentation</vt:lpstr>
      <vt:lpstr>Total Probable Acquisitions (2024-2026)</vt:lpstr>
      <vt:lpstr>Total Probable Acquisitions (2024-2026)</vt:lpstr>
      <vt:lpstr>PowerPoint Presentation</vt:lpstr>
      <vt:lpstr>Domestic Order Acquisition (Software Business in Crores)</vt:lpstr>
      <vt:lpstr>PowerPoint Presentation</vt:lpstr>
      <vt:lpstr>PowerPoint Presentation</vt:lpstr>
      <vt:lpstr>PowerPoint Presentation</vt:lpstr>
      <vt:lpstr>Summary of Order Acquisition (in Crores)</vt:lpstr>
      <vt:lpstr>PowerPoint Presentation</vt:lpstr>
      <vt:lpstr>Execution Plan for Software SBU: 2024-25 to 2027-28 in Crores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Nanjunda</dc:creator>
  <cp:lastModifiedBy>Administrator</cp:lastModifiedBy>
  <cp:revision>2002</cp:revision>
  <cp:lastPrinted>2021-12-17T09:02:05Z</cp:lastPrinted>
  <dcterms:created xsi:type="dcterms:W3CDTF">2015-02-27T06:04:12Z</dcterms:created>
  <dcterms:modified xsi:type="dcterms:W3CDTF">2024-09-17T11:05:05Z</dcterms:modified>
</cp:coreProperties>
</file>